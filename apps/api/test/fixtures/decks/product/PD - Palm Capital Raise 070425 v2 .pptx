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33"/>
  </p:notesMasterIdLst>
  <p:sldIdLst>
    <p:sldId id="258" r:id="rId2"/>
    <p:sldId id="374" r:id="rId3"/>
    <p:sldId id="391" r:id="rId4"/>
    <p:sldId id="372" r:id="rId5"/>
    <p:sldId id="379" r:id="rId6"/>
    <p:sldId id="392" r:id="rId7"/>
    <p:sldId id="313" r:id="rId8"/>
    <p:sldId id="389" r:id="rId9"/>
    <p:sldId id="380" r:id="rId10"/>
    <p:sldId id="375" r:id="rId11"/>
    <p:sldId id="376" r:id="rId12"/>
    <p:sldId id="378" r:id="rId13"/>
    <p:sldId id="390" r:id="rId14"/>
    <p:sldId id="298" r:id="rId15"/>
    <p:sldId id="356" r:id="rId16"/>
    <p:sldId id="381" r:id="rId17"/>
    <p:sldId id="377" r:id="rId18"/>
    <p:sldId id="382" r:id="rId19"/>
    <p:sldId id="388" r:id="rId20"/>
    <p:sldId id="396" r:id="rId21"/>
    <p:sldId id="360" r:id="rId22"/>
    <p:sldId id="384" r:id="rId23"/>
    <p:sldId id="364" r:id="rId24"/>
    <p:sldId id="365" r:id="rId25"/>
    <p:sldId id="395" r:id="rId26"/>
    <p:sldId id="361" r:id="rId27"/>
    <p:sldId id="363" r:id="rId28"/>
    <p:sldId id="398" r:id="rId29"/>
    <p:sldId id="362" r:id="rId30"/>
    <p:sldId id="383" r:id="rId31"/>
    <p:sldId id="273"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328"/>
    <p:restoredTop sz="94574"/>
  </p:normalViewPr>
  <p:slideViewPr>
    <p:cSldViewPr snapToGrid="0">
      <p:cViewPr varScale="1">
        <p:scale>
          <a:sx n="78" d="100"/>
          <a:sy n="78" d="100"/>
        </p:scale>
        <p:origin x="184" y="7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oleObject" Target="file:////Users/cungaro/Desktop/Palm/Palm%208.31.24%20Financials.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Users\cungaro\Desktop\Palm\PTC%20Financial%20Overview.xlsx" TargetMode="External"/><Relationship Id="rId2" Type="http://schemas.microsoft.com/office/2011/relationships/chartColorStyle" Target="colors2.xml"/><Relationship Id="rId1" Type="http://schemas.microsoft.com/office/2011/relationships/chartStyle" Target="style2.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r>
              <a:rPr lang="en-US"/>
              <a:t>Historical Performance</a:t>
            </a:r>
          </a:p>
        </c:rich>
      </c:tx>
      <c:overlay val="0"/>
      <c:spPr>
        <a:noFill/>
        <a:ln>
          <a:noFill/>
        </a:ln>
        <a:effectLst/>
      </c:spPr>
      <c:txPr>
        <a:bodyPr rot="0" spcFirstLastPara="1" vertOverflow="ellipsis" vert="horz" wrap="square" anchor="ctr" anchorCtr="1"/>
        <a:lstStyle/>
        <a:p>
          <a:pPr>
            <a:defRPr sz="1400" b="1" i="0" u="none" strike="noStrike" kern="1200" cap="none" baseline="0">
              <a:solidFill>
                <a:schemeClr val="lt1">
                  <a:lumMod val="85000"/>
                </a:schemeClr>
              </a:solidFill>
              <a:latin typeface="+mn-lt"/>
              <a:ea typeface="+mn-ea"/>
              <a:cs typeface="+mn-cs"/>
            </a:defRPr>
          </a:pPr>
          <a:endParaRPr lang="en-US"/>
        </a:p>
      </c:txPr>
    </c:title>
    <c:autoTitleDeleted val="0"/>
    <c:plotArea>
      <c:layout/>
      <c:lineChart>
        <c:grouping val="standard"/>
        <c:varyColors val="0"/>
        <c:ser>
          <c:idx val="0"/>
          <c:order val="0"/>
          <c:tx>
            <c:strRef>
              <c:f>Historicals!$A$3</c:f>
              <c:strCache>
                <c:ptCount val="1"/>
                <c:pt idx="0">
                  <c:v>Year</c:v>
                </c:pt>
              </c:strCache>
            </c:strRef>
          </c:tx>
          <c:spPr>
            <a:ln w="22225" cap="rnd">
              <a:solidFill>
                <a:schemeClr val="accent1"/>
              </a:solidFill>
            </a:ln>
            <a:effectLst>
              <a:glow rad="139700">
                <a:schemeClr val="accent1">
                  <a:satMod val="175000"/>
                  <a:alpha val="14000"/>
                </a:schemeClr>
              </a:glo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val>
            <c:numRef>
              <c:f>Historicals!$A$4:$A$9</c:f>
              <c:numCache>
                <c:formatCode>General</c:formatCode>
                <c:ptCount val="6"/>
                <c:pt idx="0">
                  <c:v>2019</c:v>
                </c:pt>
                <c:pt idx="1">
                  <c:v>2020</c:v>
                </c:pt>
                <c:pt idx="2">
                  <c:v>2021</c:v>
                </c:pt>
                <c:pt idx="3">
                  <c:v>2022</c:v>
                </c:pt>
                <c:pt idx="4">
                  <c:v>2023</c:v>
                </c:pt>
                <c:pt idx="5">
                  <c:v>2024</c:v>
                </c:pt>
              </c:numCache>
            </c:numRef>
          </c:val>
          <c:smooth val="0"/>
          <c:extLst>
            <c:ext xmlns:c16="http://schemas.microsoft.com/office/drawing/2014/chart" uri="{C3380CC4-5D6E-409C-BE32-E72D297353CC}">
              <c16:uniqueId val="{00000000-1468-AC4C-80D2-76BB7F9168FB}"/>
            </c:ext>
          </c:extLst>
        </c:ser>
        <c:ser>
          <c:idx val="1"/>
          <c:order val="1"/>
          <c:tx>
            <c:strRef>
              <c:f>Historicals!$B$3</c:f>
              <c:strCache>
                <c:ptCount val="1"/>
                <c:pt idx="0">
                  <c:v>Revenue</c:v>
                </c:pt>
              </c:strCache>
            </c:strRef>
          </c:tx>
          <c:spPr>
            <a:ln w="22225" cap="rnd">
              <a:solidFill>
                <a:schemeClr val="accent2"/>
              </a:solidFill>
            </a:ln>
            <a:effectLst>
              <a:glow rad="139700">
                <a:schemeClr val="accent2">
                  <a:satMod val="175000"/>
                  <a:alpha val="14000"/>
                </a:schemeClr>
              </a:glow>
            </a:effectLst>
          </c:spPr>
          <c:marker>
            <c:symbol val="none"/>
          </c:marker>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lt1">
                        <a:lumMod val="75000"/>
                      </a:schemeClr>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lt1">
                          <a:lumMod val="50000"/>
                        </a:schemeClr>
                      </a:solidFill>
                      <a:round/>
                    </a:ln>
                    <a:effectLst/>
                  </c:spPr>
                </c15:leaderLines>
              </c:ext>
            </c:extLst>
          </c:dLbls>
          <c:val>
            <c:numRef>
              <c:f>Historicals!$B$4:$B$9</c:f>
              <c:numCache>
                <c:formatCode>"$"#,##0.00</c:formatCode>
                <c:ptCount val="6"/>
                <c:pt idx="0">
                  <c:v>237497</c:v>
                </c:pt>
                <c:pt idx="1">
                  <c:v>543250</c:v>
                </c:pt>
                <c:pt idx="2">
                  <c:v>1801296</c:v>
                </c:pt>
                <c:pt idx="3">
                  <c:v>1696018</c:v>
                </c:pt>
                <c:pt idx="4">
                  <c:v>2239748</c:v>
                </c:pt>
                <c:pt idx="5">
                  <c:v>2750000</c:v>
                </c:pt>
              </c:numCache>
            </c:numRef>
          </c:val>
          <c:smooth val="0"/>
          <c:extLst>
            <c:ext xmlns:c16="http://schemas.microsoft.com/office/drawing/2014/chart" uri="{C3380CC4-5D6E-409C-BE32-E72D297353CC}">
              <c16:uniqueId val="{00000001-1468-AC4C-80D2-76BB7F9168FB}"/>
            </c:ext>
          </c:extLst>
        </c:ser>
        <c:dLbls>
          <c:dLblPos val="ctr"/>
          <c:showLegendKey val="0"/>
          <c:showVal val="1"/>
          <c:showCatName val="0"/>
          <c:showSerName val="0"/>
          <c:showPercent val="0"/>
          <c:showBubbleSize val="0"/>
        </c:dLbls>
        <c:smooth val="0"/>
        <c:axId val="148607184"/>
        <c:axId val="195030608"/>
      </c:lineChart>
      <c:catAx>
        <c:axId val="148607184"/>
        <c:scaling>
          <c:orientation val="minMax"/>
        </c:scaling>
        <c:delete val="0"/>
        <c:axPos val="b"/>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95030608"/>
        <c:crosses val="autoZero"/>
        <c:auto val="1"/>
        <c:lblAlgn val="ctr"/>
        <c:lblOffset val="100"/>
        <c:noMultiLvlLbl val="0"/>
      </c:catAx>
      <c:valAx>
        <c:axId val="195030608"/>
        <c:scaling>
          <c:orientation val="minMax"/>
        </c:scaling>
        <c:delete val="0"/>
        <c:axPos val="l"/>
        <c:majorGridlines>
          <c:spPr>
            <a:ln w="9525" cap="flat" cmpd="sng" algn="ctr">
              <a:gradFill>
                <a:gsLst>
                  <a:gs pos="100000">
                    <a:schemeClr val="dk1">
                      <a:lumMod val="75000"/>
                      <a:lumOff val="25000"/>
                    </a:schemeClr>
                  </a:gs>
                  <a:gs pos="0">
                    <a:schemeClr val="dk1">
                      <a:lumMod val="65000"/>
                      <a:lumOff val="35000"/>
                    </a:schemeClr>
                  </a:gs>
                </a:gsLst>
                <a:lin ang="5400000" scaled="0"/>
              </a:gra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crossAx val="148607184"/>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lt1">
                  <a:lumMod val="75000"/>
                </a:schemeClr>
              </a:solidFill>
              <a:latin typeface="+mn-lt"/>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solidFill>
      <a:schemeClr val="dk1">
        <a:lumMod val="75000"/>
        <a:lumOff val="25000"/>
      </a:schemeClr>
    </a:soli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Poppins" pitchFamily="2" charset="77"/>
                <a:ea typeface="+mn-ea"/>
                <a:cs typeface="Poppins" pitchFamily="2" charset="77"/>
              </a:defRPr>
            </a:pPr>
            <a:r>
              <a:rPr lang="en-US" sz="2000" dirty="0">
                <a:latin typeface="Poppins" pitchFamily="2" charset="77"/>
                <a:cs typeface="Poppins" pitchFamily="2" charset="77"/>
              </a:rPr>
              <a:t>Capital ALLOCATION</a:t>
            </a:r>
          </a:p>
        </c:rich>
      </c:tx>
      <c:overlay val="0"/>
      <c:spPr>
        <a:noFill/>
        <a:ln>
          <a:noFill/>
        </a:ln>
        <a:effectLst/>
      </c:spPr>
      <c:txPr>
        <a:bodyPr rot="0" spcFirstLastPara="1" vertOverflow="ellipsis" vert="horz" wrap="square" anchor="ctr" anchorCtr="1"/>
        <a:lstStyle/>
        <a:p>
          <a:pPr>
            <a:defRPr sz="1600" b="1" i="0" u="none" strike="noStrike" kern="1200" cap="all" baseline="0">
              <a:solidFill>
                <a:schemeClr val="tx1">
                  <a:lumMod val="65000"/>
                  <a:lumOff val="35000"/>
                </a:schemeClr>
              </a:solidFill>
              <a:latin typeface="Poppins" pitchFamily="2" charset="77"/>
              <a:ea typeface="+mn-ea"/>
              <a:cs typeface="Poppins" pitchFamily="2" charset="77"/>
            </a:defRPr>
          </a:pPr>
          <a:endParaRPr lang="en-US"/>
        </a:p>
      </c:txPr>
    </c:title>
    <c:autoTitleDeleted val="0"/>
    <c:plotArea>
      <c:layout/>
      <c:pieChart>
        <c:varyColors val="1"/>
        <c:ser>
          <c:idx val="0"/>
          <c:order val="0"/>
          <c:dPt>
            <c:idx val="0"/>
            <c:bubble3D val="0"/>
            <c:spPr>
              <a:solidFill>
                <a:schemeClr val="accent1"/>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1-BA16-DB49-AC69-AEEF0E6271F2}"/>
              </c:ext>
            </c:extLst>
          </c:dPt>
          <c:dPt>
            <c:idx val="1"/>
            <c:bubble3D val="0"/>
            <c:spPr>
              <a:solidFill>
                <a:schemeClr val="accent2"/>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3-BA16-DB49-AC69-AEEF0E6271F2}"/>
              </c:ext>
            </c:extLst>
          </c:dPt>
          <c:dPt>
            <c:idx val="2"/>
            <c:bubble3D val="0"/>
            <c:spPr>
              <a:solidFill>
                <a:schemeClr val="accent3"/>
              </a:solidFill>
              <a:ln>
                <a:noFill/>
              </a:ln>
              <a:effectLst>
                <a:outerShdw blurRad="63500" sx="102000" sy="102000" algn="ctr" rotWithShape="0">
                  <a:prstClr val="black">
                    <a:alpha val="20000"/>
                  </a:prstClr>
                </a:outerShdw>
              </a:effectLst>
            </c:spPr>
            <c:extLst>
              <c:ext xmlns:c16="http://schemas.microsoft.com/office/drawing/2014/chart" uri="{C3380CC4-5D6E-409C-BE32-E72D297353CC}">
                <c16:uniqueId val="{00000005-BA16-DB49-AC69-AEEF0E6271F2}"/>
              </c:ext>
            </c:extLst>
          </c:dPt>
          <c:dLbls>
            <c:dLbl>
              <c:idx val="0"/>
              <c:spPr>
                <a:noFill/>
                <a:ln>
                  <a:noFill/>
                </a:ln>
                <a:effectLst/>
              </c:spPr>
              <c:txPr>
                <a:bodyPr rot="0" spcFirstLastPara="1" vertOverflow="ellipsis" vert="horz" wrap="square" lIns="38100" tIns="19050" rIns="38100" bIns="19050" anchor="ctr" anchorCtr="1">
                  <a:spAutoFit/>
                </a:bodyPr>
                <a:lstStyle/>
                <a:p>
                  <a:pPr>
                    <a:defRPr sz="12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0"/>
              <c:showBubbleSize val="0"/>
              <c:extLst>
                <c:ext xmlns:c16="http://schemas.microsoft.com/office/drawing/2014/chart" uri="{C3380CC4-5D6E-409C-BE32-E72D297353CC}">
                  <c16:uniqueId val="{00000001-BA16-DB49-AC69-AEEF0E6271F2}"/>
                </c:ext>
              </c:extLst>
            </c:dLbl>
            <c:dLbl>
              <c:idx val="1"/>
              <c:layout>
                <c:manualLayout>
                  <c:x val="-0.57499999999999996"/>
                  <c:y val="-0.2685185185185186"/>
                </c:manualLayout>
              </c:layout>
              <c:spPr>
                <a:noFill/>
                <a:ln>
                  <a:noFill/>
                </a:ln>
                <a:effectLst/>
              </c:spPr>
              <c:txPr>
                <a:bodyPr rot="0" spcFirstLastPara="1" vertOverflow="ellipsis" vert="horz" wrap="square" lIns="38100" tIns="19050" rIns="38100" bIns="19050" anchor="ctr" anchorCtr="1">
                  <a:spAutoFit/>
                </a:bodyPr>
                <a:lstStyle/>
                <a:p>
                  <a:pPr>
                    <a:defRPr sz="1200" b="1" i="0" u="none" strike="noStrike" kern="1200" spc="0" baseline="0">
                      <a:solidFill>
                        <a:schemeClr val="accent2"/>
                      </a:solidFill>
                      <a:latin typeface="+mn-lt"/>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ext xmlns:c16="http://schemas.microsoft.com/office/drawing/2014/chart" uri="{C3380CC4-5D6E-409C-BE32-E72D297353CC}">
                  <c16:uniqueId val="{00000003-BA16-DB49-AC69-AEEF0E6271F2}"/>
                </c:ext>
              </c:extLst>
            </c:dLbl>
            <c:dLbl>
              <c:idx val="2"/>
              <c:layout>
                <c:manualLayout>
                  <c:x val="0.56666666666666665"/>
                  <c:y val="0.22916666666666669"/>
                </c:manualLayout>
              </c:layout>
              <c:tx>
                <c:rich>
                  <a:bodyPr rot="0" spcFirstLastPara="1" vertOverflow="ellipsis" vert="horz" wrap="square" lIns="38100" tIns="19050" rIns="38100" bIns="19050" anchor="ctr" anchorCtr="1">
                    <a:noAutofit/>
                  </a:bodyPr>
                  <a:lstStyle/>
                  <a:p>
                    <a:pPr>
                      <a:defRPr sz="1200" b="1" i="0" u="none" strike="noStrike" kern="1200" spc="0" baseline="0">
                        <a:solidFill>
                          <a:schemeClr val="accent1"/>
                        </a:solidFill>
                        <a:latin typeface="+mn-lt"/>
                        <a:ea typeface="+mn-ea"/>
                        <a:cs typeface="+mn-cs"/>
                      </a:defRPr>
                    </a:pPr>
                    <a:r>
                      <a:rPr lang="en-US" dirty="0"/>
                      <a:t>Optimizations</a:t>
                    </a:r>
                  </a:p>
                </c:rich>
              </c:tx>
              <c:spPr>
                <a:noFill/>
                <a:ln>
                  <a:noFill/>
                </a:ln>
                <a:effectLst/>
              </c:spPr>
              <c:txPr>
                <a:bodyPr rot="0" spcFirstLastPara="1" vertOverflow="ellipsis" vert="horz" wrap="square" lIns="38100" tIns="19050" rIns="38100" bIns="19050" anchor="ctr" anchorCtr="1">
                  <a:noAutofit/>
                </a:bodyPr>
                <a:lstStyle/>
                <a:p>
                  <a:pPr>
                    <a:defRPr sz="1200" b="1" i="0" u="none" strike="noStrike" kern="1200" spc="0" baseline="0">
                      <a:solidFill>
                        <a:schemeClr val="accent1"/>
                      </a:solidFill>
                      <a:latin typeface="+mn-lt"/>
                      <a:ea typeface="+mn-ea"/>
                      <a:cs typeface="+mn-cs"/>
                    </a:defRPr>
                  </a:pPr>
                  <a:endParaRPr lang="en-US"/>
                </a:p>
              </c:txPr>
              <c:dLblPos val="bestFit"/>
              <c:showLegendKey val="0"/>
              <c:showVal val="0"/>
              <c:showCatName val="1"/>
              <c:showSerName val="0"/>
              <c:showPercent val="0"/>
              <c:showBubbleSize val="0"/>
              <c:extLst>
                <c:ext xmlns:c15="http://schemas.microsoft.com/office/drawing/2012/chart" uri="{CE6537A1-D6FC-4f65-9D91-7224C49458BB}">
                  <c15:layout>
                    <c:manualLayout>
                      <c:w val="0.2298611111111111"/>
                      <c:h val="0.14486111111111111"/>
                    </c:manualLayout>
                  </c15:layout>
                  <c15:showDataLabelsRange val="0"/>
                </c:ext>
                <c:ext xmlns:c16="http://schemas.microsoft.com/office/drawing/2014/chart" uri="{C3380CC4-5D6E-409C-BE32-E72D297353CC}">
                  <c16:uniqueId val="{00000005-BA16-DB49-AC69-AEEF0E6271F2}"/>
                </c:ext>
              </c:extLst>
            </c:dLbl>
            <c:spPr>
              <a:noFill/>
              <a:ln>
                <a:noFill/>
              </a:ln>
              <a:effectLst/>
            </c:spPr>
            <c:txPr>
              <a:bodyPr rot="0" spcFirstLastPara="1" vertOverflow="ellipsis" vert="horz" wrap="square" lIns="38100" tIns="19050" rIns="38100" bIns="19050" anchor="ctr" anchorCtr="1">
                <a:spAutoFit/>
              </a:bodyPr>
              <a:lstStyle/>
              <a:p>
                <a:pPr>
                  <a:defRPr sz="1200" b="1" i="0" u="none" strike="noStrike" kern="1200" spc="0" baseline="0">
                    <a:solidFill>
                      <a:schemeClr val="accent1"/>
                    </a:solidFill>
                    <a:latin typeface="+mn-lt"/>
                    <a:ea typeface="+mn-ea"/>
                    <a:cs typeface="+mn-cs"/>
                  </a:defRPr>
                </a:pPr>
                <a:endParaRPr lang="en-US"/>
              </a:p>
            </c:tx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Sheet1!$K$34:$K$36</c:f>
              <c:strCache>
                <c:ptCount val="3"/>
                <c:pt idx="0">
                  <c:v>Strategic Hires</c:v>
                </c:pt>
                <c:pt idx="1">
                  <c:v>Multi-Media Marketing</c:v>
                </c:pt>
                <c:pt idx="2">
                  <c:v>Inventory </c:v>
                </c:pt>
              </c:strCache>
            </c:strRef>
          </c:cat>
          <c:val>
            <c:numRef>
              <c:f>Sheet1!$L$34:$L$36</c:f>
              <c:numCache>
                <c:formatCode>"$"#,##0_);[Red]\("$"#,##0\)</c:formatCode>
                <c:ptCount val="3"/>
                <c:pt idx="0">
                  <c:v>250000</c:v>
                </c:pt>
                <c:pt idx="1">
                  <c:v>250000</c:v>
                </c:pt>
                <c:pt idx="2">
                  <c:v>500000</c:v>
                </c:pt>
              </c:numCache>
            </c:numRef>
          </c:val>
          <c:extLst>
            <c:ext xmlns:c16="http://schemas.microsoft.com/office/drawing/2014/chart" uri="{C3380CC4-5D6E-409C-BE32-E72D297353CC}">
              <c16:uniqueId val="{00000006-BA16-DB49-AC69-AEEF0E6271F2}"/>
            </c:ext>
          </c:extLst>
        </c:ser>
        <c:dLbls>
          <c:dLblPos val="outEnd"/>
          <c:showLegendKey val="0"/>
          <c:showVal val="0"/>
          <c:showCatName val="1"/>
          <c:showSerName val="0"/>
          <c:showPercent val="0"/>
          <c:showBubbleSize val="0"/>
          <c:showLeaderLines val="1"/>
        </c:dLbls>
        <c:firstSliceAng val="0"/>
      </c:pieChart>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36">
  <cs:axisTitle>
    <cs:lnRef idx="0"/>
    <cs:fillRef idx="0"/>
    <cs:effectRef idx="0"/>
    <cs:fontRef idx="minor">
      <a:schemeClr val="lt1">
        <a:lumMod val="75000"/>
      </a:schemeClr>
    </cs:fontRef>
    <cs:defRPr sz="900" b="1" kern="1200"/>
  </cs:axisTitle>
  <cs:categoryAxis>
    <cs:lnRef idx="0"/>
    <cs:fillRef idx="0"/>
    <cs:effectRef idx="0"/>
    <cs:fontRef idx="minor">
      <a:schemeClr val="lt1">
        <a:lumMod val="75000"/>
      </a:schemeClr>
    </cs:fontRef>
    <cs:defRPr sz="900" kern="1200"/>
  </cs:categoryAxis>
  <cs:chartArea>
    <cs:lnRef idx="0"/>
    <cs:fillRef idx="0"/>
    <cs:effectRef idx="0"/>
    <cs:fontRef idx="minor">
      <a:schemeClr val="dk1"/>
    </cs:fontRef>
    <cs:spPr>
      <a:solidFill>
        <a:schemeClr val="dk1">
          <a:lumMod val="75000"/>
          <a:lumOff val="25000"/>
        </a:schemeClr>
      </a:solidFill>
      <a:ln w="9525" cap="flat" cmpd="sng" algn="ctr">
        <a:solidFill>
          <a:schemeClr val="dk1">
            <a:lumMod val="15000"/>
            <a:lumOff val="85000"/>
          </a:schemeClr>
        </a:solidFill>
        <a:round/>
      </a:ln>
    </cs:spPr>
    <cs:defRPr sz="900" kern="1200"/>
  </cs:chartArea>
  <cs:dataLabel>
    <cs:lnRef idx="0"/>
    <cs:fillRef idx="0"/>
    <cs:effectRef idx="0"/>
    <cs:fontRef idx="minor">
      <a:schemeClr val="lt1">
        <a:lumMod val="75000"/>
      </a:schemeClr>
    </cs:fontRef>
    <cs:defRPr sz="900" kern="1200"/>
  </cs:dataLabel>
  <cs:dataLabelCallout>
    <cs:lnRef idx="0"/>
    <cs:fillRef idx="0"/>
    <cs:effectRef idx="0"/>
    <cs:fontRef idx="minor">
      <a:schemeClr val="lt1">
        <a:lumMod val="15000"/>
        <a:lumOff val="85000"/>
      </a:schemeClr>
    </cs:fontRef>
    <cs:spPr>
      <a:solidFill>
        <a:schemeClr val="dk1">
          <a:lumMod val="65000"/>
          <a:lumOff val="35000"/>
        </a:schemeClr>
      </a:solidFill>
    </cs:spPr>
    <cs:defRPr sz="900" kern="1200"/>
    <cs:bodyPr rot="0" spcFirstLastPara="1" vertOverflow="clip" horzOverflow="clip" vert="horz" wrap="square" lIns="36576" tIns="18288" rIns="36576" bIns="18288" anchor="ctr" anchorCtr="1">
      <a:spAutoFit/>
    </cs:bodyPr>
  </cs:dataLabelCallout>
  <cs:dataPoint>
    <cs:lnRef idx="0">
      <cs:styleClr val="auto"/>
    </cs:lnRef>
    <cs:fillRef idx="0"/>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
  <cs:dataPoint3D>
    <cs:lnRef idx="0">
      <cs:styleClr val="auto"/>
    </cs:lnRef>
    <cs:fillRef idx="0">
      <cs:styleClr val="auto"/>
    </cs:fillRef>
    <cs:effectRef idx="0">
      <cs:styleClr val="auto"/>
    </cs:effectRef>
    <cs:fontRef idx="minor">
      <a:schemeClr val="dk1"/>
    </cs:fontRef>
    <cs:spPr>
      <a:ln w="9525" cap="flat" cmpd="sng" algn="ctr">
        <a:solidFill>
          <a:schemeClr val="phClr"/>
        </a:solidFill>
        <a:miter lim="800000"/>
      </a:ln>
      <a:effectLst>
        <a:glow rad="63500">
          <a:schemeClr val="phClr">
            <a:satMod val="175000"/>
            <a:alpha val="25000"/>
          </a:schemeClr>
        </a:glow>
      </a:effectLst>
    </cs:spPr>
  </cs:dataPoint3D>
  <cs:dataPointLine>
    <cs:lnRef idx="0">
      <cs:styleClr val="auto"/>
    </cs:lnRef>
    <cs:fillRef idx="0">
      <cs:styleClr val="auto"/>
    </cs:fillRef>
    <cs:effectRef idx="0">
      <cs:styleClr val="auto"/>
    </cs:effectRef>
    <cs:fontRef idx="minor">
      <a:schemeClr val="dk1"/>
    </cs:fontRef>
    <cs:spPr>
      <a:ln w="22225" cap="rnd">
        <a:solidFill>
          <a:schemeClr val="phClr"/>
        </a:solidFill>
      </a:ln>
      <a:effectLst>
        <a:glow rad="139700">
          <a:schemeClr val="phClr">
            <a:satMod val="175000"/>
            <a:alpha val="14000"/>
          </a:schemeClr>
        </a:glow>
      </a:effectLst>
    </cs:spPr>
  </cs:dataPointLine>
  <cs:dataPointMarker>
    <cs:lnRef idx="0">
      <cs:styleClr val="auto"/>
    </cs:lnRef>
    <cs:fillRef idx="0">
      <cs:styleClr val="auto"/>
    </cs:fillRef>
    <cs:effectRef idx="0">
      <cs:styleClr val="auto"/>
    </cs:effectRef>
    <cs:fontRef idx="minor">
      <a:schemeClr val="dk1"/>
    </cs:fontRef>
    <cs:spPr>
      <a:solidFill>
        <a:schemeClr val="phClr">
          <a:lumMod val="60000"/>
          <a:lumOff val="40000"/>
        </a:schemeClr>
      </a:solidFill>
      <a:effectLst>
        <a:glow rad="63500">
          <a:schemeClr val="phClr">
            <a:satMod val="175000"/>
            <a:alpha val="25000"/>
          </a:schemeClr>
        </a:glow>
      </a:effectLst>
    </cs:spPr>
  </cs:dataPointMarker>
  <cs:dataPointMarkerLayout symbol="circle" size="4"/>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lt1">
        <a:lumMod val="75000"/>
      </a:schemeClr>
    </cs:fontRef>
    <cs:spPr>
      <a:ln w="9525">
        <a:solidFill>
          <a:schemeClr val="dk1">
            <a:lumMod val="50000"/>
            <a:lumOff val="50000"/>
          </a:schemeClr>
        </a:solidFill>
      </a:ln>
    </cs:spPr>
    <cs:defRPr sz="900" kern="1200"/>
  </cs:dataTable>
  <cs:downBar>
    <cs:lnRef idx="0"/>
    <cs:fillRef idx="0"/>
    <cs:effectRef idx="0"/>
    <cs:fontRef idx="minor">
      <a:schemeClr val="lt1"/>
    </cs:fontRef>
    <cs:spPr>
      <a:solidFill>
        <a:schemeClr val="dk1">
          <a:lumMod val="50000"/>
          <a:lumOff val="50000"/>
        </a:schemeClr>
      </a:solidFill>
      <a:ln w="9525">
        <a:solidFill>
          <a:schemeClr val="dk1">
            <a:lumMod val="75000"/>
          </a:schemeClr>
        </a:solidFill>
        <a:round/>
      </a:ln>
    </cs:spPr>
  </cs:downBar>
  <cs:dropLine>
    <cs:lnRef idx="0"/>
    <cs:fillRef idx="0"/>
    <cs:effectRef idx="0"/>
    <cs:fontRef idx="minor">
      <a:schemeClr val="dk1"/>
    </cs:fontRef>
    <cs:spPr>
      <a:ln w="9525">
        <a:solidFill>
          <a:schemeClr val="lt1">
            <a:lumMod val="50000"/>
          </a:schemeClr>
        </a:solidFill>
        <a:round/>
      </a:ln>
    </cs:spPr>
  </cs:dropLine>
  <cs:errorBar>
    <cs:lnRef idx="0"/>
    <cs:fillRef idx="0"/>
    <cs:effectRef idx="0"/>
    <cs:fontRef idx="minor">
      <a:schemeClr val="dk1"/>
    </cs:fontRef>
    <cs:spPr>
      <a:ln w="9525">
        <a:solidFill>
          <a:schemeClr val="lt1">
            <a:lumMod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75000"/>
                <a:lumOff val="25000"/>
              </a:schemeClr>
            </a:gs>
            <a:gs pos="0">
              <a:schemeClr val="dk1">
                <a:lumMod val="65000"/>
                <a:lumOff val="35000"/>
              </a:schemeClr>
            </a:gs>
          </a:gsLst>
          <a:lin ang="5400000" scaled="0"/>
        </a:gradFill>
        <a:round/>
      </a:ln>
    </cs:spPr>
  </cs:gridlineMajor>
  <cs:gridlineMinor>
    <cs:lnRef idx="0"/>
    <cs:fillRef idx="0"/>
    <cs:effectRef idx="0"/>
    <cs:fontRef idx="minor">
      <a:schemeClr val="dk1"/>
    </cs:fontRef>
    <cs:spPr>
      <a:ln w="9525" cap="flat" cmpd="sng" algn="ctr">
        <a:gradFill>
          <a:gsLst>
            <a:gs pos="100000">
              <a:schemeClr val="dk1">
                <a:lumMod val="75000"/>
                <a:lumOff val="25000"/>
                <a:alpha val="25000"/>
              </a:schemeClr>
            </a:gs>
            <a:gs pos="0">
              <a:schemeClr val="dk1">
                <a:lumMod val="65000"/>
                <a:lumOff val="35000"/>
                <a:alpha val="25000"/>
              </a:schemeClr>
            </a:gs>
          </a:gsLst>
          <a:lin ang="5400000" scaled="0"/>
        </a:gradFill>
        <a:round/>
      </a:ln>
    </cs:spPr>
  </cs:gridlineMinor>
  <cs:hiLoLine>
    <cs:lnRef idx="0"/>
    <cs:fillRef idx="0"/>
    <cs:effectRef idx="0"/>
    <cs:fontRef idx="minor">
      <a:schemeClr val="dk1"/>
    </cs:fontRef>
    <cs:spPr>
      <a:ln w="9525">
        <a:solidFill>
          <a:schemeClr val="lt1">
            <a:lumMod val="50000"/>
          </a:schemeClr>
        </a:solidFill>
        <a:round/>
      </a:ln>
    </cs:spPr>
  </cs:hiLoLine>
  <cs:leaderLine>
    <cs:lnRef idx="0"/>
    <cs:fillRef idx="0"/>
    <cs:effectRef idx="0"/>
    <cs:fontRef idx="minor">
      <a:schemeClr val="dk1"/>
    </cs:fontRef>
    <cs:spPr>
      <a:ln w="9525">
        <a:solidFill>
          <a:schemeClr val="lt1">
            <a:lumMod val="50000"/>
          </a:schemeClr>
        </a:solidFill>
        <a:round/>
      </a:ln>
    </cs:spPr>
  </cs:leaderLine>
  <cs:legend>
    <cs:lnRef idx="0"/>
    <cs:fillRef idx="0"/>
    <cs:effectRef idx="0"/>
    <cs:fontRef idx="minor">
      <a:schemeClr val="lt1">
        <a:lumMod val="75000"/>
      </a:schemeClr>
    </cs:fontRef>
    <cs:defRPr sz="900"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lt1">
        <a:lumMod val="75000"/>
      </a:schemeClr>
    </cs:fontRef>
    <cs:defRPr sz="900" kern="1200"/>
  </cs:seriesAxis>
  <cs:seriesLine>
    <cs:lnRef idx="0"/>
    <cs:fillRef idx="0"/>
    <cs:effectRef idx="0"/>
    <cs:fontRef idx="minor">
      <a:schemeClr val="dk1"/>
    </cs:fontRef>
    <cs:spPr>
      <a:ln w="9525">
        <a:solidFill>
          <a:schemeClr val="lt1">
            <a:lumMod val="50000"/>
          </a:schemeClr>
        </a:solidFill>
        <a:round/>
      </a:ln>
    </cs:spPr>
  </cs:seriesLine>
  <cs:title>
    <cs:lnRef idx="0"/>
    <cs:fillRef idx="0"/>
    <cs:effectRef idx="0"/>
    <cs:fontRef idx="minor">
      <a:schemeClr val="lt1">
        <a:lumMod val="85000"/>
      </a:schemeClr>
    </cs:fontRef>
    <cs:defRPr sz="1400" b="1" kern="1200" cap="none" baseline="0"/>
  </cs:title>
  <cs:trendline>
    <cs:lnRef idx="0">
      <cs:styleClr val="auto"/>
    </cs:lnRef>
    <cs:fillRef idx="0"/>
    <cs:effectRef idx="0"/>
    <cs:fontRef idx="minor">
      <a:schemeClr val="lt1"/>
    </cs:fontRef>
    <cs:spPr>
      <a:ln w="25400" cap="rnd">
        <a:solidFill>
          <a:schemeClr val="phClr">
            <a:alpha val="50000"/>
          </a:schemeClr>
        </a:solidFill>
      </a:ln>
    </cs:spPr>
  </cs:trendline>
  <cs:trendlineLabel>
    <cs:lnRef idx="0"/>
    <cs:fillRef idx="0"/>
    <cs:effectRef idx="0"/>
    <cs:fontRef idx="minor">
      <a:schemeClr val="lt1">
        <a:lumMod val="75000"/>
      </a:schemeClr>
    </cs:fontRef>
    <cs:defRPr sz="900" kern="1200"/>
  </cs:trendlineLabel>
  <cs:upBar>
    <cs:lnRef idx="0"/>
    <cs:fillRef idx="0"/>
    <cs:effectRef idx="0"/>
    <cs:fontRef idx="minor">
      <a:schemeClr val="dk1"/>
    </cs:fontRef>
    <cs:spPr>
      <a:solidFill>
        <a:schemeClr val="lt1">
          <a:lumMod val="85000"/>
        </a:schemeClr>
      </a:solidFill>
      <a:ln w="9525">
        <a:solidFill>
          <a:schemeClr val="dk1">
            <a:lumMod val="50000"/>
          </a:schemeClr>
        </a:solidFill>
        <a:round/>
      </a:ln>
    </cs:spPr>
  </cs:upBar>
  <cs:valueAxis>
    <cs:lnRef idx="0"/>
    <cs:fillRef idx="0"/>
    <cs:effectRef idx="0"/>
    <cs:fontRef idx="minor">
      <a:schemeClr val="lt1">
        <a:lumMod val="7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900" kern="1200" cap="all"/>
  </cs:axisTitle>
  <cs:categoryAxis>
    <cs:lnRef idx="0"/>
    <cs:fillRef idx="0"/>
    <cs:effectRef idx="0"/>
    <cs:fontRef idx="minor">
      <a:schemeClr val="tx1">
        <a:lumMod val="65000"/>
        <a:lumOff val="35000"/>
      </a:schemeClr>
    </cs:fontRef>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cs:styleClr val="auto"/>
    </cs:fontRef>
    <cs:defRPr sz="100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00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600"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B971CF0-1FA3-F24E-863A-1805273AEA07}" type="datetimeFigureOut">
              <a:rPr lang="en-US" smtClean="0"/>
              <a:t>7/17/25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DBAA6F-470E-5846-98FE-2B1FA6435468}" type="slidenum">
              <a:rPr lang="en-US" smtClean="0"/>
              <a:t>‹#›</a:t>
            </a:fld>
            <a:endParaRPr lang="en-US"/>
          </a:p>
        </p:txBody>
      </p:sp>
    </p:spTree>
    <p:extLst>
      <p:ext uri="{BB962C8B-B14F-4D97-AF65-F5344CB8AC3E}">
        <p14:creationId xmlns:p14="http://schemas.microsoft.com/office/powerpoint/2010/main" val="270108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22946ae3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122946ae3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993032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1b5860b61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488749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1b5860b61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19458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22946ae3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122946ae3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67755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1b5860b61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9647935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1b5860b61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g11b5860b61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52207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1b5860b61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4426982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1b5860b61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930902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22946ae33d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122946ae33d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2808867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1b5860b61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485927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1b5860b61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490851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599E4D6-CFF3-895A-AE8D-2D4EAAC530AD}"/>
            </a:ext>
          </a:extLst>
        </p:cNvPr>
        <p:cNvGrpSpPr/>
        <p:nvPr/>
      </p:nvGrpSpPr>
      <p:grpSpPr>
        <a:xfrm>
          <a:off x="0" y="0"/>
          <a:ext cx="0" cy="0"/>
          <a:chOff x="0" y="0"/>
          <a:chExt cx="0" cy="0"/>
        </a:xfrm>
      </p:grpSpPr>
      <p:sp>
        <p:nvSpPr>
          <p:cNvPr id="58" name="Google Shape;58;g11b5860b61b_0_64:notes">
            <a:extLst>
              <a:ext uri="{FF2B5EF4-FFF2-40B4-BE49-F238E27FC236}">
                <a16:creationId xmlns:a16="http://schemas.microsoft.com/office/drawing/2014/main" id="{40263EDF-64CA-2E2F-B08E-3F693969E10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a:extLst>
              <a:ext uri="{FF2B5EF4-FFF2-40B4-BE49-F238E27FC236}">
                <a16:creationId xmlns:a16="http://schemas.microsoft.com/office/drawing/2014/main" id="{E396BABF-93C1-624C-5758-61FC2A169C5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225425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1b5860b61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1277172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1b5860b61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5334065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685FBD41-209F-7CC0-36FD-83C4182273F1}"/>
            </a:ext>
          </a:extLst>
        </p:cNvPr>
        <p:cNvGrpSpPr/>
        <p:nvPr/>
      </p:nvGrpSpPr>
      <p:grpSpPr>
        <a:xfrm>
          <a:off x="0" y="0"/>
          <a:ext cx="0" cy="0"/>
          <a:chOff x="0" y="0"/>
          <a:chExt cx="0" cy="0"/>
        </a:xfrm>
      </p:grpSpPr>
      <p:sp>
        <p:nvSpPr>
          <p:cNvPr id="58" name="Google Shape;58;g11b5860b61b_0_64:notes">
            <a:extLst>
              <a:ext uri="{FF2B5EF4-FFF2-40B4-BE49-F238E27FC236}">
                <a16:creationId xmlns:a16="http://schemas.microsoft.com/office/drawing/2014/main" id="{ACC80AE4-9720-3031-7723-3D6CB603ED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a:extLst>
              <a:ext uri="{FF2B5EF4-FFF2-40B4-BE49-F238E27FC236}">
                <a16:creationId xmlns:a16="http://schemas.microsoft.com/office/drawing/2014/main" id="{E692DFD3-FB0A-9871-8EB6-11FBD9AD1E1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14811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2B7CBB0-F471-6C1B-5381-D29A2F5D068D}"/>
            </a:ext>
          </a:extLst>
        </p:cNvPr>
        <p:cNvGrpSpPr/>
        <p:nvPr/>
      </p:nvGrpSpPr>
      <p:grpSpPr>
        <a:xfrm>
          <a:off x="0" y="0"/>
          <a:ext cx="0" cy="0"/>
          <a:chOff x="0" y="0"/>
          <a:chExt cx="0" cy="0"/>
        </a:xfrm>
      </p:grpSpPr>
      <p:sp>
        <p:nvSpPr>
          <p:cNvPr id="58" name="Google Shape;58;g11b5860b61b_0_64:notes">
            <a:extLst>
              <a:ext uri="{FF2B5EF4-FFF2-40B4-BE49-F238E27FC236}">
                <a16:creationId xmlns:a16="http://schemas.microsoft.com/office/drawing/2014/main" id="{8177DD39-53A8-7FAC-A685-54575DE2C81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a:extLst>
              <a:ext uri="{FF2B5EF4-FFF2-40B4-BE49-F238E27FC236}">
                <a16:creationId xmlns:a16="http://schemas.microsoft.com/office/drawing/2014/main" id="{1F915C76-30F3-4500-5E19-64484E26C6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723504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89AEA125-8DAE-66D2-5BDD-FBE8B7116A9E}"/>
            </a:ext>
          </a:extLst>
        </p:cNvPr>
        <p:cNvGrpSpPr/>
        <p:nvPr/>
      </p:nvGrpSpPr>
      <p:grpSpPr>
        <a:xfrm>
          <a:off x="0" y="0"/>
          <a:ext cx="0" cy="0"/>
          <a:chOff x="0" y="0"/>
          <a:chExt cx="0" cy="0"/>
        </a:xfrm>
      </p:grpSpPr>
      <p:sp>
        <p:nvSpPr>
          <p:cNvPr id="58" name="Google Shape;58;g11b5860b61b_0_64:notes">
            <a:extLst>
              <a:ext uri="{FF2B5EF4-FFF2-40B4-BE49-F238E27FC236}">
                <a16:creationId xmlns:a16="http://schemas.microsoft.com/office/drawing/2014/main" id="{87DE54B8-C348-C34B-3429-AF726ED8D19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g11b5860b61b_0_64:notes">
            <a:extLst>
              <a:ext uri="{FF2B5EF4-FFF2-40B4-BE49-F238E27FC236}">
                <a16:creationId xmlns:a16="http://schemas.microsoft.com/office/drawing/2014/main" id="{05C61773-BD0D-FE93-885F-9BD29252F06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784288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1AE42D50-E6F0-1BB9-FE04-56C5826D4749}"/>
            </a:ext>
          </a:extLst>
        </p:cNvPr>
        <p:cNvGrpSpPr/>
        <p:nvPr/>
      </p:nvGrpSpPr>
      <p:grpSpPr>
        <a:xfrm>
          <a:off x="0" y="0"/>
          <a:ext cx="0" cy="0"/>
          <a:chOff x="0" y="0"/>
          <a:chExt cx="0" cy="0"/>
        </a:xfrm>
      </p:grpSpPr>
      <p:sp>
        <p:nvSpPr>
          <p:cNvPr id="58" name="Google Shape;58;g11b5860b61b_0_64:notes">
            <a:extLst>
              <a:ext uri="{FF2B5EF4-FFF2-40B4-BE49-F238E27FC236}">
                <a16:creationId xmlns:a16="http://schemas.microsoft.com/office/drawing/2014/main" id="{6613EB96-1168-62D7-D3E6-5144B37558C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59" name="Google Shape;59;g11b5860b61b_0_64:notes">
            <a:extLst>
              <a:ext uri="{FF2B5EF4-FFF2-40B4-BE49-F238E27FC236}">
                <a16:creationId xmlns:a16="http://schemas.microsoft.com/office/drawing/2014/main" id="{950190EE-4B43-9921-456F-16231BB1C5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2336609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25BF013-7028-2437-BF47-6FE8F8C1CCBF}"/>
            </a:ext>
          </a:extLst>
        </p:cNvPr>
        <p:cNvGrpSpPr/>
        <p:nvPr/>
      </p:nvGrpSpPr>
      <p:grpSpPr>
        <a:xfrm>
          <a:off x="0" y="0"/>
          <a:ext cx="0" cy="0"/>
          <a:chOff x="0" y="0"/>
          <a:chExt cx="0" cy="0"/>
        </a:xfrm>
      </p:grpSpPr>
      <p:sp>
        <p:nvSpPr>
          <p:cNvPr id="58" name="Google Shape;58;g11b5860b61b_0_64:notes">
            <a:extLst>
              <a:ext uri="{FF2B5EF4-FFF2-40B4-BE49-F238E27FC236}">
                <a16:creationId xmlns:a16="http://schemas.microsoft.com/office/drawing/2014/main" id="{C8E8F9B8-E31F-3E8A-AFF0-9C145782DEC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a:extLst>
              <a:ext uri="{FF2B5EF4-FFF2-40B4-BE49-F238E27FC236}">
                <a16:creationId xmlns:a16="http://schemas.microsoft.com/office/drawing/2014/main" id="{E959965B-643B-6C54-E1B7-483094FEEC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190811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93664E21-E41C-1378-A99F-2334062EF125}"/>
            </a:ext>
          </a:extLst>
        </p:cNvPr>
        <p:cNvGrpSpPr/>
        <p:nvPr/>
      </p:nvGrpSpPr>
      <p:grpSpPr>
        <a:xfrm>
          <a:off x="0" y="0"/>
          <a:ext cx="0" cy="0"/>
          <a:chOff x="0" y="0"/>
          <a:chExt cx="0" cy="0"/>
        </a:xfrm>
      </p:grpSpPr>
      <p:sp>
        <p:nvSpPr>
          <p:cNvPr id="58" name="Google Shape;58;g11b5860b61b_0_64:notes">
            <a:extLst>
              <a:ext uri="{FF2B5EF4-FFF2-40B4-BE49-F238E27FC236}">
                <a16:creationId xmlns:a16="http://schemas.microsoft.com/office/drawing/2014/main" id="{D274B984-36B4-E80D-28FA-E5983D860D2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a:extLst>
              <a:ext uri="{FF2B5EF4-FFF2-40B4-BE49-F238E27FC236}">
                <a16:creationId xmlns:a16="http://schemas.microsoft.com/office/drawing/2014/main" id="{371779D6-41EA-7706-D89E-BC1123839CF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8323888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a:extLst>
            <a:ext uri="{FF2B5EF4-FFF2-40B4-BE49-F238E27FC236}">
              <a16:creationId xmlns:a16="http://schemas.microsoft.com/office/drawing/2014/main" id="{BF9E5A8F-9532-9666-EFA8-082BCA8BE488}"/>
            </a:ext>
          </a:extLst>
        </p:cNvPr>
        <p:cNvGrpSpPr/>
        <p:nvPr/>
      </p:nvGrpSpPr>
      <p:grpSpPr>
        <a:xfrm>
          <a:off x="0" y="0"/>
          <a:ext cx="0" cy="0"/>
          <a:chOff x="0" y="0"/>
          <a:chExt cx="0" cy="0"/>
        </a:xfrm>
      </p:grpSpPr>
      <p:sp>
        <p:nvSpPr>
          <p:cNvPr id="58" name="Google Shape;58;g11b5860b61b_0_64:notes">
            <a:extLst>
              <a:ext uri="{FF2B5EF4-FFF2-40B4-BE49-F238E27FC236}">
                <a16:creationId xmlns:a16="http://schemas.microsoft.com/office/drawing/2014/main" id="{3F2A950F-0876-9F41-C9D0-5C5C503948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a:extLst>
              <a:ext uri="{FF2B5EF4-FFF2-40B4-BE49-F238E27FC236}">
                <a16:creationId xmlns:a16="http://schemas.microsoft.com/office/drawing/2014/main" id="{9B24B398-522F-151F-40AB-67D6468A6E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5822777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
        <p:cNvGrpSpPr/>
        <p:nvPr/>
      </p:nvGrpSpPr>
      <p:grpSpPr>
        <a:xfrm>
          <a:off x="0" y="0"/>
          <a:ext cx="0" cy="0"/>
          <a:chOff x="0" y="0"/>
          <a:chExt cx="0" cy="0"/>
        </a:xfrm>
      </p:grpSpPr>
      <p:sp>
        <p:nvSpPr>
          <p:cNvPr id="58" name="Google Shape;58;g11b5860b61b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 name="Google Shape;59;g11b5860b61b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3270212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6" name="Google Shape;356;p1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Burke</a:t>
            </a:r>
            <a:endParaRPr/>
          </a:p>
        </p:txBody>
      </p:sp>
      <p:sp>
        <p:nvSpPr>
          <p:cNvPr id="357" name="Google Shape;357;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fld id="{00000000-1234-1234-1234-123412341234}" type="slidenum">
              <a:rPr kumimoji="0" lang="en-US"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Calibri"/>
                <a:buNone/>
                <a:tabLst/>
                <a:defRPr/>
              </a:pPr>
              <a:t>31</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FF79CB-0387-9142-847C-669C65A5351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9CE5F6-7BCD-F34A-BF5B-8C9658EAE1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8791362-C2D3-F447-AB8A-CF90BE5EF68A}"/>
              </a:ext>
            </a:extLst>
          </p:cNvPr>
          <p:cNvSpPr>
            <a:spLocks noGrp="1"/>
          </p:cNvSpPr>
          <p:nvPr>
            <p:ph type="dt" sz="half" idx="10"/>
          </p:nvPr>
        </p:nvSpPr>
        <p:spPr/>
        <p:txBody>
          <a:bodyPr/>
          <a:lstStyle/>
          <a:p>
            <a:fld id="{867F8761-5C51-C34A-B812-89BD1BAD81DD}" type="datetimeFigureOut">
              <a:rPr lang="en-US" smtClean="0"/>
              <a:t>7/17/25</a:t>
            </a:fld>
            <a:endParaRPr lang="en-US"/>
          </a:p>
        </p:txBody>
      </p:sp>
      <p:sp>
        <p:nvSpPr>
          <p:cNvPr id="5" name="Footer Placeholder 4">
            <a:extLst>
              <a:ext uri="{FF2B5EF4-FFF2-40B4-BE49-F238E27FC236}">
                <a16:creationId xmlns:a16="http://schemas.microsoft.com/office/drawing/2014/main" id="{CB133C74-5AAE-5B48-ACE8-DC7CD0345C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0CDE22-37C8-3440-8490-EB594719A41D}"/>
              </a:ext>
            </a:extLst>
          </p:cNvPr>
          <p:cNvSpPr>
            <a:spLocks noGrp="1"/>
          </p:cNvSpPr>
          <p:nvPr>
            <p:ph type="sldNum" sz="quarter" idx="12"/>
          </p:nvPr>
        </p:nvSpPr>
        <p:spPr/>
        <p:txBody>
          <a:bodyPr/>
          <a:lstStyle/>
          <a:p>
            <a:fld id="{51B610A8-53B4-BD48-A699-B597629F1322}" type="slidenum">
              <a:rPr lang="en-US" smtClean="0"/>
              <a:t>‹#›</a:t>
            </a:fld>
            <a:endParaRPr lang="en-US"/>
          </a:p>
        </p:txBody>
      </p:sp>
    </p:spTree>
    <p:extLst>
      <p:ext uri="{BB962C8B-B14F-4D97-AF65-F5344CB8AC3E}">
        <p14:creationId xmlns:p14="http://schemas.microsoft.com/office/powerpoint/2010/main" val="2012394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1F3DD3-FE94-AA48-90B1-96D8FF15166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F9DAC1D-35DA-2F40-9B75-FEAE365D73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0D202B-44E8-D648-8E9E-99C4D2E90716}"/>
              </a:ext>
            </a:extLst>
          </p:cNvPr>
          <p:cNvSpPr>
            <a:spLocks noGrp="1"/>
          </p:cNvSpPr>
          <p:nvPr>
            <p:ph type="dt" sz="half" idx="10"/>
          </p:nvPr>
        </p:nvSpPr>
        <p:spPr/>
        <p:txBody>
          <a:bodyPr/>
          <a:lstStyle/>
          <a:p>
            <a:fld id="{867F8761-5C51-C34A-B812-89BD1BAD81DD}" type="datetimeFigureOut">
              <a:rPr lang="en-US" smtClean="0"/>
              <a:t>7/17/25</a:t>
            </a:fld>
            <a:endParaRPr lang="en-US"/>
          </a:p>
        </p:txBody>
      </p:sp>
      <p:sp>
        <p:nvSpPr>
          <p:cNvPr id="5" name="Footer Placeholder 4">
            <a:extLst>
              <a:ext uri="{FF2B5EF4-FFF2-40B4-BE49-F238E27FC236}">
                <a16:creationId xmlns:a16="http://schemas.microsoft.com/office/drawing/2014/main" id="{49DA5C3A-48F8-D24F-ACDE-7A23010A8E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D66B42D-A7AF-1942-9197-F809AB394C08}"/>
              </a:ext>
            </a:extLst>
          </p:cNvPr>
          <p:cNvSpPr>
            <a:spLocks noGrp="1"/>
          </p:cNvSpPr>
          <p:nvPr>
            <p:ph type="sldNum" sz="quarter" idx="12"/>
          </p:nvPr>
        </p:nvSpPr>
        <p:spPr/>
        <p:txBody>
          <a:bodyPr/>
          <a:lstStyle/>
          <a:p>
            <a:fld id="{51B610A8-53B4-BD48-A699-B597629F1322}" type="slidenum">
              <a:rPr lang="en-US" smtClean="0"/>
              <a:t>‹#›</a:t>
            </a:fld>
            <a:endParaRPr lang="en-US"/>
          </a:p>
        </p:txBody>
      </p:sp>
    </p:spTree>
    <p:extLst>
      <p:ext uri="{BB962C8B-B14F-4D97-AF65-F5344CB8AC3E}">
        <p14:creationId xmlns:p14="http://schemas.microsoft.com/office/powerpoint/2010/main" val="42462789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C5F75-B6EF-7B44-8E3C-4F91CD6E974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D471A0E-BE06-3342-B650-311624E3B2B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85518D5-00D2-A54E-BCE6-D5B9062884B3}"/>
              </a:ext>
            </a:extLst>
          </p:cNvPr>
          <p:cNvSpPr>
            <a:spLocks noGrp="1"/>
          </p:cNvSpPr>
          <p:nvPr>
            <p:ph type="dt" sz="half" idx="10"/>
          </p:nvPr>
        </p:nvSpPr>
        <p:spPr/>
        <p:txBody>
          <a:bodyPr/>
          <a:lstStyle/>
          <a:p>
            <a:fld id="{867F8761-5C51-C34A-B812-89BD1BAD81DD}" type="datetimeFigureOut">
              <a:rPr lang="en-US" smtClean="0"/>
              <a:t>7/17/25</a:t>
            </a:fld>
            <a:endParaRPr lang="en-US"/>
          </a:p>
        </p:txBody>
      </p:sp>
      <p:sp>
        <p:nvSpPr>
          <p:cNvPr id="5" name="Footer Placeholder 4">
            <a:extLst>
              <a:ext uri="{FF2B5EF4-FFF2-40B4-BE49-F238E27FC236}">
                <a16:creationId xmlns:a16="http://schemas.microsoft.com/office/drawing/2014/main" id="{A1FEE528-E43B-F44B-8845-7619A0B660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1A30F8-7EE4-FF40-A9A3-A5C646D78685}"/>
              </a:ext>
            </a:extLst>
          </p:cNvPr>
          <p:cNvSpPr>
            <a:spLocks noGrp="1"/>
          </p:cNvSpPr>
          <p:nvPr>
            <p:ph type="sldNum" sz="quarter" idx="12"/>
          </p:nvPr>
        </p:nvSpPr>
        <p:spPr/>
        <p:txBody>
          <a:bodyPr/>
          <a:lstStyle/>
          <a:p>
            <a:fld id="{51B610A8-53B4-BD48-A699-B597629F1322}" type="slidenum">
              <a:rPr lang="en-US" smtClean="0"/>
              <a:t>‹#›</a:t>
            </a:fld>
            <a:endParaRPr lang="en-US"/>
          </a:p>
        </p:txBody>
      </p:sp>
    </p:spTree>
    <p:extLst>
      <p:ext uri="{BB962C8B-B14F-4D97-AF65-F5344CB8AC3E}">
        <p14:creationId xmlns:p14="http://schemas.microsoft.com/office/powerpoint/2010/main" val="476590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D17CD8-DF35-9147-AB89-03765B1CF0F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D4302CC-16D2-9E4C-B0A2-C899E302D36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48D93F0-54B5-9D4C-AD5A-173721A8CC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2B495EE-C1B8-0546-B341-F81CF6439F75}"/>
              </a:ext>
            </a:extLst>
          </p:cNvPr>
          <p:cNvSpPr>
            <a:spLocks noGrp="1"/>
          </p:cNvSpPr>
          <p:nvPr>
            <p:ph type="dt" sz="half" idx="10"/>
          </p:nvPr>
        </p:nvSpPr>
        <p:spPr/>
        <p:txBody>
          <a:bodyPr/>
          <a:lstStyle/>
          <a:p>
            <a:fld id="{867F8761-5C51-C34A-B812-89BD1BAD81DD}" type="datetimeFigureOut">
              <a:rPr lang="en-US" smtClean="0"/>
              <a:t>7/17/25</a:t>
            </a:fld>
            <a:endParaRPr lang="en-US"/>
          </a:p>
        </p:txBody>
      </p:sp>
      <p:sp>
        <p:nvSpPr>
          <p:cNvPr id="6" name="Footer Placeholder 5">
            <a:extLst>
              <a:ext uri="{FF2B5EF4-FFF2-40B4-BE49-F238E27FC236}">
                <a16:creationId xmlns:a16="http://schemas.microsoft.com/office/drawing/2014/main" id="{AF2CBD8D-B4B3-E348-A454-CF5B71177A1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8D8C68A-7019-4543-8C45-4A8094C95F09}"/>
              </a:ext>
            </a:extLst>
          </p:cNvPr>
          <p:cNvSpPr>
            <a:spLocks noGrp="1"/>
          </p:cNvSpPr>
          <p:nvPr>
            <p:ph type="sldNum" sz="quarter" idx="12"/>
          </p:nvPr>
        </p:nvSpPr>
        <p:spPr/>
        <p:txBody>
          <a:bodyPr/>
          <a:lstStyle/>
          <a:p>
            <a:fld id="{51B610A8-53B4-BD48-A699-B597629F1322}" type="slidenum">
              <a:rPr lang="en-US" smtClean="0"/>
              <a:t>‹#›</a:t>
            </a:fld>
            <a:endParaRPr lang="en-US"/>
          </a:p>
        </p:txBody>
      </p:sp>
    </p:spTree>
    <p:extLst>
      <p:ext uri="{BB962C8B-B14F-4D97-AF65-F5344CB8AC3E}">
        <p14:creationId xmlns:p14="http://schemas.microsoft.com/office/powerpoint/2010/main" val="11482922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4132B-656E-E44C-8066-38CECD7218B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28B3870-4341-874E-8307-A17E92BAF70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91B4303-305F-FF4D-BB01-A718FCFB657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2F87994-4306-CB4C-9F8B-578DC85E6E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19190E-C6C8-8C4C-AB9A-7EDEE78F74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A774F4A-A8AC-AF4A-8C99-0EFA5AE39887}"/>
              </a:ext>
            </a:extLst>
          </p:cNvPr>
          <p:cNvSpPr>
            <a:spLocks noGrp="1"/>
          </p:cNvSpPr>
          <p:nvPr>
            <p:ph type="dt" sz="half" idx="10"/>
          </p:nvPr>
        </p:nvSpPr>
        <p:spPr/>
        <p:txBody>
          <a:bodyPr/>
          <a:lstStyle/>
          <a:p>
            <a:fld id="{867F8761-5C51-C34A-B812-89BD1BAD81DD}" type="datetimeFigureOut">
              <a:rPr lang="en-US" smtClean="0"/>
              <a:t>7/17/25</a:t>
            </a:fld>
            <a:endParaRPr lang="en-US"/>
          </a:p>
        </p:txBody>
      </p:sp>
      <p:sp>
        <p:nvSpPr>
          <p:cNvPr id="8" name="Footer Placeholder 7">
            <a:extLst>
              <a:ext uri="{FF2B5EF4-FFF2-40B4-BE49-F238E27FC236}">
                <a16:creationId xmlns:a16="http://schemas.microsoft.com/office/drawing/2014/main" id="{8FF5998B-4D4B-1B41-8182-AC696DEDF8F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6403008-EB03-4546-9ED6-7A0D4ACA3C0E}"/>
              </a:ext>
            </a:extLst>
          </p:cNvPr>
          <p:cNvSpPr>
            <a:spLocks noGrp="1"/>
          </p:cNvSpPr>
          <p:nvPr>
            <p:ph type="sldNum" sz="quarter" idx="12"/>
          </p:nvPr>
        </p:nvSpPr>
        <p:spPr/>
        <p:txBody>
          <a:bodyPr/>
          <a:lstStyle/>
          <a:p>
            <a:fld id="{51B610A8-53B4-BD48-A699-B597629F1322}" type="slidenum">
              <a:rPr lang="en-US" smtClean="0"/>
              <a:t>‹#›</a:t>
            </a:fld>
            <a:endParaRPr lang="en-US"/>
          </a:p>
        </p:txBody>
      </p:sp>
    </p:spTree>
    <p:extLst>
      <p:ext uri="{BB962C8B-B14F-4D97-AF65-F5344CB8AC3E}">
        <p14:creationId xmlns:p14="http://schemas.microsoft.com/office/powerpoint/2010/main" val="16123233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83EC0-06B3-8349-ADF8-B1303ACF7F6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BF236D-2514-1F46-8041-0F3BD815AA6F}"/>
              </a:ext>
            </a:extLst>
          </p:cNvPr>
          <p:cNvSpPr>
            <a:spLocks noGrp="1"/>
          </p:cNvSpPr>
          <p:nvPr>
            <p:ph type="dt" sz="half" idx="10"/>
          </p:nvPr>
        </p:nvSpPr>
        <p:spPr/>
        <p:txBody>
          <a:bodyPr/>
          <a:lstStyle/>
          <a:p>
            <a:fld id="{867F8761-5C51-C34A-B812-89BD1BAD81DD}" type="datetimeFigureOut">
              <a:rPr lang="en-US" smtClean="0"/>
              <a:t>7/17/25</a:t>
            </a:fld>
            <a:endParaRPr lang="en-US"/>
          </a:p>
        </p:txBody>
      </p:sp>
      <p:sp>
        <p:nvSpPr>
          <p:cNvPr id="4" name="Footer Placeholder 3">
            <a:extLst>
              <a:ext uri="{FF2B5EF4-FFF2-40B4-BE49-F238E27FC236}">
                <a16:creationId xmlns:a16="http://schemas.microsoft.com/office/drawing/2014/main" id="{F1559767-FE91-C84D-A675-DF080445501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53D0970-30B9-F94F-920D-475DF264F04D}"/>
              </a:ext>
            </a:extLst>
          </p:cNvPr>
          <p:cNvSpPr>
            <a:spLocks noGrp="1"/>
          </p:cNvSpPr>
          <p:nvPr>
            <p:ph type="sldNum" sz="quarter" idx="12"/>
          </p:nvPr>
        </p:nvSpPr>
        <p:spPr/>
        <p:txBody>
          <a:bodyPr/>
          <a:lstStyle/>
          <a:p>
            <a:fld id="{51B610A8-53B4-BD48-A699-B597629F1322}" type="slidenum">
              <a:rPr lang="en-US" smtClean="0"/>
              <a:t>‹#›</a:t>
            </a:fld>
            <a:endParaRPr lang="en-US"/>
          </a:p>
        </p:txBody>
      </p:sp>
    </p:spTree>
    <p:extLst>
      <p:ext uri="{BB962C8B-B14F-4D97-AF65-F5344CB8AC3E}">
        <p14:creationId xmlns:p14="http://schemas.microsoft.com/office/powerpoint/2010/main" val="42453683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C2BB18-81FB-AF4F-BB9C-3A3414F829FA}"/>
              </a:ext>
            </a:extLst>
          </p:cNvPr>
          <p:cNvSpPr>
            <a:spLocks noGrp="1"/>
          </p:cNvSpPr>
          <p:nvPr>
            <p:ph type="dt" sz="half" idx="10"/>
          </p:nvPr>
        </p:nvSpPr>
        <p:spPr/>
        <p:txBody>
          <a:bodyPr/>
          <a:lstStyle/>
          <a:p>
            <a:fld id="{867F8761-5C51-C34A-B812-89BD1BAD81DD}" type="datetimeFigureOut">
              <a:rPr lang="en-US" smtClean="0"/>
              <a:t>7/17/25</a:t>
            </a:fld>
            <a:endParaRPr lang="en-US"/>
          </a:p>
        </p:txBody>
      </p:sp>
      <p:sp>
        <p:nvSpPr>
          <p:cNvPr id="3" name="Footer Placeholder 2">
            <a:extLst>
              <a:ext uri="{FF2B5EF4-FFF2-40B4-BE49-F238E27FC236}">
                <a16:creationId xmlns:a16="http://schemas.microsoft.com/office/drawing/2014/main" id="{EC9C0906-16EC-CE44-86CB-0DDA18F06BA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DC340E-3DD8-2D45-BB31-F6B1BA818C56}"/>
              </a:ext>
            </a:extLst>
          </p:cNvPr>
          <p:cNvSpPr>
            <a:spLocks noGrp="1"/>
          </p:cNvSpPr>
          <p:nvPr>
            <p:ph type="sldNum" sz="quarter" idx="12"/>
          </p:nvPr>
        </p:nvSpPr>
        <p:spPr/>
        <p:txBody>
          <a:bodyPr/>
          <a:lstStyle/>
          <a:p>
            <a:fld id="{51B610A8-53B4-BD48-A699-B597629F1322}" type="slidenum">
              <a:rPr lang="en-US" smtClean="0"/>
              <a:t>‹#›</a:t>
            </a:fld>
            <a:endParaRPr lang="en-US"/>
          </a:p>
        </p:txBody>
      </p:sp>
    </p:spTree>
    <p:extLst>
      <p:ext uri="{BB962C8B-B14F-4D97-AF65-F5344CB8AC3E}">
        <p14:creationId xmlns:p14="http://schemas.microsoft.com/office/powerpoint/2010/main" val="35614263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1F035-49CC-8E4C-AE00-3DD32DE647C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EB09EB2-4687-E340-B0BF-A4D94E05B93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F2072F-2319-924C-8E59-708F545F84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742800-E21A-D244-8CB7-4C2EEEA7C1CD}"/>
              </a:ext>
            </a:extLst>
          </p:cNvPr>
          <p:cNvSpPr>
            <a:spLocks noGrp="1"/>
          </p:cNvSpPr>
          <p:nvPr>
            <p:ph type="dt" sz="half" idx="10"/>
          </p:nvPr>
        </p:nvSpPr>
        <p:spPr/>
        <p:txBody>
          <a:bodyPr/>
          <a:lstStyle/>
          <a:p>
            <a:fld id="{867F8761-5C51-C34A-B812-89BD1BAD81DD}" type="datetimeFigureOut">
              <a:rPr lang="en-US" smtClean="0"/>
              <a:t>7/17/25</a:t>
            </a:fld>
            <a:endParaRPr lang="en-US"/>
          </a:p>
        </p:txBody>
      </p:sp>
      <p:sp>
        <p:nvSpPr>
          <p:cNvPr id="6" name="Footer Placeholder 5">
            <a:extLst>
              <a:ext uri="{FF2B5EF4-FFF2-40B4-BE49-F238E27FC236}">
                <a16:creationId xmlns:a16="http://schemas.microsoft.com/office/drawing/2014/main" id="{920E6FC1-073E-AA4D-89B5-015DE4E0FD6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EE0AE13-F756-244C-B61A-C01E55FF2770}"/>
              </a:ext>
            </a:extLst>
          </p:cNvPr>
          <p:cNvSpPr>
            <a:spLocks noGrp="1"/>
          </p:cNvSpPr>
          <p:nvPr>
            <p:ph type="sldNum" sz="quarter" idx="12"/>
          </p:nvPr>
        </p:nvSpPr>
        <p:spPr/>
        <p:txBody>
          <a:bodyPr/>
          <a:lstStyle/>
          <a:p>
            <a:fld id="{51B610A8-53B4-BD48-A699-B597629F1322}" type="slidenum">
              <a:rPr lang="en-US" smtClean="0"/>
              <a:t>‹#›</a:t>
            </a:fld>
            <a:endParaRPr lang="en-US"/>
          </a:p>
        </p:txBody>
      </p:sp>
    </p:spTree>
    <p:extLst>
      <p:ext uri="{BB962C8B-B14F-4D97-AF65-F5344CB8AC3E}">
        <p14:creationId xmlns:p14="http://schemas.microsoft.com/office/powerpoint/2010/main" val="20042295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FBC1D5-7354-E843-AA97-201AAC74346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D4C8C1A-3090-8F43-9251-BF7B32441C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E87E4B2-5F03-6142-A9FA-E0858B0C31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9AA5B26-4BB7-3845-8390-B0BBC13E5EFE}"/>
              </a:ext>
            </a:extLst>
          </p:cNvPr>
          <p:cNvSpPr>
            <a:spLocks noGrp="1"/>
          </p:cNvSpPr>
          <p:nvPr>
            <p:ph type="dt" sz="half" idx="10"/>
          </p:nvPr>
        </p:nvSpPr>
        <p:spPr/>
        <p:txBody>
          <a:bodyPr/>
          <a:lstStyle/>
          <a:p>
            <a:fld id="{867F8761-5C51-C34A-B812-89BD1BAD81DD}" type="datetimeFigureOut">
              <a:rPr lang="en-US" smtClean="0"/>
              <a:t>7/17/25</a:t>
            </a:fld>
            <a:endParaRPr lang="en-US"/>
          </a:p>
        </p:txBody>
      </p:sp>
      <p:sp>
        <p:nvSpPr>
          <p:cNvPr id="6" name="Footer Placeholder 5">
            <a:extLst>
              <a:ext uri="{FF2B5EF4-FFF2-40B4-BE49-F238E27FC236}">
                <a16:creationId xmlns:a16="http://schemas.microsoft.com/office/drawing/2014/main" id="{6E33C162-64E8-454C-BC51-42D3258C90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363ED8-9CCB-704A-8C40-3B6804D2DC77}"/>
              </a:ext>
            </a:extLst>
          </p:cNvPr>
          <p:cNvSpPr>
            <a:spLocks noGrp="1"/>
          </p:cNvSpPr>
          <p:nvPr>
            <p:ph type="sldNum" sz="quarter" idx="12"/>
          </p:nvPr>
        </p:nvSpPr>
        <p:spPr/>
        <p:txBody>
          <a:bodyPr/>
          <a:lstStyle/>
          <a:p>
            <a:fld id="{51B610A8-53B4-BD48-A699-B597629F1322}" type="slidenum">
              <a:rPr lang="en-US" smtClean="0"/>
              <a:t>‹#›</a:t>
            </a:fld>
            <a:endParaRPr lang="en-US"/>
          </a:p>
        </p:txBody>
      </p:sp>
    </p:spTree>
    <p:extLst>
      <p:ext uri="{BB962C8B-B14F-4D97-AF65-F5344CB8AC3E}">
        <p14:creationId xmlns:p14="http://schemas.microsoft.com/office/powerpoint/2010/main" val="32580330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EB5C2-528F-3443-95E6-36FDFFE3212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0544E0-C922-5C48-8D6C-832DB023CAE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7F56D37-D2C9-F24D-BA91-00C0C94EA3B9}"/>
              </a:ext>
            </a:extLst>
          </p:cNvPr>
          <p:cNvSpPr>
            <a:spLocks noGrp="1"/>
          </p:cNvSpPr>
          <p:nvPr>
            <p:ph type="dt" sz="half" idx="10"/>
          </p:nvPr>
        </p:nvSpPr>
        <p:spPr/>
        <p:txBody>
          <a:bodyPr/>
          <a:lstStyle/>
          <a:p>
            <a:fld id="{867F8761-5C51-C34A-B812-89BD1BAD81DD}" type="datetimeFigureOut">
              <a:rPr lang="en-US" smtClean="0"/>
              <a:t>7/17/25</a:t>
            </a:fld>
            <a:endParaRPr lang="en-US"/>
          </a:p>
        </p:txBody>
      </p:sp>
      <p:sp>
        <p:nvSpPr>
          <p:cNvPr id="5" name="Footer Placeholder 4">
            <a:extLst>
              <a:ext uri="{FF2B5EF4-FFF2-40B4-BE49-F238E27FC236}">
                <a16:creationId xmlns:a16="http://schemas.microsoft.com/office/drawing/2014/main" id="{CDF0C23D-2E03-C041-9EA9-7E4C8DC6B51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5D3FB7-7F14-9746-B8EE-F90CE8F351DA}"/>
              </a:ext>
            </a:extLst>
          </p:cNvPr>
          <p:cNvSpPr>
            <a:spLocks noGrp="1"/>
          </p:cNvSpPr>
          <p:nvPr>
            <p:ph type="sldNum" sz="quarter" idx="12"/>
          </p:nvPr>
        </p:nvSpPr>
        <p:spPr/>
        <p:txBody>
          <a:bodyPr/>
          <a:lstStyle/>
          <a:p>
            <a:fld id="{51B610A8-53B4-BD48-A699-B597629F1322}" type="slidenum">
              <a:rPr lang="en-US" smtClean="0"/>
              <a:t>‹#›</a:t>
            </a:fld>
            <a:endParaRPr lang="en-US"/>
          </a:p>
        </p:txBody>
      </p:sp>
    </p:spTree>
    <p:extLst>
      <p:ext uri="{BB962C8B-B14F-4D97-AF65-F5344CB8AC3E}">
        <p14:creationId xmlns:p14="http://schemas.microsoft.com/office/powerpoint/2010/main" val="272691923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9E14762-0D4C-0C43-BB20-EECEC8008F0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4E963EF-8DF1-2B4D-82BD-0AAEDBB7A32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F81AC1-7051-FF4C-A63E-0A416E7BDC66}"/>
              </a:ext>
            </a:extLst>
          </p:cNvPr>
          <p:cNvSpPr>
            <a:spLocks noGrp="1"/>
          </p:cNvSpPr>
          <p:nvPr>
            <p:ph type="dt" sz="half" idx="10"/>
          </p:nvPr>
        </p:nvSpPr>
        <p:spPr/>
        <p:txBody>
          <a:bodyPr/>
          <a:lstStyle/>
          <a:p>
            <a:fld id="{867F8761-5C51-C34A-B812-89BD1BAD81DD}" type="datetimeFigureOut">
              <a:rPr lang="en-US" smtClean="0"/>
              <a:t>7/17/25</a:t>
            </a:fld>
            <a:endParaRPr lang="en-US"/>
          </a:p>
        </p:txBody>
      </p:sp>
      <p:sp>
        <p:nvSpPr>
          <p:cNvPr id="5" name="Footer Placeholder 4">
            <a:extLst>
              <a:ext uri="{FF2B5EF4-FFF2-40B4-BE49-F238E27FC236}">
                <a16:creationId xmlns:a16="http://schemas.microsoft.com/office/drawing/2014/main" id="{1DF16C23-B259-BF44-8BF8-F7958B2F4DF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282807-9BF0-B946-A9B8-0C67CCE4E252}"/>
              </a:ext>
            </a:extLst>
          </p:cNvPr>
          <p:cNvSpPr>
            <a:spLocks noGrp="1"/>
          </p:cNvSpPr>
          <p:nvPr>
            <p:ph type="sldNum" sz="quarter" idx="12"/>
          </p:nvPr>
        </p:nvSpPr>
        <p:spPr/>
        <p:txBody>
          <a:bodyPr/>
          <a:lstStyle/>
          <a:p>
            <a:fld id="{51B610A8-53B4-BD48-A699-B597629F1322}" type="slidenum">
              <a:rPr lang="en-US" smtClean="0"/>
              <a:t>‹#›</a:t>
            </a:fld>
            <a:endParaRPr lang="en-US"/>
          </a:p>
        </p:txBody>
      </p:sp>
    </p:spTree>
    <p:extLst>
      <p:ext uri="{BB962C8B-B14F-4D97-AF65-F5344CB8AC3E}">
        <p14:creationId xmlns:p14="http://schemas.microsoft.com/office/powerpoint/2010/main" val="27541870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664C91A-4FCF-8D4E-A268-3A637184A92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B939AC1-33CC-9647-9C58-41C505D597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BAA18CB-67AF-4E4E-8331-A412DCAA26D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7F8761-5C51-C34A-B812-89BD1BAD81DD}" type="datetimeFigureOut">
              <a:rPr lang="en-US" smtClean="0"/>
              <a:t>7/17/25</a:t>
            </a:fld>
            <a:endParaRPr lang="en-US"/>
          </a:p>
        </p:txBody>
      </p:sp>
      <p:sp>
        <p:nvSpPr>
          <p:cNvPr id="5" name="Footer Placeholder 4">
            <a:extLst>
              <a:ext uri="{FF2B5EF4-FFF2-40B4-BE49-F238E27FC236}">
                <a16:creationId xmlns:a16="http://schemas.microsoft.com/office/drawing/2014/main" id="{BD1B4D1B-662C-0141-83BF-082234DC6A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7C1DA8BC-43D4-C94A-A06C-928F097E05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B610A8-53B4-BD48-A699-B597629F1322}" type="slidenum">
              <a:rPr lang="en-US" smtClean="0"/>
              <a:t>‹#›</a:t>
            </a:fld>
            <a:endParaRPr lang="en-US"/>
          </a:p>
        </p:txBody>
      </p:sp>
    </p:spTree>
    <p:extLst>
      <p:ext uri="{BB962C8B-B14F-4D97-AF65-F5344CB8AC3E}">
        <p14:creationId xmlns:p14="http://schemas.microsoft.com/office/powerpoint/2010/main" val="9608478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26" Type="http://schemas.openxmlformats.org/officeDocument/2006/relationships/image" Target="../media/image34.png"/><Relationship Id="rId3" Type="http://schemas.openxmlformats.org/officeDocument/2006/relationships/image" Target="../media/image11.png"/><Relationship Id="rId21" Type="http://schemas.openxmlformats.org/officeDocument/2006/relationships/image" Target="../media/image29.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5" Type="http://schemas.openxmlformats.org/officeDocument/2006/relationships/image" Target="../media/image33.png"/><Relationship Id="rId2" Type="http://schemas.openxmlformats.org/officeDocument/2006/relationships/image" Target="../media/image1.png"/><Relationship Id="rId16" Type="http://schemas.openxmlformats.org/officeDocument/2006/relationships/image" Target="../media/image24.png"/><Relationship Id="rId20" Type="http://schemas.openxmlformats.org/officeDocument/2006/relationships/image" Target="../media/image28.png"/><Relationship Id="rId1" Type="http://schemas.openxmlformats.org/officeDocument/2006/relationships/slideLayout" Target="../slideLayouts/slideLayout7.xml"/><Relationship Id="rId6" Type="http://schemas.openxmlformats.org/officeDocument/2006/relationships/image" Target="../media/image14.png"/><Relationship Id="rId11" Type="http://schemas.openxmlformats.org/officeDocument/2006/relationships/image" Target="../media/image19.png"/><Relationship Id="rId24" Type="http://schemas.openxmlformats.org/officeDocument/2006/relationships/image" Target="../media/image32.png"/><Relationship Id="rId5" Type="http://schemas.openxmlformats.org/officeDocument/2006/relationships/image" Target="../media/image13.png"/><Relationship Id="rId15" Type="http://schemas.openxmlformats.org/officeDocument/2006/relationships/image" Target="../media/image23.png"/><Relationship Id="rId23" Type="http://schemas.openxmlformats.org/officeDocument/2006/relationships/image" Target="../media/image31.png"/><Relationship Id="rId10" Type="http://schemas.openxmlformats.org/officeDocument/2006/relationships/image" Target="../media/image18.png"/><Relationship Id="rId19" Type="http://schemas.openxmlformats.org/officeDocument/2006/relationships/image" Target="../media/image27.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 Id="rId22" Type="http://schemas.openxmlformats.org/officeDocument/2006/relationships/image" Target="../media/image30.png"/><Relationship Id="rId27" Type="http://schemas.openxmlformats.org/officeDocument/2006/relationships/image" Target="../media/image35.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50.png"/><Relationship Id="rId4" Type="http://schemas.openxmlformats.org/officeDocument/2006/relationships/image" Target="../media/image49.pn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EFDFEFC-0F9B-3542-A0A5-A69B27500FA8}"/>
              </a:ext>
            </a:extLst>
          </p:cNvPr>
          <p:cNvSpPr>
            <a:spLocks noGrp="1"/>
          </p:cNvSpPr>
          <p:nvPr>
            <p:ph type="subTitle" idx="1"/>
          </p:nvPr>
        </p:nvSpPr>
        <p:spPr/>
        <p:txBody>
          <a:bodyPr>
            <a:normAutofit/>
          </a:bodyPr>
          <a:lstStyle/>
          <a:p>
            <a:endParaRPr lang="en-US" sz="3200" dirty="0">
              <a:solidFill>
                <a:schemeClr val="bg1"/>
              </a:solidFill>
              <a:latin typeface="Montserrat" pitchFamily="2" charset="77"/>
            </a:endParaRPr>
          </a:p>
          <a:p>
            <a:r>
              <a:rPr lang="en-US" sz="4800" b="1" dirty="0">
                <a:solidFill>
                  <a:schemeClr val="bg1"/>
                </a:solidFill>
                <a:latin typeface="Montserrat" pitchFamily="2" charset="77"/>
              </a:rPr>
              <a:t>Capital Raise.</a:t>
            </a:r>
          </a:p>
        </p:txBody>
      </p:sp>
      <p:pic>
        <p:nvPicPr>
          <p:cNvPr id="1026" name="Picture 2" descr="Palm Golf Co. Logo">
            <a:extLst>
              <a:ext uri="{FF2B5EF4-FFF2-40B4-BE49-F238E27FC236}">
                <a16:creationId xmlns:a16="http://schemas.microsoft.com/office/drawing/2014/main" id="{BE851E0E-F957-7F47-BBA2-B11392526F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298263" y="2341294"/>
            <a:ext cx="3595474" cy="10877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26111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g122946ae33d_0_0"/>
          <p:cNvSpPr txBox="1"/>
          <p:nvPr/>
        </p:nvSpPr>
        <p:spPr>
          <a:xfrm>
            <a:off x="2619056" y="765388"/>
            <a:ext cx="7339200" cy="861734"/>
          </a:xfrm>
          <a:prstGeom prst="rect">
            <a:avLst/>
          </a:prstGeom>
          <a:noFill/>
          <a:ln>
            <a:noFill/>
          </a:ln>
        </p:spPr>
        <p:txBody>
          <a:bodyPr spcFirstLastPara="1" wrap="square" lIns="121900" tIns="121900" rIns="121900" bIns="121900" anchor="t" anchorCtr="0">
            <a:spAutoFit/>
          </a:bodyPr>
          <a:lstStyle/>
          <a:p>
            <a:pPr algn="ctr"/>
            <a:r>
              <a:rPr lang="en-US" sz="4000" b="1" dirty="0">
                <a:solidFill>
                  <a:srgbClr val="282828"/>
                </a:solidFill>
                <a:latin typeface="Poppins" pitchFamily="2" charset="77"/>
                <a:cs typeface="Poppins" pitchFamily="2" charset="77"/>
              </a:rPr>
              <a:t>Opportunity.</a:t>
            </a:r>
          </a:p>
        </p:txBody>
      </p:sp>
      <p:sp>
        <p:nvSpPr>
          <p:cNvPr id="3" name="Rectangle 2">
            <a:extLst>
              <a:ext uri="{FF2B5EF4-FFF2-40B4-BE49-F238E27FC236}">
                <a16:creationId xmlns:a16="http://schemas.microsoft.com/office/drawing/2014/main" id="{491215A6-D177-2149-96F4-D3AED6C0CDA0}"/>
              </a:ext>
            </a:extLst>
          </p:cNvPr>
          <p:cNvSpPr/>
          <p:nvPr/>
        </p:nvSpPr>
        <p:spPr>
          <a:xfrm>
            <a:off x="0" y="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7" name="Picture 2" descr="Palm Golf Co. Logo">
            <a:extLst>
              <a:ext uri="{FF2B5EF4-FFF2-40B4-BE49-F238E27FC236}">
                <a16:creationId xmlns:a16="http://schemas.microsoft.com/office/drawing/2014/main" id="{87C323CD-7A61-AC40-9760-B1578CE961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10" name="Google Shape;55;g122946ae33d_0_0">
            <a:extLst>
              <a:ext uri="{FF2B5EF4-FFF2-40B4-BE49-F238E27FC236}">
                <a16:creationId xmlns:a16="http://schemas.microsoft.com/office/drawing/2014/main" id="{CB24C31E-BDC5-EE4F-853B-EDF3280CCC24}"/>
              </a:ext>
            </a:extLst>
          </p:cNvPr>
          <p:cNvSpPr txBox="1"/>
          <p:nvPr/>
        </p:nvSpPr>
        <p:spPr>
          <a:xfrm>
            <a:off x="6554416" y="1698128"/>
            <a:ext cx="4927343" cy="5170606"/>
          </a:xfrm>
          <a:prstGeom prst="rect">
            <a:avLst/>
          </a:prstGeom>
          <a:noFill/>
          <a:ln>
            <a:noFill/>
          </a:ln>
        </p:spPr>
        <p:txBody>
          <a:bodyPr spcFirstLastPara="1" wrap="square" lIns="121900" tIns="121900" rIns="121900" bIns="121900" anchor="t" anchorCtr="0">
            <a:spAutoFit/>
          </a:bodyPr>
          <a:lstStyle/>
          <a:p>
            <a:r>
              <a:rPr lang="en-US" sz="3600" dirty="0">
                <a:solidFill>
                  <a:srgbClr val="373F47"/>
                </a:solidFill>
                <a:latin typeface="Poppins" pitchFamily="2" charset="77"/>
                <a:cs typeface="Poppins" pitchFamily="2" charset="77"/>
              </a:rPr>
              <a:t>Unlock the Potential.</a:t>
            </a:r>
          </a:p>
          <a:p>
            <a:endParaRPr lang="en-US" sz="2800" b="0" i="0" dirty="0">
              <a:solidFill>
                <a:srgbClr val="373F47"/>
              </a:solidFill>
              <a:effectLst/>
              <a:latin typeface="Poppins" pitchFamily="2" charset="77"/>
              <a:cs typeface="Poppins" pitchFamily="2" charset="77"/>
            </a:endParaRPr>
          </a:p>
          <a:p>
            <a:r>
              <a:rPr lang="en-US" sz="2000" b="0" i="0" dirty="0">
                <a:solidFill>
                  <a:srgbClr val="373F47"/>
                </a:solidFill>
                <a:effectLst/>
                <a:latin typeface="Poppins" pitchFamily="2" charset="77"/>
                <a:cs typeface="Poppins" pitchFamily="2" charset="77"/>
              </a:rPr>
              <a:t>The foundation has been poured, the sales channels have been primed and the product creation has been set.</a:t>
            </a:r>
          </a:p>
          <a:p>
            <a:endParaRPr lang="en-US" sz="2000" dirty="0">
              <a:solidFill>
                <a:srgbClr val="373F47"/>
              </a:solidFill>
              <a:latin typeface="Poppins" pitchFamily="2" charset="77"/>
              <a:cs typeface="Poppins" pitchFamily="2" charset="77"/>
            </a:endParaRPr>
          </a:p>
          <a:p>
            <a:r>
              <a:rPr lang="en-US" sz="2000" b="0" i="0" dirty="0">
                <a:solidFill>
                  <a:srgbClr val="373F47"/>
                </a:solidFill>
                <a:effectLst/>
                <a:latin typeface="Poppins" pitchFamily="2" charset="77"/>
                <a:cs typeface="Poppins" pitchFamily="2" charset="77"/>
              </a:rPr>
              <a:t>Palm needs to inject some strategic investment to unlock the tremendous potential that lies ahead.</a:t>
            </a:r>
          </a:p>
          <a:p>
            <a:endParaRPr lang="en-US" sz="2000" b="0" i="0" dirty="0">
              <a:solidFill>
                <a:srgbClr val="373F47"/>
              </a:solidFill>
              <a:effectLst/>
              <a:latin typeface="Poppins" pitchFamily="2" charset="77"/>
              <a:cs typeface="Poppins" pitchFamily="2" charset="77"/>
            </a:endParaRPr>
          </a:p>
          <a:p>
            <a:r>
              <a:rPr lang="en-US" sz="2800" b="0" i="0" dirty="0">
                <a:solidFill>
                  <a:srgbClr val="373F47"/>
                </a:solidFill>
                <a:effectLst/>
                <a:latin typeface="Poppins" pitchFamily="2" charset="77"/>
                <a:cs typeface="Poppins" pitchFamily="2" charset="77"/>
              </a:rPr>
              <a:t> </a:t>
            </a:r>
          </a:p>
          <a:p>
            <a:endParaRPr lang="en-US" sz="2800" dirty="0">
              <a:latin typeface="Poppins" pitchFamily="2" charset="77"/>
              <a:cs typeface="Poppins" pitchFamily="2" charset="77"/>
            </a:endParaRPr>
          </a:p>
        </p:txBody>
      </p:sp>
      <p:cxnSp>
        <p:nvCxnSpPr>
          <p:cNvPr id="12" name="Straight Connector 11">
            <a:extLst>
              <a:ext uri="{FF2B5EF4-FFF2-40B4-BE49-F238E27FC236}">
                <a16:creationId xmlns:a16="http://schemas.microsoft.com/office/drawing/2014/main" id="{87CD8E0D-A7F5-414F-A93C-716012C72AAC}"/>
              </a:ext>
            </a:extLst>
          </p:cNvPr>
          <p:cNvCxnSpPr/>
          <p:nvPr/>
        </p:nvCxnSpPr>
        <p:spPr>
          <a:xfrm>
            <a:off x="5758304" y="1960624"/>
            <a:ext cx="0" cy="3696094"/>
          </a:xfrm>
          <a:prstGeom prst="line">
            <a:avLst/>
          </a:prstGeom>
          <a:ln>
            <a:solidFill>
              <a:srgbClr val="282828"/>
            </a:solidFill>
          </a:ln>
        </p:spPr>
        <p:style>
          <a:lnRef idx="1">
            <a:schemeClr val="accent1"/>
          </a:lnRef>
          <a:fillRef idx="0">
            <a:schemeClr val="accent1"/>
          </a:fillRef>
          <a:effectRef idx="0">
            <a:schemeClr val="accent1"/>
          </a:effectRef>
          <a:fontRef idx="minor">
            <a:schemeClr val="tx1"/>
          </a:fontRef>
        </p:style>
      </p:cxnSp>
      <p:sp>
        <p:nvSpPr>
          <p:cNvPr id="5" name="Google Shape;55;g122946ae33d_0_0">
            <a:extLst>
              <a:ext uri="{FF2B5EF4-FFF2-40B4-BE49-F238E27FC236}">
                <a16:creationId xmlns:a16="http://schemas.microsoft.com/office/drawing/2014/main" id="{389C94CC-BF7B-94A1-0C98-92B5E0A2B4B4}"/>
              </a:ext>
            </a:extLst>
          </p:cNvPr>
          <p:cNvSpPr txBox="1"/>
          <p:nvPr/>
        </p:nvSpPr>
        <p:spPr>
          <a:xfrm>
            <a:off x="441940" y="1783781"/>
            <a:ext cx="4927343" cy="4308831"/>
          </a:xfrm>
          <a:prstGeom prst="rect">
            <a:avLst/>
          </a:prstGeom>
          <a:noFill/>
          <a:ln>
            <a:noFill/>
          </a:ln>
        </p:spPr>
        <p:txBody>
          <a:bodyPr spcFirstLastPara="1" wrap="square" lIns="121900" tIns="121900" rIns="121900" bIns="121900" anchor="t" anchorCtr="0">
            <a:spAutoFit/>
          </a:bodyPr>
          <a:lstStyle/>
          <a:p>
            <a:r>
              <a:rPr lang="en-US" sz="3600" dirty="0">
                <a:solidFill>
                  <a:srgbClr val="373F47"/>
                </a:solidFill>
                <a:latin typeface="Poppins" pitchFamily="2" charset="77"/>
                <a:cs typeface="Poppins" pitchFamily="2" charset="77"/>
              </a:rPr>
              <a:t>Proof of Concept.</a:t>
            </a:r>
          </a:p>
          <a:p>
            <a:endParaRPr lang="en-US" sz="2000" dirty="0">
              <a:solidFill>
                <a:srgbClr val="373F47"/>
              </a:solidFill>
              <a:latin typeface="Poppins" pitchFamily="2" charset="77"/>
              <a:cs typeface="Poppins" pitchFamily="2" charset="77"/>
            </a:endParaRPr>
          </a:p>
          <a:p>
            <a:r>
              <a:rPr lang="en-US" sz="2000" b="0" i="0" dirty="0">
                <a:solidFill>
                  <a:srgbClr val="373F47"/>
                </a:solidFill>
                <a:effectLst/>
                <a:latin typeface="Poppins" pitchFamily="2" charset="77"/>
                <a:cs typeface="Poppins" pitchFamily="2" charset="77"/>
              </a:rPr>
              <a:t>Palm has identified, connected, communicated and continuously met the needs of a well-established customer segment within the golf world.</a:t>
            </a:r>
          </a:p>
          <a:p>
            <a:endParaRPr lang="en-US" sz="2000" dirty="0">
              <a:solidFill>
                <a:srgbClr val="373F47"/>
              </a:solidFill>
              <a:latin typeface="Poppins" pitchFamily="2" charset="77"/>
              <a:cs typeface="Poppins" pitchFamily="2" charset="77"/>
            </a:endParaRPr>
          </a:p>
          <a:p>
            <a:r>
              <a:rPr lang="en-US" sz="2000" b="0" i="0" dirty="0">
                <a:solidFill>
                  <a:srgbClr val="373F47"/>
                </a:solidFill>
                <a:effectLst/>
                <a:latin typeface="Poppins" pitchFamily="2" charset="77"/>
                <a:cs typeface="Poppins" pitchFamily="2" charset="77"/>
              </a:rPr>
              <a:t>Palm has proven to meet their needs year afte</a:t>
            </a:r>
            <a:r>
              <a:rPr lang="en-US" sz="2000" dirty="0">
                <a:solidFill>
                  <a:srgbClr val="373F47"/>
                </a:solidFill>
                <a:latin typeface="Poppins" pitchFamily="2" charset="77"/>
                <a:cs typeface="Poppins" pitchFamily="2" charset="77"/>
              </a:rPr>
              <a:t>r year while introducing new products along the way.</a:t>
            </a:r>
            <a:endParaRPr lang="en-US" sz="2000" b="0" i="0" dirty="0">
              <a:solidFill>
                <a:srgbClr val="373F47"/>
              </a:solidFill>
              <a:effectLst/>
              <a:latin typeface="Poppins" pitchFamily="2" charset="77"/>
              <a:cs typeface="Poppins" pitchFamily="2" charset="77"/>
            </a:endParaRPr>
          </a:p>
          <a:p>
            <a:r>
              <a:rPr lang="en-US" sz="2800" b="0" i="0" dirty="0">
                <a:solidFill>
                  <a:srgbClr val="373F47"/>
                </a:solidFill>
                <a:effectLst/>
                <a:latin typeface="Poppins" pitchFamily="2" charset="77"/>
                <a:cs typeface="Poppins" pitchFamily="2" charset="77"/>
              </a:rPr>
              <a:t> </a:t>
            </a:r>
            <a:endParaRPr lang="en-US" sz="2800" dirty="0">
              <a:latin typeface="Poppins" pitchFamily="2" charset="77"/>
              <a:cs typeface="Poppins" pitchFamily="2" charset="77"/>
            </a:endParaRPr>
          </a:p>
        </p:txBody>
      </p:sp>
    </p:spTree>
    <p:extLst>
      <p:ext uri="{BB962C8B-B14F-4D97-AF65-F5344CB8AC3E}">
        <p14:creationId xmlns:p14="http://schemas.microsoft.com/office/powerpoint/2010/main" val="28245101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17" name="Rectangle 16">
            <a:extLst>
              <a:ext uri="{FF2B5EF4-FFF2-40B4-BE49-F238E27FC236}">
                <a16:creationId xmlns:a16="http://schemas.microsoft.com/office/drawing/2014/main" id="{292FF896-6919-F945-A068-01E14A9258C5}"/>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Futura Medium" panose="020B0602020204020303" pitchFamily="34" charset="-79"/>
              <a:cs typeface="Futura Medium" panose="020B0602020204020303" pitchFamily="34" charset="-79"/>
            </a:endParaRPr>
          </a:p>
        </p:txBody>
      </p:sp>
      <p:pic>
        <p:nvPicPr>
          <p:cNvPr id="18" name="Picture 2" descr="Palm Golf Co. Logo">
            <a:extLst>
              <a:ext uri="{FF2B5EF4-FFF2-40B4-BE49-F238E27FC236}">
                <a16:creationId xmlns:a16="http://schemas.microsoft.com/office/drawing/2014/main" id="{44BA01E6-2549-984C-891A-2FF8DE67E9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133B4EC-172A-7E9C-47B0-2DB798A63714}"/>
              </a:ext>
            </a:extLst>
          </p:cNvPr>
          <p:cNvSpPr txBox="1"/>
          <p:nvPr/>
        </p:nvSpPr>
        <p:spPr>
          <a:xfrm>
            <a:off x="775855" y="777519"/>
            <a:ext cx="10178472" cy="707886"/>
          </a:xfrm>
          <a:prstGeom prst="rect">
            <a:avLst/>
          </a:prstGeom>
          <a:noFill/>
        </p:spPr>
        <p:txBody>
          <a:bodyPr wrap="square" lIns="91440" tIns="45720" rIns="91440" bIns="45720" rtlCol="0" anchor="t">
            <a:spAutoFit/>
          </a:bodyPr>
          <a:lstStyle/>
          <a:p>
            <a:pPr algn="ctr"/>
            <a:r>
              <a:rPr lang="en-US" sz="4000" b="1" dirty="0">
                <a:solidFill>
                  <a:srgbClr val="282828"/>
                </a:solidFill>
                <a:latin typeface="Poppins" pitchFamily="2" charset="77"/>
                <a:cs typeface="Poppins" pitchFamily="2" charset="77"/>
              </a:rPr>
              <a:t>Industry Outlook.</a:t>
            </a:r>
          </a:p>
        </p:txBody>
      </p:sp>
      <p:sp>
        <p:nvSpPr>
          <p:cNvPr id="3" name="TextBox 2">
            <a:extLst>
              <a:ext uri="{FF2B5EF4-FFF2-40B4-BE49-F238E27FC236}">
                <a16:creationId xmlns:a16="http://schemas.microsoft.com/office/drawing/2014/main" id="{93889DAF-48C5-5B4B-9634-7E4204276D6D}"/>
              </a:ext>
            </a:extLst>
          </p:cNvPr>
          <p:cNvSpPr txBox="1"/>
          <p:nvPr/>
        </p:nvSpPr>
        <p:spPr>
          <a:xfrm>
            <a:off x="1008683" y="2264759"/>
            <a:ext cx="2295149" cy="369332"/>
          </a:xfrm>
          <a:prstGeom prst="rect">
            <a:avLst/>
          </a:prstGeom>
          <a:noFill/>
        </p:spPr>
        <p:txBody>
          <a:bodyPr wrap="square" rtlCol="0">
            <a:spAutoFit/>
          </a:bodyPr>
          <a:lstStyle/>
          <a:p>
            <a:pPr algn="ctr"/>
            <a:r>
              <a:rPr lang="en-US" dirty="0">
                <a:latin typeface="Poppins" pitchFamily="2" charset="77"/>
                <a:cs typeface="Poppins" pitchFamily="2" charset="77"/>
              </a:rPr>
              <a:t>Golf is growing.</a:t>
            </a:r>
          </a:p>
        </p:txBody>
      </p:sp>
      <p:sp>
        <p:nvSpPr>
          <p:cNvPr id="11" name="TextBox 10">
            <a:extLst>
              <a:ext uri="{FF2B5EF4-FFF2-40B4-BE49-F238E27FC236}">
                <a16:creationId xmlns:a16="http://schemas.microsoft.com/office/drawing/2014/main" id="{17ADBB09-C3C9-0342-A5F8-1A5DCB906F52}"/>
              </a:ext>
            </a:extLst>
          </p:cNvPr>
          <p:cNvSpPr txBox="1"/>
          <p:nvPr/>
        </p:nvSpPr>
        <p:spPr>
          <a:xfrm>
            <a:off x="4868628" y="2252701"/>
            <a:ext cx="2660333" cy="369332"/>
          </a:xfrm>
          <a:prstGeom prst="rect">
            <a:avLst/>
          </a:prstGeom>
          <a:noFill/>
        </p:spPr>
        <p:txBody>
          <a:bodyPr wrap="square" rtlCol="0">
            <a:spAutoFit/>
          </a:bodyPr>
          <a:lstStyle/>
          <a:p>
            <a:pPr algn="ctr"/>
            <a:r>
              <a:rPr lang="en-US" dirty="0">
                <a:latin typeface="Poppins" pitchFamily="2" charset="77"/>
                <a:cs typeface="Poppins" pitchFamily="2" charset="77"/>
              </a:rPr>
              <a:t>The golfer is evolving. </a:t>
            </a:r>
          </a:p>
        </p:txBody>
      </p:sp>
      <p:sp>
        <p:nvSpPr>
          <p:cNvPr id="13" name="TextBox 12">
            <a:extLst>
              <a:ext uri="{FF2B5EF4-FFF2-40B4-BE49-F238E27FC236}">
                <a16:creationId xmlns:a16="http://schemas.microsoft.com/office/drawing/2014/main" id="{9C5682EA-80A4-8A45-BC97-B6863AA59466}"/>
              </a:ext>
            </a:extLst>
          </p:cNvPr>
          <p:cNvSpPr txBox="1"/>
          <p:nvPr/>
        </p:nvSpPr>
        <p:spPr>
          <a:xfrm>
            <a:off x="443653" y="3049443"/>
            <a:ext cx="3425209" cy="2031325"/>
          </a:xfrm>
          <a:prstGeom prst="rect">
            <a:avLst/>
          </a:prstGeom>
          <a:noFill/>
        </p:spPr>
        <p:txBody>
          <a:bodyPr wrap="square">
            <a:spAutoFit/>
          </a:bodyPr>
          <a:lstStyle/>
          <a:p>
            <a:pPr algn="ctr"/>
            <a:r>
              <a:rPr lang="en-US" sz="1400" b="1" dirty="0">
                <a:solidFill>
                  <a:schemeClr val="bg1"/>
                </a:solidFill>
                <a:highlight>
                  <a:srgbClr val="282828"/>
                </a:highlight>
                <a:latin typeface="Poppins" pitchFamily="2" charset="77"/>
                <a:cs typeface="Poppins" pitchFamily="2" charset="77"/>
              </a:rPr>
              <a:t>Participation</a:t>
            </a:r>
            <a:r>
              <a:rPr lang="en-US" sz="1400" dirty="0">
                <a:latin typeface="Poppins" pitchFamily="2" charset="77"/>
                <a:cs typeface="Poppins" pitchFamily="2" charset="77"/>
              </a:rPr>
              <a:t> in the sport has seen double digit growth over the last 5 years with over 36 million players in the US. Largest Segment is 18–34-year-old male, with 6.2M participants in 2022. </a:t>
            </a:r>
          </a:p>
          <a:p>
            <a:pPr algn="ctr"/>
            <a:endParaRPr lang="en-US" sz="1400" dirty="0">
              <a:latin typeface="Futura Medium" panose="020B0602020204020303" pitchFamily="34" charset="-79"/>
              <a:cs typeface="Futura Medium" panose="020B0602020204020303" pitchFamily="34" charset="-79"/>
            </a:endParaRPr>
          </a:p>
          <a:p>
            <a:pPr algn="ctr"/>
            <a:endParaRPr lang="en-US" sz="1400" dirty="0">
              <a:latin typeface="Futura Medium" panose="020B0602020204020303" pitchFamily="34" charset="-79"/>
              <a:cs typeface="Futura Medium" panose="020B0602020204020303" pitchFamily="34" charset="-79"/>
            </a:endParaRPr>
          </a:p>
          <a:p>
            <a:pPr algn="ctr"/>
            <a:endParaRPr lang="en-US" sz="1400" dirty="0">
              <a:latin typeface="Futura Medium" panose="020B0602020204020303" pitchFamily="34" charset="-79"/>
              <a:cs typeface="Futura Medium" panose="020B0602020204020303" pitchFamily="34" charset="-79"/>
            </a:endParaRPr>
          </a:p>
        </p:txBody>
      </p:sp>
      <p:sp>
        <p:nvSpPr>
          <p:cNvPr id="15" name="TextBox 14">
            <a:extLst>
              <a:ext uri="{FF2B5EF4-FFF2-40B4-BE49-F238E27FC236}">
                <a16:creationId xmlns:a16="http://schemas.microsoft.com/office/drawing/2014/main" id="{BB38F810-DBAA-4D49-8D32-CF08BB5E8DA0}"/>
              </a:ext>
            </a:extLst>
          </p:cNvPr>
          <p:cNvSpPr txBox="1"/>
          <p:nvPr/>
        </p:nvSpPr>
        <p:spPr>
          <a:xfrm>
            <a:off x="4634027" y="3049443"/>
            <a:ext cx="3129535" cy="2462213"/>
          </a:xfrm>
          <a:prstGeom prst="rect">
            <a:avLst/>
          </a:prstGeom>
          <a:noFill/>
        </p:spPr>
        <p:txBody>
          <a:bodyPr wrap="square">
            <a:spAutoFit/>
          </a:bodyPr>
          <a:lstStyle/>
          <a:p>
            <a:pPr algn="ctr"/>
            <a:r>
              <a:rPr lang="en-US" sz="1400" b="1" dirty="0">
                <a:solidFill>
                  <a:schemeClr val="bg1"/>
                </a:solidFill>
                <a:highlight>
                  <a:srgbClr val="282828"/>
                </a:highlight>
                <a:latin typeface="Poppins" pitchFamily="2" charset="77"/>
                <a:cs typeface="Poppins" pitchFamily="2" charset="77"/>
              </a:rPr>
              <a:t>Youth</a:t>
            </a:r>
            <a:r>
              <a:rPr lang="en-US" sz="1400" dirty="0">
                <a:latin typeface="Poppins" pitchFamily="2" charset="77"/>
                <a:cs typeface="Poppins" pitchFamily="2" charset="77"/>
              </a:rPr>
              <a:t> interest is on the rise, with 11% increase over the last 3 years. There were 3.4M Jr. Golfers in 2022. </a:t>
            </a:r>
          </a:p>
          <a:p>
            <a:pPr algn="ctr"/>
            <a:endParaRPr lang="en-US" sz="1400" dirty="0">
              <a:latin typeface="Poppins" pitchFamily="2" charset="77"/>
              <a:cs typeface="Poppins" pitchFamily="2" charset="77"/>
            </a:endParaRPr>
          </a:p>
          <a:p>
            <a:pPr algn="ctr"/>
            <a:r>
              <a:rPr lang="en-US" sz="1400" b="1" dirty="0">
                <a:solidFill>
                  <a:schemeClr val="bg1"/>
                </a:solidFill>
                <a:highlight>
                  <a:srgbClr val="282828"/>
                </a:highlight>
                <a:latin typeface="Poppins" pitchFamily="2" charset="77"/>
                <a:cs typeface="Poppins" pitchFamily="2" charset="77"/>
              </a:rPr>
              <a:t>Women</a:t>
            </a:r>
            <a:r>
              <a:rPr lang="en-US" sz="1400" dirty="0">
                <a:latin typeface="Poppins" pitchFamily="2" charset="77"/>
                <a:cs typeface="Poppins" pitchFamily="2" charset="77"/>
              </a:rPr>
              <a:t> are golfing more than ever before. Women’s golf apparel and accessories sales were up 16%, to $25.6M in 2022.</a:t>
            </a:r>
          </a:p>
          <a:p>
            <a:pPr algn="ctr"/>
            <a:endParaRPr lang="en-US" sz="1400" dirty="0">
              <a:latin typeface="Futura Medium" panose="020B0602020204020303" pitchFamily="34" charset="-79"/>
              <a:cs typeface="Futura Medium" panose="020B0602020204020303" pitchFamily="34" charset="-79"/>
            </a:endParaRPr>
          </a:p>
          <a:p>
            <a:pPr algn="ctr"/>
            <a:endParaRPr lang="en-US" sz="1400" dirty="0">
              <a:latin typeface="Futura Medium" panose="020B0602020204020303" pitchFamily="34" charset="-79"/>
              <a:cs typeface="Futura Medium" panose="020B0602020204020303" pitchFamily="34" charset="-79"/>
            </a:endParaRPr>
          </a:p>
        </p:txBody>
      </p:sp>
      <p:sp>
        <p:nvSpPr>
          <p:cNvPr id="14" name="TextBox 13">
            <a:extLst>
              <a:ext uri="{FF2B5EF4-FFF2-40B4-BE49-F238E27FC236}">
                <a16:creationId xmlns:a16="http://schemas.microsoft.com/office/drawing/2014/main" id="{D48FC9FE-30CC-3F42-9D6E-6A81C87F130F}"/>
              </a:ext>
            </a:extLst>
          </p:cNvPr>
          <p:cNvSpPr txBox="1"/>
          <p:nvPr/>
        </p:nvSpPr>
        <p:spPr>
          <a:xfrm>
            <a:off x="8989605" y="2264759"/>
            <a:ext cx="2405889" cy="646331"/>
          </a:xfrm>
          <a:prstGeom prst="rect">
            <a:avLst/>
          </a:prstGeom>
          <a:noFill/>
        </p:spPr>
        <p:txBody>
          <a:bodyPr wrap="square" rtlCol="0">
            <a:spAutoFit/>
          </a:bodyPr>
          <a:lstStyle/>
          <a:p>
            <a:pPr algn="ctr"/>
            <a:r>
              <a:rPr lang="en-US" dirty="0">
                <a:latin typeface="Poppins" pitchFamily="2" charset="77"/>
                <a:cs typeface="Poppins" pitchFamily="2" charset="77"/>
              </a:rPr>
              <a:t>The golf lifestyle is expanding.</a:t>
            </a:r>
          </a:p>
        </p:txBody>
      </p:sp>
      <p:sp>
        <p:nvSpPr>
          <p:cNvPr id="19" name="TextBox 18">
            <a:extLst>
              <a:ext uri="{FF2B5EF4-FFF2-40B4-BE49-F238E27FC236}">
                <a16:creationId xmlns:a16="http://schemas.microsoft.com/office/drawing/2014/main" id="{1BC28B86-1D10-2841-8A67-E374FF40721A}"/>
              </a:ext>
            </a:extLst>
          </p:cNvPr>
          <p:cNvSpPr txBox="1"/>
          <p:nvPr/>
        </p:nvSpPr>
        <p:spPr>
          <a:xfrm>
            <a:off x="8528729" y="3049443"/>
            <a:ext cx="3327640" cy="2462213"/>
          </a:xfrm>
          <a:prstGeom prst="rect">
            <a:avLst/>
          </a:prstGeom>
          <a:noFill/>
        </p:spPr>
        <p:txBody>
          <a:bodyPr wrap="square">
            <a:spAutoFit/>
          </a:bodyPr>
          <a:lstStyle/>
          <a:p>
            <a:pPr algn="ctr"/>
            <a:r>
              <a:rPr lang="en-US" sz="1400" b="1" dirty="0">
                <a:solidFill>
                  <a:schemeClr val="bg1"/>
                </a:solidFill>
                <a:highlight>
                  <a:srgbClr val="282828"/>
                </a:highlight>
                <a:latin typeface="Poppins" pitchFamily="2" charset="77"/>
                <a:cs typeface="Poppins" pitchFamily="2" charset="77"/>
              </a:rPr>
              <a:t>Digital Engagement </a:t>
            </a:r>
            <a:r>
              <a:rPr lang="en-US" sz="1400" dirty="0">
                <a:latin typeface="Poppins" pitchFamily="2" charset="77"/>
                <a:cs typeface="Poppins" pitchFamily="2" charset="77"/>
              </a:rPr>
              <a:t>– golf’s digital footprints is soaring with over 25% increase in online golf related content.</a:t>
            </a:r>
          </a:p>
          <a:p>
            <a:pPr algn="ctr"/>
            <a:endParaRPr lang="en-US" sz="1400" dirty="0">
              <a:latin typeface="Poppins" pitchFamily="2" charset="77"/>
              <a:cs typeface="Poppins" pitchFamily="2" charset="77"/>
            </a:endParaRPr>
          </a:p>
          <a:p>
            <a:pPr algn="ctr"/>
            <a:r>
              <a:rPr lang="en-US" sz="1400" dirty="0">
                <a:latin typeface="Poppins" pitchFamily="2" charset="77"/>
                <a:cs typeface="Poppins" pitchFamily="2" charset="77"/>
              </a:rPr>
              <a:t>Golf consumers continue to transition from the mainstream brands to the </a:t>
            </a:r>
            <a:r>
              <a:rPr lang="en-US" sz="1400" b="1" dirty="0">
                <a:solidFill>
                  <a:schemeClr val="bg1"/>
                </a:solidFill>
                <a:highlight>
                  <a:srgbClr val="282828"/>
                </a:highlight>
                <a:latin typeface="Poppins" pitchFamily="2" charset="77"/>
                <a:cs typeface="Poppins" pitchFamily="2" charset="77"/>
              </a:rPr>
              <a:t>newer golf specific brands</a:t>
            </a:r>
          </a:p>
          <a:p>
            <a:pPr algn="ctr"/>
            <a:endParaRPr lang="en-US" sz="1400" dirty="0">
              <a:latin typeface="Futura Medium" panose="020B0602020204020303" pitchFamily="34" charset="-79"/>
              <a:cs typeface="Futura Medium" panose="020B0602020204020303" pitchFamily="34" charset="-79"/>
            </a:endParaRPr>
          </a:p>
          <a:p>
            <a:pPr algn="ctr"/>
            <a:r>
              <a:rPr lang="en-US" sz="1400" dirty="0">
                <a:latin typeface="Futura Medium" panose="020B0602020204020303" pitchFamily="34" charset="-79"/>
                <a:cs typeface="Futura Medium" panose="020B0602020204020303" pitchFamily="34" charset="-79"/>
              </a:rPr>
              <a:t> </a:t>
            </a:r>
          </a:p>
        </p:txBody>
      </p:sp>
      <p:cxnSp>
        <p:nvCxnSpPr>
          <p:cNvPr id="8" name="Straight Connector 7">
            <a:extLst>
              <a:ext uri="{FF2B5EF4-FFF2-40B4-BE49-F238E27FC236}">
                <a16:creationId xmlns:a16="http://schemas.microsoft.com/office/drawing/2014/main" id="{5E455C8E-9FB8-AE44-A003-3D7BB0ABBE99}"/>
              </a:ext>
            </a:extLst>
          </p:cNvPr>
          <p:cNvCxnSpPr/>
          <p:nvPr/>
        </p:nvCxnSpPr>
        <p:spPr>
          <a:xfrm>
            <a:off x="4244196" y="2264759"/>
            <a:ext cx="0" cy="3696094"/>
          </a:xfrm>
          <a:prstGeom prst="line">
            <a:avLst/>
          </a:prstGeom>
          <a:ln>
            <a:solidFill>
              <a:srgbClr val="282828"/>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750DADE-8BCB-2948-9D16-BFD6693FBB2F}"/>
              </a:ext>
            </a:extLst>
          </p:cNvPr>
          <p:cNvCxnSpPr/>
          <p:nvPr/>
        </p:nvCxnSpPr>
        <p:spPr>
          <a:xfrm>
            <a:off x="8218098" y="2264759"/>
            <a:ext cx="0" cy="3696094"/>
          </a:xfrm>
          <a:prstGeom prst="line">
            <a:avLst/>
          </a:prstGeom>
          <a:ln>
            <a:solidFill>
              <a:srgbClr val="282828"/>
            </a:solidFill>
          </a:ln>
        </p:spPr>
        <p:style>
          <a:lnRef idx="1">
            <a:schemeClr val="accent1"/>
          </a:lnRef>
          <a:fillRef idx="0">
            <a:schemeClr val="accent1"/>
          </a:fillRef>
          <a:effectRef idx="0">
            <a:schemeClr val="accent1"/>
          </a:effectRef>
          <a:fontRef idx="minor">
            <a:schemeClr val="tx1"/>
          </a:fontRef>
        </p:style>
      </p:cxnSp>
      <p:sp>
        <p:nvSpPr>
          <p:cNvPr id="21" name="Rectangle 20">
            <a:extLst>
              <a:ext uri="{FF2B5EF4-FFF2-40B4-BE49-F238E27FC236}">
                <a16:creationId xmlns:a16="http://schemas.microsoft.com/office/drawing/2014/main" id="{9B54E58F-D0A3-2645-94CD-BE892D75115D}"/>
              </a:ext>
            </a:extLst>
          </p:cNvPr>
          <p:cNvSpPr/>
          <p:nvPr/>
        </p:nvSpPr>
        <p:spPr>
          <a:xfrm>
            <a:off x="443653" y="6075457"/>
            <a:ext cx="11518271" cy="601496"/>
          </a:xfrm>
          <a:prstGeom prst="rect">
            <a:avLst/>
          </a:prstGeom>
          <a:solidFill>
            <a:srgbClr val="28282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a:latin typeface="Poppins"/>
                <a:cs typeface="Poppins"/>
              </a:rPr>
              <a:t>As golf grows, consumers demand more stylish and functional apparel and accessory options.</a:t>
            </a:r>
          </a:p>
        </p:txBody>
      </p:sp>
    </p:spTree>
    <p:extLst>
      <p:ext uri="{BB962C8B-B14F-4D97-AF65-F5344CB8AC3E}">
        <p14:creationId xmlns:p14="http://schemas.microsoft.com/office/powerpoint/2010/main" val="26320324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17" name="Rectangle 16">
            <a:extLst>
              <a:ext uri="{FF2B5EF4-FFF2-40B4-BE49-F238E27FC236}">
                <a16:creationId xmlns:a16="http://schemas.microsoft.com/office/drawing/2014/main" id="{292FF896-6919-F945-A068-01E14A9258C5}"/>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Futura Medium" panose="020B0602020204020303" pitchFamily="34" charset="-79"/>
              <a:cs typeface="Futura Medium" panose="020B0602020204020303" pitchFamily="34" charset="-79"/>
            </a:endParaRPr>
          </a:p>
        </p:txBody>
      </p:sp>
      <p:pic>
        <p:nvPicPr>
          <p:cNvPr id="18" name="Picture 2" descr="Palm Golf Co. Logo">
            <a:extLst>
              <a:ext uri="{FF2B5EF4-FFF2-40B4-BE49-F238E27FC236}">
                <a16:creationId xmlns:a16="http://schemas.microsoft.com/office/drawing/2014/main" id="{44BA01E6-2549-984C-891A-2FF8DE67E9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133B4EC-172A-7E9C-47B0-2DB798A63714}"/>
              </a:ext>
            </a:extLst>
          </p:cNvPr>
          <p:cNvSpPr txBox="1"/>
          <p:nvPr/>
        </p:nvSpPr>
        <p:spPr>
          <a:xfrm>
            <a:off x="775855" y="777519"/>
            <a:ext cx="10178472" cy="707886"/>
          </a:xfrm>
          <a:prstGeom prst="rect">
            <a:avLst/>
          </a:prstGeom>
          <a:noFill/>
        </p:spPr>
        <p:txBody>
          <a:bodyPr wrap="square" lIns="91440" tIns="45720" rIns="91440" bIns="45720" rtlCol="0" anchor="t">
            <a:spAutoFit/>
          </a:bodyPr>
          <a:lstStyle/>
          <a:p>
            <a:pPr algn="ctr" defTabSz="1219170">
              <a:buClr>
                <a:srgbClr val="000000"/>
              </a:buClr>
            </a:pPr>
            <a:r>
              <a:rPr lang="en-US" sz="4000" b="1" kern="0" dirty="0">
                <a:solidFill>
                  <a:srgbClr val="282828"/>
                </a:solidFill>
                <a:latin typeface="Poppins"/>
                <a:ea typeface="Century Gothic"/>
                <a:cs typeface="Poppins"/>
                <a:sym typeface="Century Gothic"/>
              </a:rPr>
              <a:t>Palm is poised to win this Opportunity.</a:t>
            </a:r>
            <a:endParaRPr lang="en-US" sz="4000" b="1" kern="0" dirty="0">
              <a:solidFill>
                <a:srgbClr val="282828"/>
              </a:solidFill>
              <a:latin typeface="Poppins" pitchFamily="2" charset="77"/>
              <a:cs typeface="Poppins" pitchFamily="2" charset="77"/>
            </a:endParaRPr>
          </a:p>
        </p:txBody>
      </p:sp>
      <p:sp>
        <p:nvSpPr>
          <p:cNvPr id="3" name="TextBox 2">
            <a:extLst>
              <a:ext uri="{FF2B5EF4-FFF2-40B4-BE49-F238E27FC236}">
                <a16:creationId xmlns:a16="http://schemas.microsoft.com/office/drawing/2014/main" id="{93889DAF-48C5-5B4B-9634-7E4204276D6D}"/>
              </a:ext>
            </a:extLst>
          </p:cNvPr>
          <p:cNvSpPr txBox="1"/>
          <p:nvPr/>
        </p:nvSpPr>
        <p:spPr>
          <a:xfrm>
            <a:off x="1008683" y="2264759"/>
            <a:ext cx="2295149" cy="369332"/>
          </a:xfrm>
          <a:prstGeom prst="rect">
            <a:avLst/>
          </a:prstGeom>
          <a:noFill/>
        </p:spPr>
        <p:txBody>
          <a:bodyPr wrap="square" rtlCol="0">
            <a:spAutoFit/>
          </a:bodyPr>
          <a:lstStyle/>
          <a:p>
            <a:pPr algn="ctr"/>
            <a:r>
              <a:rPr lang="en-US" dirty="0">
                <a:latin typeface="Poppins" pitchFamily="2" charset="77"/>
                <a:cs typeface="Poppins" pitchFamily="2" charset="77"/>
              </a:rPr>
              <a:t>Golf is growing.</a:t>
            </a:r>
          </a:p>
        </p:txBody>
      </p:sp>
      <p:sp>
        <p:nvSpPr>
          <p:cNvPr id="11" name="TextBox 10">
            <a:extLst>
              <a:ext uri="{FF2B5EF4-FFF2-40B4-BE49-F238E27FC236}">
                <a16:creationId xmlns:a16="http://schemas.microsoft.com/office/drawing/2014/main" id="{17ADBB09-C3C9-0342-A5F8-1A5DCB906F52}"/>
              </a:ext>
            </a:extLst>
          </p:cNvPr>
          <p:cNvSpPr txBox="1"/>
          <p:nvPr/>
        </p:nvSpPr>
        <p:spPr>
          <a:xfrm>
            <a:off x="4868628" y="2252701"/>
            <a:ext cx="2660333" cy="369332"/>
          </a:xfrm>
          <a:prstGeom prst="rect">
            <a:avLst/>
          </a:prstGeom>
          <a:noFill/>
        </p:spPr>
        <p:txBody>
          <a:bodyPr wrap="square" rtlCol="0">
            <a:spAutoFit/>
          </a:bodyPr>
          <a:lstStyle/>
          <a:p>
            <a:pPr algn="ctr"/>
            <a:r>
              <a:rPr lang="en-US" dirty="0">
                <a:latin typeface="Poppins" pitchFamily="2" charset="77"/>
                <a:cs typeface="Poppins" pitchFamily="2" charset="77"/>
              </a:rPr>
              <a:t>The golfer is evolving. </a:t>
            </a:r>
          </a:p>
        </p:txBody>
      </p:sp>
      <p:sp>
        <p:nvSpPr>
          <p:cNvPr id="13" name="TextBox 12">
            <a:extLst>
              <a:ext uri="{FF2B5EF4-FFF2-40B4-BE49-F238E27FC236}">
                <a16:creationId xmlns:a16="http://schemas.microsoft.com/office/drawing/2014/main" id="{9C5682EA-80A4-8A45-BC97-B6863AA59466}"/>
              </a:ext>
            </a:extLst>
          </p:cNvPr>
          <p:cNvSpPr txBox="1"/>
          <p:nvPr/>
        </p:nvSpPr>
        <p:spPr>
          <a:xfrm>
            <a:off x="443653" y="3049443"/>
            <a:ext cx="3425209" cy="2031325"/>
          </a:xfrm>
          <a:prstGeom prst="rect">
            <a:avLst/>
          </a:prstGeom>
          <a:noFill/>
        </p:spPr>
        <p:txBody>
          <a:bodyPr wrap="square" lIns="91440" tIns="45720" rIns="91440" bIns="45720" anchor="t">
            <a:spAutoFit/>
          </a:bodyPr>
          <a:lstStyle/>
          <a:p>
            <a:pPr algn="ctr"/>
            <a:r>
              <a:rPr lang="en-US" sz="1400" b="1" dirty="0">
                <a:solidFill>
                  <a:schemeClr val="bg1"/>
                </a:solidFill>
                <a:highlight>
                  <a:srgbClr val="282828"/>
                </a:highlight>
                <a:latin typeface="Poppins" pitchFamily="2" charset="77"/>
                <a:cs typeface="Poppins" pitchFamily="2" charset="77"/>
              </a:rPr>
              <a:t>Participation</a:t>
            </a:r>
            <a:r>
              <a:rPr lang="en-US" sz="1400" dirty="0">
                <a:solidFill>
                  <a:schemeClr val="bg1"/>
                </a:solidFill>
                <a:latin typeface="Poppins" pitchFamily="2" charset="77"/>
                <a:cs typeface="Poppins" pitchFamily="2" charset="77"/>
              </a:rPr>
              <a:t> </a:t>
            </a:r>
            <a:r>
              <a:rPr lang="en-US" sz="1400" dirty="0">
                <a:solidFill>
                  <a:schemeClr val="bg2"/>
                </a:solidFill>
                <a:latin typeface="Poppins" pitchFamily="2" charset="77"/>
                <a:cs typeface="Poppins" pitchFamily="2" charset="77"/>
              </a:rPr>
              <a:t>in the sport has seen double digit growth over the last 5 years with over 36 million players in the US. </a:t>
            </a:r>
            <a:r>
              <a:rPr lang="en-US" sz="1400" dirty="0">
                <a:solidFill>
                  <a:schemeClr val="bg2"/>
                </a:solidFill>
                <a:highlight>
                  <a:srgbClr val="282828"/>
                </a:highlight>
                <a:latin typeface="Poppins" pitchFamily="2" charset="77"/>
                <a:cs typeface="Poppins" pitchFamily="2" charset="77"/>
              </a:rPr>
              <a:t>Largest Segment is 18–34-year-old male</a:t>
            </a:r>
            <a:r>
              <a:rPr lang="en-US" sz="1400" dirty="0">
                <a:solidFill>
                  <a:schemeClr val="bg2"/>
                </a:solidFill>
                <a:latin typeface="Poppins" pitchFamily="2" charset="77"/>
                <a:cs typeface="Poppins" pitchFamily="2" charset="77"/>
              </a:rPr>
              <a:t>, with 6.2M participants in 2022. </a:t>
            </a:r>
          </a:p>
          <a:p>
            <a:pPr algn="ctr"/>
            <a:endParaRPr lang="en-US" sz="1400" dirty="0">
              <a:solidFill>
                <a:schemeClr val="bg2"/>
              </a:solidFill>
              <a:latin typeface="Poppins" pitchFamily="2" charset="77"/>
              <a:cs typeface="Poppins" pitchFamily="2" charset="77"/>
            </a:endParaRPr>
          </a:p>
          <a:p>
            <a:pPr algn="ctr"/>
            <a:endParaRPr lang="en-US" sz="1400" dirty="0">
              <a:solidFill>
                <a:schemeClr val="bg2"/>
              </a:solidFill>
              <a:latin typeface="Poppins" pitchFamily="2" charset="77"/>
              <a:cs typeface="Poppins" pitchFamily="2" charset="77"/>
            </a:endParaRPr>
          </a:p>
          <a:p>
            <a:pPr algn="ctr"/>
            <a:endParaRPr lang="en-US" sz="1400" dirty="0">
              <a:solidFill>
                <a:schemeClr val="bg2"/>
              </a:solidFill>
              <a:latin typeface="Poppins" pitchFamily="2" charset="77"/>
              <a:cs typeface="Poppins" pitchFamily="2" charset="77"/>
            </a:endParaRPr>
          </a:p>
        </p:txBody>
      </p:sp>
      <p:sp>
        <p:nvSpPr>
          <p:cNvPr id="15" name="TextBox 14">
            <a:extLst>
              <a:ext uri="{FF2B5EF4-FFF2-40B4-BE49-F238E27FC236}">
                <a16:creationId xmlns:a16="http://schemas.microsoft.com/office/drawing/2014/main" id="{BB38F810-DBAA-4D49-8D32-CF08BB5E8DA0}"/>
              </a:ext>
            </a:extLst>
          </p:cNvPr>
          <p:cNvSpPr txBox="1"/>
          <p:nvPr/>
        </p:nvSpPr>
        <p:spPr>
          <a:xfrm>
            <a:off x="4634027" y="3049443"/>
            <a:ext cx="3129535" cy="2462213"/>
          </a:xfrm>
          <a:prstGeom prst="rect">
            <a:avLst/>
          </a:prstGeom>
          <a:noFill/>
        </p:spPr>
        <p:txBody>
          <a:bodyPr wrap="square" lIns="91440" tIns="45720" rIns="91440" bIns="45720" anchor="t">
            <a:spAutoFit/>
          </a:bodyPr>
          <a:lstStyle/>
          <a:p>
            <a:pPr algn="ctr"/>
            <a:r>
              <a:rPr lang="en-US" sz="1400" b="1" dirty="0">
                <a:solidFill>
                  <a:schemeClr val="bg1"/>
                </a:solidFill>
                <a:highlight>
                  <a:srgbClr val="282828"/>
                </a:highlight>
                <a:latin typeface="Poppins" pitchFamily="2" charset="77"/>
                <a:cs typeface="Poppins" pitchFamily="2" charset="77"/>
              </a:rPr>
              <a:t>Youth</a:t>
            </a:r>
            <a:r>
              <a:rPr lang="en-US" sz="1400" dirty="0">
                <a:solidFill>
                  <a:schemeClr val="bg1"/>
                </a:solidFill>
                <a:latin typeface="Poppins" pitchFamily="2" charset="77"/>
                <a:cs typeface="Poppins" pitchFamily="2" charset="77"/>
              </a:rPr>
              <a:t> </a:t>
            </a:r>
            <a:r>
              <a:rPr lang="en-US" sz="1400" dirty="0">
                <a:solidFill>
                  <a:schemeClr val="bg2"/>
                </a:solidFill>
                <a:latin typeface="Poppins" pitchFamily="2" charset="77"/>
                <a:cs typeface="Poppins" pitchFamily="2" charset="77"/>
              </a:rPr>
              <a:t>interest is on the rise, with 11% increase over the last 3 years. There were 3.4M Jr. Golfers in 2022. </a:t>
            </a:r>
          </a:p>
          <a:p>
            <a:pPr algn="ctr"/>
            <a:endParaRPr lang="en-US" sz="1400" dirty="0">
              <a:solidFill>
                <a:schemeClr val="bg2"/>
              </a:solidFill>
              <a:latin typeface="Poppins" pitchFamily="2" charset="77"/>
              <a:cs typeface="Poppins" pitchFamily="2" charset="77"/>
            </a:endParaRPr>
          </a:p>
          <a:p>
            <a:pPr algn="ctr"/>
            <a:r>
              <a:rPr lang="en-US" sz="1400" b="1" dirty="0">
                <a:solidFill>
                  <a:schemeClr val="bg1"/>
                </a:solidFill>
                <a:highlight>
                  <a:srgbClr val="282828"/>
                </a:highlight>
                <a:latin typeface="Poppins" pitchFamily="2" charset="77"/>
                <a:cs typeface="Poppins" pitchFamily="2" charset="77"/>
              </a:rPr>
              <a:t>Women</a:t>
            </a:r>
            <a:r>
              <a:rPr lang="en-US" sz="1400" dirty="0">
                <a:solidFill>
                  <a:schemeClr val="bg1"/>
                </a:solidFill>
                <a:latin typeface="Poppins" pitchFamily="2" charset="77"/>
                <a:cs typeface="Poppins" pitchFamily="2" charset="77"/>
              </a:rPr>
              <a:t> </a:t>
            </a:r>
            <a:r>
              <a:rPr lang="en-US" sz="1400" dirty="0">
                <a:solidFill>
                  <a:schemeClr val="bg2"/>
                </a:solidFill>
                <a:latin typeface="Poppins" pitchFamily="2" charset="77"/>
                <a:cs typeface="Poppins" pitchFamily="2" charset="77"/>
              </a:rPr>
              <a:t>are golfing more than ever before. Women’s golf apparel and accessories sales were up 16%, to $25.6M in 2022.</a:t>
            </a:r>
          </a:p>
          <a:p>
            <a:pPr algn="ctr"/>
            <a:endParaRPr lang="en-US" sz="1400" dirty="0">
              <a:solidFill>
                <a:schemeClr val="bg2"/>
              </a:solidFill>
              <a:latin typeface="Poppins" pitchFamily="2" charset="77"/>
              <a:cs typeface="Poppins" pitchFamily="2" charset="77"/>
            </a:endParaRPr>
          </a:p>
          <a:p>
            <a:pPr algn="ctr"/>
            <a:endParaRPr lang="en-US" sz="1400" dirty="0">
              <a:solidFill>
                <a:schemeClr val="bg2"/>
              </a:solidFill>
              <a:latin typeface="Poppins" pitchFamily="2" charset="77"/>
              <a:cs typeface="Poppins" pitchFamily="2" charset="77"/>
            </a:endParaRPr>
          </a:p>
        </p:txBody>
      </p:sp>
      <p:sp>
        <p:nvSpPr>
          <p:cNvPr id="14" name="TextBox 13">
            <a:extLst>
              <a:ext uri="{FF2B5EF4-FFF2-40B4-BE49-F238E27FC236}">
                <a16:creationId xmlns:a16="http://schemas.microsoft.com/office/drawing/2014/main" id="{D48FC9FE-30CC-3F42-9D6E-6A81C87F130F}"/>
              </a:ext>
            </a:extLst>
          </p:cNvPr>
          <p:cNvSpPr txBox="1"/>
          <p:nvPr/>
        </p:nvSpPr>
        <p:spPr>
          <a:xfrm>
            <a:off x="8989605" y="2264759"/>
            <a:ext cx="2405889" cy="646331"/>
          </a:xfrm>
          <a:prstGeom prst="rect">
            <a:avLst/>
          </a:prstGeom>
          <a:noFill/>
        </p:spPr>
        <p:txBody>
          <a:bodyPr wrap="square" rtlCol="0">
            <a:spAutoFit/>
          </a:bodyPr>
          <a:lstStyle/>
          <a:p>
            <a:pPr algn="ctr"/>
            <a:r>
              <a:rPr lang="en-US" dirty="0">
                <a:latin typeface="Poppins" pitchFamily="2" charset="77"/>
                <a:cs typeface="Poppins" pitchFamily="2" charset="77"/>
              </a:rPr>
              <a:t>The golf lifestyle is expanding.</a:t>
            </a:r>
          </a:p>
        </p:txBody>
      </p:sp>
      <p:sp>
        <p:nvSpPr>
          <p:cNvPr id="19" name="TextBox 18">
            <a:extLst>
              <a:ext uri="{FF2B5EF4-FFF2-40B4-BE49-F238E27FC236}">
                <a16:creationId xmlns:a16="http://schemas.microsoft.com/office/drawing/2014/main" id="{1BC28B86-1D10-2841-8A67-E374FF40721A}"/>
              </a:ext>
            </a:extLst>
          </p:cNvPr>
          <p:cNvSpPr txBox="1"/>
          <p:nvPr/>
        </p:nvSpPr>
        <p:spPr>
          <a:xfrm>
            <a:off x="8528729" y="3049443"/>
            <a:ext cx="3327640" cy="2462213"/>
          </a:xfrm>
          <a:prstGeom prst="rect">
            <a:avLst/>
          </a:prstGeom>
          <a:noFill/>
        </p:spPr>
        <p:txBody>
          <a:bodyPr wrap="square" lIns="91440" tIns="45720" rIns="91440" bIns="45720" anchor="t">
            <a:spAutoFit/>
          </a:bodyPr>
          <a:lstStyle/>
          <a:p>
            <a:pPr algn="ctr"/>
            <a:r>
              <a:rPr lang="en-US" sz="1400" b="1">
                <a:solidFill>
                  <a:schemeClr val="bg1"/>
                </a:solidFill>
                <a:highlight>
                  <a:srgbClr val="282828"/>
                </a:highlight>
                <a:latin typeface="Poppins" pitchFamily="2" charset="77"/>
                <a:cs typeface="Poppins" pitchFamily="2" charset="77"/>
              </a:rPr>
              <a:t>Digital Engagement</a:t>
            </a:r>
            <a:r>
              <a:rPr lang="en-US" sz="1400" b="1">
                <a:solidFill>
                  <a:schemeClr val="bg2"/>
                </a:solidFill>
                <a:highlight>
                  <a:srgbClr val="282828"/>
                </a:highlight>
                <a:latin typeface="Poppins" pitchFamily="2" charset="77"/>
                <a:cs typeface="Poppins" pitchFamily="2" charset="77"/>
              </a:rPr>
              <a:t> </a:t>
            </a:r>
            <a:r>
              <a:rPr lang="en-US" sz="1400">
                <a:solidFill>
                  <a:schemeClr val="bg2"/>
                </a:solidFill>
                <a:latin typeface="Poppins" pitchFamily="2" charset="77"/>
                <a:cs typeface="Poppins" pitchFamily="2" charset="77"/>
              </a:rPr>
              <a:t>– golf’s digital footprints is soaring with over 25% increase in online golf related content.</a:t>
            </a:r>
          </a:p>
          <a:p>
            <a:pPr algn="ctr"/>
            <a:endParaRPr lang="en-US" sz="1400">
              <a:solidFill>
                <a:schemeClr val="bg2"/>
              </a:solidFill>
              <a:latin typeface="Poppins" pitchFamily="2" charset="77"/>
              <a:cs typeface="Poppins" pitchFamily="2" charset="77"/>
            </a:endParaRPr>
          </a:p>
          <a:p>
            <a:pPr algn="ctr"/>
            <a:r>
              <a:rPr lang="en-US" sz="1400">
                <a:solidFill>
                  <a:schemeClr val="bg2"/>
                </a:solidFill>
                <a:latin typeface="Poppins" pitchFamily="2" charset="77"/>
                <a:cs typeface="Poppins" pitchFamily="2" charset="77"/>
              </a:rPr>
              <a:t>Golf consumers continue to transition from the mainstream brands to the </a:t>
            </a:r>
            <a:r>
              <a:rPr lang="en-US" sz="1400" b="1">
                <a:solidFill>
                  <a:schemeClr val="bg1"/>
                </a:solidFill>
                <a:highlight>
                  <a:srgbClr val="282828"/>
                </a:highlight>
                <a:latin typeface="Poppins" pitchFamily="2" charset="77"/>
                <a:cs typeface="Poppins" pitchFamily="2" charset="77"/>
              </a:rPr>
              <a:t>newer golf specific brands</a:t>
            </a:r>
          </a:p>
          <a:p>
            <a:pPr algn="ctr"/>
            <a:endParaRPr lang="en-US" sz="1400">
              <a:solidFill>
                <a:schemeClr val="bg2"/>
              </a:solidFill>
              <a:latin typeface="Poppins" pitchFamily="2" charset="77"/>
              <a:cs typeface="Poppins" pitchFamily="2" charset="77"/>
            </a:endParaRPr>
          </a:p>
          <a:p>
            <a:pPr algn="ctr"/>
            <a:r>
              <a:rPr lang="en-US" sz="1400">
                <a:solidFill>
                  <a:schemeClr val="bg2"/>
                </a:solidFill>
                <a:latin typeface="Poppins" pitchFamily="2" charset="77"/>
                <a:cs typeface="Poppins" pitchFamily="2" charset="77"/>
              </a:rPr>
              <a:t> </a:t>
            </a:r>
          </a:p>
        </p:txBody>
      </p:sp>
      <p:cxnSp>
        <p:nvCxnSpPr>
          <p:cNvPr id="8" name="Straight Connector 7">
            <a:extLst>
              <a:ext uri="{FF2B5EF4-FFF2-40B4-BE49-F238E27FC236}">
                <a16:creationId xmlns:a16="http://schemas.microsoft.com/office/drawing/2014/main" id="{5E455C8E-9FB8-AE44-A003-3D7BB0ABBE99}"/>
              </a:ext>
            </a:extLst>
          </p:cNvPr>
          <p:cNvCxnSpPr/>
          <p:nvPr/>
        </p:nvCxnSpPr>
        <p:spPr>
          <a:xfrm>
            <a:off x="4244196" y="2264759"/>
            <a:ext cx="0" cy="3696094"/>
          </a:xfrm>
          <a:prstGeom prst="line">
            <a:avLst/>
          </a:prstGeom>
          <a:ln>
            <a:solidFill>
              <a:srgbClr val="282828"/>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D750DADE-8BCB-2948-9D16-BFD6693FBB2F}"/>
              </a:ext>
            </a:extLst>
          </p:cNvPr>
          <p:cNvCxnSpPr/>
          <p:nvPr/>
        </p:nvCxnSpPr>
        <p:spPr>
          <a:xfrm>
            <a:off x="8218098" y="2264759"/>
            <a:ext cx="0" cy="3696094"/>
          </a:xfrm>
          <a:prstGeom prst="line">
            <a:avLst/>
          </a:prstGeom>
          <a:ln>
            <a:solidFill>
              <a:srgbClr val="282828"/>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EEEAD519-D2A6-F546-ACCA-B100F0949284}"/>
              </a:ext>
            </a:extLst>
          </p:cNvPr>
          <p:cNvSpPr txBox="1"/>
          <p:nvPr/>
        </p:nvSpPr>
        <p:spPr>
          <a:xfrm>
            <a:off x="237993" y="5229006"/>
            <a:ext cx="3735910" cy="338554"/>
          </a:xfrm>
          <a:prstGeom prst="rect">
            <a:avLst/>
          </a:prstGeom>
          <a:noFill/>
        </p:spPr>
        <p:txBody>
          <a:bodyPr wrap="square">
            <a:spAutoFit/>
          </a:bodyPr>
          <a:lstStyle/>
          <a:p>
            <a:pPr algn="ctr"/>
            <a:r>
              <a:rPr lang="en-US" sz="1600">
                <a:solidFill>
                  <a:schemeClr val="bg1"/>
                </a:solidFill>
                <a:highlight>
                  <a:srgbClr val="282828"/>
                </a:highlight>
                <a:latin typeface="Futura Medium" panose="020B0602020204020303" pitchFamily="34" charset="-79"/>
                <a:cs typeface="Futura Medium" panose="020B0602020204020303" pitchFamily="34" charset="-79"/>
              </a:rPr>
              <a:t>This is Palm’s primary customer.</a:t>
            </a:r>
          </a:p>
        </p:txBody>
      </p:sp>
      <p:sp>
        <p:nvSpPr>
          <p:cNvPr id="21" name="TextBox 20">
            <a:extLst>
              <a:ext uri="{FF2B5EF4-FFF2-40B4-BE49-F238E27FC236}">
                <a16:creationId xmlns:a16="http://schemas.microsoft.com/office/drawing/2014/main" id="{7A798552-B134-6946-9839-4AB89F4EBA1F}"/>
              </a:ext>
            </a:extLst>
          </p:cNvPr>
          <p:cNvSpPr txBox="1"/>
          <p:nvPr/>
        </p:nvSpPr>
        <p:spPr>
          <a:xfrm>
            <a:off x="4374016" y="5156196"/>
            <a:ext cx="3735910" cy="584775"/>
          </a:xfrm>
          <a:prstGeom prst="rect">
            <a:avLst/>
          </a:prstGeom>
          <a:noFill/>
        </p:spPr>
        <p:txBody>
          <a:bodyPr wrap="square">
            <a:spAutoFit/>
          </a:bodyPr>
          <a:lstStyle/>
          <a:p>
            <a:pPr algn="ctr"/>
            <a:r>
              <a:rPr lang="en-US" sz="1600" dirty="0">
                <a:solidFill>
                  <a:schemeClr val="bg1"/>
                </a:solidFill>
                <a:highlight>
                  <a:srgbClr val="282828"/>
                </a:highlight>
                <a:latin typeface="Poppins" pitchFamily="2" charset="77"/>
                <a:cs typeface="Poppins" pitchFamily="2" charset="77"/>
              </a:rPr>
              <a:t>Youth and Female represent new categories for Palm in 2025-26.</a:t>
            </a:r>
          </a:p>
        </p:txBody>
      </p:sp>
      <p:sp>
        <p:nvSpPr>
          <p:cNvPr id="22" name="TextBox 21">
            <a:extLst>
              <a:ext uri="{FF2B5EF4-FFF2-40B4-BE49-F238E27FC236}">
                <a16:creationId xmlns:a16="http://schemas.microsoft.com/office/drawing/2014/main" id="{BC79D2AD-65EF-2E46-A808-196AB458D2CF}"/>
              </a:ext>
            </a:extLst>
          </p:cNvPr>
          <p:cNvSpPr txBox="1"/>
          <p:nvPr/>
        </p:nvSpPr>
        <p:spPr>
          <a:xfrm>
            <a:off x="8239745" y="4991421"/>
            <a:ext cx="3905607" cy="830997"/>
          </a:xfrm>
          <a:prstGeom prst="rect">
            <a:avLst/>
          </a:prstGeom>
          <a:noFill/>
        </p:spPr>
        <p:txBody>
          <a:bodyPr wrap="square" lIns="91440" tIns="45720" rIns="91440" bIns="45720" anchor="t">
            <a:spAutoFit/>
          </a:bodyPr>
          <a:lstStyle/>
          <a:p>
            <a:pPr algn="ctr"/>
            <a:r>
              <a:rPr lang="en-US" sz="1600">
                <a:solidFill>
                  <a:schemeClr val="bg1"/>
                </a:solidFill>
                <a:highlight>
                  <a:srgbClr val="282828"/>
                </a:highlight>
                <a:latin typeface="Futura Medium" panose="020B0602020204020303" pitchFamily="34" charset="-79"/>
                <a:cs typeface="Futura Medium"/>
              </a:rPr>
              <a:t>Digital media and commerce are </a:t>
            </a:r>
            <a:br>
              <a:rPr lang="en-US" sz="1600">
                <a:highlight>
                  <a:srgbClr val="282828"/>
                </a:highlight>
                <a:latin typeface="Futura Medium" panose="020B0602020204020303" pitchFamily="34" charset="-79"/>
                <a:cs typeface="Futura Medium"/>
              </a:rPr>
            </a:br>
            <a:r>
              <a:rPr lang="en-US" sz="1600">
                <a:solidFill>
                  <a:schemeClr val="bg1"/>
                </a:solidFill>
                <a:highlight>
                  <a:srgbClr val="282828"/>
                </a:highlight>
                <a:latin typeface="Futura Medium" panose="020B0602020204020303" pitchFamily="34" charset="-79"/>
                <a:cs typeface="Futura Medium"/>
              </a:rPr>
              <a:t>Palm’s primary lead generation </a:t>
            </a:r>
            <a:br>
              <a:rPr lang="en-US" sz="1600">
                <a:solidFill>
                  <a:schemeClr val="bg1"/>
                </a:solidFill>
                <a:highlight>
                  <a:srgbClr val="282828"/>
                </a:highlight>
                <a:latin typeface="Futura Medium" panose="020B0602020204020303" pitchFamily="34" charset="-79"/>
                <a:cs typeface="Futura Medium"/>
              </a:rPr>
            </a:br>
            <a:r>
              <a:rPr lang="en-US" sz="1600">
                <a:solidFill>
                  <a:schemeClr val="bg1"/>
                </a:solidFill>
                <a:highlight>
                  <a:srgbClr val="282828"/>
                </a:highlight>
                <a:latin typeface="Futura Medium" panose="020B0602020204020303" pitchFamily="34" charset="-79"/>
                <a:cs typeface="Futura Medium"/>
              </a:rPr>
              <a:t>and transaction source.</a:t>
            </a:r>
          </a:p>
        </p:txBody>
      </p:sp>
      <p:sp>
        <p:nvSpPr>
          <p:cNvPr id="6" name="Rectangle 5">
            <a:extLst>
              <a:ext uri="{FF2B5EF4-FFF2-40B4-BE49-F238E27FC236}">
                <a16:creationId xmlns:a16="http://schemas.microsoft.com/office/drawing/2014/main" id="{76C29107-4757-B844-88DD-8C3432E688ED}"/>
              </a:ext>
            </a:extLst>
          </p:cNvPr>
          <p:cNvSpPr/>
          <p:nvPr/>
        </p:nvSpPr>
        <p:spPr>
          <a:xfrm>
            <a:off x="439658" y="6134237"/>
            <a:ext cx="11518271" cy="601496"/>
          </a:xfrm>
          <a:prstGeom prst="rect">
            <a:avLst/>
          </a:prstGeom>
          <a:solidFill>
            <a:srgbClr val="282828"/>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500">
                <a:latin typeface="Poppins"/>
                <a:cs typeface="Poppins"/>
              </a:rPr>
              <a:t>As golf grows, Palm will meet the consumer demand for stylish, functional, and comfortable apparel &amp; accessories.</a:t>
            </a:r>
          </a:p>
        </p:txBody>
      </p:sp>
    </p:spTree>
    <p:extLst>
      <p:ext uri="{BB962C8B-B14F-4D97-AF65-F5344CB8AC3E}">
        <p14:creationId xmlns:p14="http://schemas.microsoft.com/office/powerpoint/2010/main" val="840781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EFDFEFC-0F9B-3542-A0A5-A69B27500FA8}"/>
              </a:ext>
            </a:extLst>
          </p:cNvPr>
          <p:cNvSpPr>
            <a:spLocks noGrp="1"/>
          </p:cNvSpPr>
          <p:nvPr>
            <p:ph type="subTitle" idx="1"/>
          </p:nvPr>
        </p:nvSpPr>
        <p:spPr>
          <a:xfrm>
            <a:off x="1524000" y="3075680"/>
            <a:ext cx="9144000" cy="1655762"/>
          </a:xfrm>
        </p:spPr>
        <p:txBody>
          <a:bodyPr>
            <a:normAutofit/>
          </a:bodyPr>
          <a:lstStyle/>
          <a:p>
            <a:r>
              <a:rPr lang="en-US" sz="4800" b="1" dirty="0">
                <a:solidFill>
                  <a:schemeClr val="bg1"/>
                </a:solidFill>
                <a:latin typeface="Montserrat" pitchFamily="2" charset="77"/>
                <a:cs typeface="Poppins" pitchFamily="2" charset="77"/>
              </a:rPr>
              <a:t>Who we are. </a:t>
            </a:r>
          </a:p>
        </p:txBody>
      </p:sp>
    </p:spTree>
    <p:extLst>
      <p:ext uri="{BB962C8B-B14F-4D97-AF65-F5344CB8AC3E}">
        <p14:creationId xmlns:p14="http://schemas.microsoft.com/office/powerpoint/2010/main" val="3645198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5" name="Google Shape;55;g122946ae33d_0_0"/>
          <p:cNvSpPr txBox="1"/>
          <p:nvPr/>
        </p:nvSpPr>
        <p:spPr>
          <a:xfrm>
            <a:off x="283012" y="897949"/>
            <a:ext cx="7339200" cy="892512"/>
          </a:xfrm>
          <a:prstGeom prst="rect">
            <a:avLst/>
          </a:prstGeom>
          <a:noFill/>
          <a:ln>
            <a:noFill/>
          </a:ln>
        </p:spPr>
        <p:txBody>
          <a:bodyPr spcFirstLastPara="1" wrap="square" lIns="121900" tIns="121900" rIns="121900" bIns="121900" anchor="t" anchorCtr="0">
            <a:spAutoFit/>
          </a:bodyPr>
          <a:lstStyle/>
          <a:p>
            <a:r>
              <a:rPr lang="en-US" sz="4200" b="1" i="0" dirty="0">
                <a:solidFill>
                  <a:srgbClr val="373F47"/>
                </a:solidFill>
                <a:effectLst/>
                <a:latin typeface="Poppins" pitchFamily="2" charset="77"/>
                <a:cs typeface="Poppins" pitchFamily="2" charset="77"/>
              </a:rPr>
              <a:t>Our Story. </a:t>
            </a:r>
            <a:endParaRPr lang="en-US" sz="4200" b="1" dirty="0">
              <a:latin typeface="Poppins" pitchFamily="2" charset="77"/>
              <a:cs typeface="Poppins" pitchFamily="2" charset="77"/>
            </a:endParaRPr>
          </a:p>
        </p:txBody>
      </p:sp>
      <p:sp>
        <p:nvSpPr>
          <p:cNvPr id="3" name="Rectangle 2">
            <a:extLst>
              <a:ext uri="{FF2B5EF4-FFF2-40B4-BE49-F238E27FC236}">
                <a16:creationId xmlns:a16="http://schemas.microsoft.com/office/drawing/2014/main" id="{491215A6-D177-2149-96F4-D3AED6C0CDA0}"/>
              </a:ext>
            </a:extLst>
          </p:cNvPr>
          <p:cNvSpPr/>
          <p:nvPr/>
        </p:nvSpPr>
        <p:spPr>
          <a:xfrm>
            <a:off x="0" y="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7" name="Picture 2" descr="Palm Golf Co. Logo">
            <a:extLst>
              <a:ext uri="{FF2B5EF4-FFF2-40B4-BE49-F238E27FC236}">
                <a16:creationId xmlns:a16="http://schemas.microsoft.com/office/drawing/2014/main" id="{87C323CD-7A61-AC40-9760-B1578CE961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9B50F57F-AA3B-D64E-89CC-1287C95D7F46}"/>
              </a:ext>
            </a:extLst>
          </p:cNvPr>
          <p:cNvSpPr txBox="1"/>
          <p:nvPr/>
        </p:nvSpPr>
        <p:spPr>
          <a:xfrm>
            <a:off x="283012" y="1758901"/>
            <a:ext cx="5812988" cy="4524315"/>
          </a:xfrm>
          <a:prstGeom prst="rect">
            <a:avLst/>
          </a:prstGeom>
          <a:noFill/>
        </p:spPr>
        <p:txBody>
          <a:bodyPr wrap="square">
            <a:spAutoFit/>
          </a:bodyPr>
          <a:lstStyle/>
          <a:p>
            <a:r>
              <a:rPr lang="en-US" sz="1600" b="0" i="0" u="none" strike="noStrike" cap="none" dirty="0">
                <a:solidFill>
                  <a:srgbClr val="282828"/>
                </a:solidFill>
                <a:latin typeface="Poppins" pitchFamily="2" charset="77"/>
                <a:ea typeface="+mn-ea"/>
                <a:cs typeface="Poppins" pitchFamily="2" charset="77"/>
                <a:sym typeface="Arial"/>
              </a:rPr>
              <a:t>Palm Golf began with a few buddies and a standing weekly tee time at a local </a:t>
            </a:r>
            <a:r>
              <a:rPr lang="en-US" sz="1600" b="0" i="0" u="none" strike="noStrike" cap="none" dirty="0" err="1">
                <a:solidFill>
                  <a:srgbClr val="282828"/>
                </a:solidFill>
                <a:latin typeface="Poppins" pitchFamily="2" charset="77"/>
                <a:ea typeface="+mn-ea"/>
                <a:cs typeface="Poppins" pitchFamily="2" charset="77"/>
                <a:sym typeface="Arial"/>
              </a:rPr>
              <a:t>muni</a:t>
            </a:r>
            <a:r>
              <a:rPr lang="en-US" sz="1600" b="0" i="0" u="none" strike="noStrike" cap="none" dirty="0">
                <a:solidFill>
                  <a:srgbClr val="282828"/>
                </a:solidFill>
                <a:latin typeface="Poppins" pitchFamily="2" charset="77"/>
                <a:ea typeface="+mn-ea"/>
                <a:cs typeface="Poppins" pitchFamily="2" charset="77"/>
                <a:sym typeface="Arial"/>
              </a:rPr>
              <a:t> course in Orange County, CA. In between numerous three-putts and duffed chips, we talked about ideas and visions on how to improve the game of golf. </a:t>
            </a:r>
          </a:p>
          <a:p>
            <a:endParaRPr lang="en-US" sz="800" b="0" i="0" u="none" strike="noStrike" cap="none" dirty="0">
              <a:solidFill>
                <a:srgbClr val="282828"/>
              </a:solidFill>
              <a:latin typeface="Poppins" pitchFamily="2" charset="77"/>
              <a:ea typeface="+mn-ea"/>
              <a:cs typeface="Poppins" pitchFamily="2" charset="77"/>
              <a:sym typeface="Arial"/>
            </a:endParaRPr>
          </a:p>
          <a:p>
            <a:r>
              <a:rPr lang="en-US" sz="1600" b="0" i="0" u="none" strike="noStrike" cap="none" dirty="0">
                <a:solidFill>
                  <a:srgbClr val="282828"/>
                </a:solidFill>
                <a:latin typeface="Poppins" pitchFamily="2" charset="77"/>
                <a:ea typeface="+mn-ea"/>
                <a:cs typeface="Poppins" pitchFamily="2" charset="77"/>
                <a:sym typeface="Arial"/>
              </a:rPr>
              <a:t>Since no one should trust us to teach the game of golf, we decided to find something we could improve- </a:t>
            </a:r>
          </a:p>
          <a:p>
            <a:r>
              <a:rPr lang="en-US" sz="1600" b="1" i="0" u="none" strike="noStrike" cap="none" dirty="0">
                <a:solidFill>
                  <a:srgbClr val="282828"/>
                </a:solidFill>
                <a:latin typeface="Poppins" pitchFamily="2" charset="77"/>
                <a:ea typeface="+mn-ea"/>
                <a:cs typeface="Poppins" pitchFamily="2" charset="77"/>
                <a:sym typeface="Arial"/>
              </a:rPr>
              <a:t>the style</a:t>
            </a:r>
            <a:r>
              <a:rPr lang="en-US" sz="1600" b="0" i="0" u="none" strike="noStrike" cap="none" dirty="0">
                <a:solidFill>
                  <a:srgbClr val="282828"/>
                </a:solidFill>
                <a:latin typeface="Poppins" pitchFamily="2" charset="77"/>
                <a:ea typeface="+mn-ea"/>
                <a:cs typeface="Poppins" pitchFamily="2" charset="77"/>
                <a:sym typeface="Arial"/>
              </a:rPr>
              <a:t>. </a:t>
            </a:r>
          </a:p>
          <a:p>
            <a:endParaRPr lang="en-US" sz="1600" b="0" i="0" u="none" strike="noStrike" cap="none" dirty="0">
              <a:solidFill>
                <a:srgbClr val="282828"/>
              </a:solidFill>
              <a:latin typeface="Poppins" pitchFamily="2" charset="77"/>
              <a:ea typeface="+mn-ea"/>
              <a:cs typeface="Poppins" pitchFamily="2" charset="77"/>
              <a:sym typeface="Arial"/>
            </a:endParaRPr>
          </a:p>
          <a:p>
            <a:r>
              <a:rPr lang="en-US" sz="1600" b="0" i="0" u="none" strike="noStrike" cap="none" dirty="0">
                <a:solidFill>
                  <a:srgbClr val="282828"/>
                </a:solidFill>
                <a:latin typeface="Poppins" pitchFamily="2" charset="77"/>
                <a:ea typeface="+mn-ea"/>
                <a:cs typeface="Poppins" pitchFamily="2" charset="77"/>
                <a:sym typeface="Arial"/>
              </a:rPr>
              <a:t>We started with the often neglected, but vastly used product, </a:t>
            </a:r>
            <a:r>
              <a:rPr lang="en-US" sz="1600" b="1" i="0" u="none" strike="noStrike" cap="none" dirty="0">
                <a:solidFill>
                  <a:srgbClr val="282828"/>
                </a:solidFill>
                <a:latin typeface="Poppins" pitchFamily="2" charset="77"/>
                <a:ea typeface="+mn-ea"/>
                <a:cs typeface="Poppins" pitchFamily="2" charset="77"/>
                <a:sym typeface="Arial"/>
              </a:rPr>
              <a:t>the glove</a:t>
            </a:r>
            <a:r>
              <a:rPr lang="en-US" sz="1600" b="0" i="0" u="none" strike="noStrike" cap="none" dirty="0">
                <a:solidFill>
                  <a:srgbClr val="282828"/>
                </a:solidFill>
                <a:latin typeface="Poppins" pitchFamily="2" charset="77"/>
                <a:ea typeface="+mn-ea"/>
                <a:cs typeface="Poppins" pitchFamily="2" charset="77"/>
                <a:sym typeface="Arial"/>
              </a:rPr>
              <a:t>. </a:t>
            </a:r>
          </a:p>
          <a:p>
            <a:endParaRPr lang="en-US" sz="800" b="0" i="0" u="none" strike="noStrike" cap="none" dirty="0">
              <a:solidFill>
                <a:srgbClr val="282828"/>
              </a:solidFill>
              <a:latin typeface="Poppins" pitchFamily="2" charset="77"/>
              <a:ea typeface="+mn-ea"/>
              <a:cs typeface="Poppins" pitchFamily="2" charset="77"/>
              <a:sym typeface="Arial"/>
            </a:endParaRPr>
          </a:p>
          <a:p>
            <a:r>
              <a:rPr lang="en-US" sz="1600" b="0" i="0" u="none" strike="noStrike" cap="none" dirty="0">
                <a:solidFill>
                  <a:srgbClr val="282828"/>
                </a:solidFill>
                <a:latin typeface="Poppins" pitchFamily="2" charset="77"/>
                <a:ea typeface="+mn-ea"/>
                <a:cs typeface="Poppins" pitchFamily="2" charset="77"/>
                <a:sym typeface="Arial"/>
              </a:rPr>
              <a:t>We have grown our products to provide apparel and </a:t>
            </a:r>
            <a:r>
              <a:rPr lang="en-US" sz="1600" dirty="0">
                <a:solidFill>
                  <a:srgbClr val="282828"/>
                </a:solidFill>
                <a:latin typeface="Poppins" pitchFamily="2" charset="77"/>
                <a:cs typeface="Poppins" pitchFamily="2" charset="77"/>
                <a:sym typeface="Arial"/>
              </a:rPr>
              <a:t>accessories for both the clean-cut, tucked-in country clubber and the high-top, jogger-wearing, </a:t>
            </a:r>
            <a:r>
              <a:rPr lang="en-US" sz="1600" dirty="0" err="1">
                <a:solidFill>
                  <a:srgbClr val="282828"/>
                </a:solidFill>
                <a:latin typeface="Poppins" pitchFamily="2" charset="77"/>
                <a:cs typeface="Poppins" pitchFamily="2" charset="77"/>
                <a:sym typeface="Arial"/>
              </a:rPr>
              <a:t>muni</a:t>
            </a:r>
            <a:r>
              <a:rPr lang="en-US" sz="1600" dirty="0">
                <a:solidFill>
                  <a:srgbClr val="282828"/>
                </a:solidFill>
                <a:latin typeface="Poppins" pitchFamily="2" charset="77"/>
                <a:cs typeface="Poppins" pitchFamily="2" charset="77"/>
                <a:sym typeface="Arial"/>
              </a:rPr>
              <a:t>-hacker. Whatever your style or skill, Palm will bring style to </a:t>
            </a:r>
            <a:r>
              <a:rPr lang="en-US" sz="1600" b="0" i="0" u="none" strike="noStrike" cap="none" dirty="0">
                <a:solidFill>
                  <a:srgbClr val="282828"/>
                </a:solidFill>
                <a:latin typeface="Poppins" pitchFamily="2" charset="77"/>
                <a:ea typeface="+mn-ea"/>
                <a:cs typeface="Poppins" pitchFamily="2" charset="77"/>
                <a:sym typeface="Arial"/>
              </a:rPr>
              <a:t>your game. But most importantly</a:t>
            </a:r>
            <a:r>
              <a:rPr lang="en-US" sz="1600" dirty="0">
                <a:solidFill>
                  <a:srgbClr val="282828"/>
                </a:solidFill>
                <a:latin typeface="Poppins" pitchFamily="2" charset="77"/>
                <a:cs typeface="Poppins" pitchFamily="2" charset="77"/>
                <a:sym typeface="Arial"/>
              </a:rPr>
              <a:t> to us, w</a:t>
            </a:r>
            <a:r>
              <a:rPr lang="en-US" sz="1600" b="0" i="0" u="none" strike="noStrike" cap="none" dirty="0">
                <a:solidFill>
                  <a:srgbClr val="282828"/>
                </a:solidFill>
                <a:latin typeface="Poppins" pitchFamily="2" charset="77"/>
                <a:ea typeface="+mn-ea"/>
                <a:cs typeface="Poppins" pitchFamily="2" charset="77"/>
                <a:sym typeface="Arial"/>
              </a:rPr>
              <a:t>hether you birdie or double bogey, always </a:t>
            </a:r>
            <a:r>
              <a:rPr lang="en-US" sz="1600" b="1" i="0" u="none" strike="noStrike" cap="none" dirty="0">
                <a:solidFill>
                  <a:srgbClr val="282828"/>
                </a:solidFill>
                <a:latin typeface="Poppins" pitchFamily="2" charset="77"/>
                <a:ea typeface="+mn-ea"/>
                <a:cs typeface="Poppins" pitchFamily="2" charset="77"/>
                <a:sym typeface="Arial"/>
              </a:rPr>
              <a:t>#</a:t>
            </a:r>
            <a:r>
              <a:rPr lang="en-US" sz="1600" b="1" i="0" u="none" strike="noStrike" cap="none" dirty="0" err="1">
                <a:solidFill>
                  <a:srgbClr val="282828"/>
                </a:solidFill>
                <a:latin typeface="Poppins" pitchFamily="2" charset="77"/>
                <a:ea typeface="+mn-ea"/>
                <a:cs typeface="Poppins" pitchFamily="2" charset="77"/>
                <a:sym typeface="Arial"/>
              </a:rPr>
              <a:t>swingandsmile</a:t>
            </a:r>
            <a:r>
              <a:rPr lang="en-US" sz="1600" b="1" i="0" u="none" strike="noStrike" cap="none" dirty="0">
                <a:solidFill>
                  <a:srgbClr val="282828"/>
                </a:solidFill>
                <a:latin typeface="Poppins" pitchFamily="2" charset="77"/>
                <a:ea typeface="+mn-ea"/>
                <a:cs typeface="Poppins" pitchFamily="2" charset="77"/>
                <a:sym typeface="Arial"/>
              </a:rPr>
              <a:t>.</a:t>
            </a:r>
          </a:p>
        </p:txBody>
      </p:sp>
      <p:sp>
        <p:nvSpPr>
          <p:cNvPr id="10" name="Google Shape;55;g122946ae33d_0_0">
            <a:extLst>
              <a:ext uri="{FF2B5EF4-FFF2-40B4-BE49-F238E27FC236}">
                <a16:creationId xmlns:a16="http://schemas.microsoft.com/office/drawing/2014/main" id="{CB24C31E-BDC5-EE4F-853B-EDF3280CCC24}"/>
              </a:ext>
            </a:extLst>
          </p:cNvPr>
          <p:cNvSpPr txBox="1"/>
          <p:nvPr/>
        </p:nvSpPr>
        <p:spPr>
          <a:xfrm>
            <a:off x="6554416" y="1698128"/>
            <a:ext cx="4927343" cy="1938952"/>
          </a:xfrm>
          <a:prstGeom prst="rect">
            <a:avLst/>
          </a:prstGeom>
          <a:noFill/>
          <a:ln>
            <a:noFill/>
          </a:ln>
        </p:spPr>
        <p:txBody>
          <a:bodyPr spcFirstLastPara="1" wrap="square" lIns="121900" tIns="121900" rIns="121900" bIns="121900" anchor="t" anchorCtr="0">
            <a:spAutoFit/>
          </a:bodyPr>
          <a:lstStyle/>
          <a:p>
            <a:r>
              <a:rPr lang="en-US" sz="4200" b="1" dirty="0">
                <a:solidFill>
                  <a:srgbClr val="373F47"/>
                </a:solidFill>
                <a:latin typeface="Poppins" pitchFamily="2" charset="77"/>
                <a:cs typeface="Poppins" pitchFamily="2" charset="77"/>
              </a:rPr>
              <a:t>Our Mission.</a:t>
            </a:r>
          </a:p>
          <a:p>
            <a:r>
              <a:rPr lang="en-US" sz="2000" dirty="0">
                <a:solidFill>
                  <a:srgbClr val="373F47"/>
                </a:solidFill>
                <a:latin typeface="Poppins" pitchFamily="2" charset="77"/>
                <a:cs typeface="Poppins" pitchFamily="2" charset="77"/>
              </a:rPr>
              <a:t>T</a:t>
            </a:r>
            <a:r>
              <a:rPr lang="en-US" sz="2000" b="0" i="0" dirty="0">
                <a:solidFill>
                  <a:srgbClr val="373F47"/>
                </a:solidFill>
                <a:effectLst/>
                <a:latin typeface="Poppins" pitchFamily="2" charset="77"/>
                <a:cs typeface="Poppins" pitchFamily="2" charset="77"/>
              </a:rPr>
              <a:t>o </a:t>
            </a:r>
            <a:r>
              <a:rPr lang="en-US" sz="2000" b="0" i="0" dirty="0">
                <a:solidFill>
                  <a:srgbClr val="101539"/>
                </a:solidFill>
                <a:effectLst/>
                <a:latin typeface="Poppins" pitchFamily="2" charset="77"/>
                <a:cs typeface="Poppins" pitchFamily="2" charset="77"/>
                <a:sym typeface="Century Gothic"/>
              </a:rPr>
              <a:t>b</a:t>
            </a:r>
            <a:r>
              <a:rPr lang="en-US" sz="2000" dirty="0">
                <a:solidFill>
                  <a:srgbClr val="101539"/>
                </a:solidFill>
                <a:latin typeface="Poppins" pitchFamily="2" charset="77"/>
                <a:ea typeface="Century Gothic"/>
                <a:cs typeface="Poppins" pitchFamily="2" charset="77"/>
                <a:sym typeface="Century Gothic"/>
              </a:rPr>
              <a:t>ring a smile to your game – on and off the course. </a:t>
            </a:r>
          </a:p>
          <a:p>
            <a:r>
              <a:rPr lang="en-US" sz="2800" b="0" i="0" dirty="0">
                <a:solidFill>
                  <a:srgbClr val="373F47"/>
                </a:solidFill>
                <a:effectLst/>
                <a:latin typeface="Poppins" pitchFamily="2" charset="77"/>
                <a:cs typeface="Poppins" pitchFamily="2" charset="77"/>
              </a:rPr>
              <a:t> </a:t>
            </a:r>
            <a:endParaRPr lang="en-US" sz="2800" dirty="0">
              <a:latin typeface="Poppins" pitchFamily="2" charset="77"/>
              <a:cs typeface="Poppins" pitchFamily="2" charset="77"/>
            </a:endParaRPr>
          </a:p>
        </p:txBody>
      </p:sp>
      <p:sp>
        <p:nvSpPr>
          <p:cNvPr id="11" name="TextBox 10">
            <a:extLst>
              <a:ext uri="{FF2B5EF4-FFF2-40B4-BE49-F238E27FC236}">
                <a16:creationId xmlns:a16="http://schemas.microsoft.com/office/drawing/2014/main" id="{7674A27C-83A5-CA43-B772-5D14C91E26B2}"/>
              </a:ext>
            </a:extLst>
          </p:cNvPr>
          <p:cNvSpPr txBox="1"/>
          <p:nvPr/>
        </p:nvSpPr>
        <p:spPr>
          <a:xfrm>
            <a:off x="6554416" y="3607105"/>
            <a:ext cx="6094562" cy="2123658"/>
          </a:xfrm>
          <a:prstGeom prst="rect">
            <a:avLst/>
          </a:prstGeom>
          <a:noFill/>
        </p:spPr>
        <p:txBody>
          <a:bodyPr wrap="square">
            <a:spAutoFit/>
          </a:bodyPr>
          <a:lstStyle/>
          <a:p>
            <a:pPr marL="0" lvl="0" indent="0" algn="l" rtl="0">
              <a:spcBef>
                <a:spcPts val="0"/>
              </a:spcBef>
              <a:spcAft>
                <a:spcPts val="0"/>
              </a:spcAft>
              <a:buNone/>
            </a:pPr>
            <a:r>
              <a:rPr lang="en-US" sz="4200" b="1" dirty="0">
                <a:solidFill>
                  <a:srgbClr val="373F47"/>
                </a:solidFill>
                <a:latin typeface="Poppins" pitchFamily="2" charset="77"/>
                <a:cs typeface="Poppins" pitchFamily="2" charset="77"/>
                <a:sym typeface="Century Gothic"/>
              </a:rPr>
              <a:t>Our Values.</a:t>
            </a:r>
          </a:p>
          <a:p>
            <a:pPr marL="285750" lvl="0" indent="-285750" algn="l" rtl="0">
              <a:spcBef>
                <a:spcPts val="0"/>
              </a:spcBef>
              <a:spcAft>
                <a:spcPts val="0"/>
              </a:spcAft>
              <a:buFont typeface="Arial" panose="020B0604020202020204" pitchFamily="34" charset="0"/>
              <a:buChar char="•"/>
            </a:pPr>
            <a:r>
              <a:rPr lang="en-US" sz="1800" dirty="0">
                <a:solidFill>
                  <a:srgbClr val="101539"/>
                </a:solidFill>
                <a:latin typeface="Poppins" pitchFamily="2" charset="77"/>
                <a:ea typeface="Century Gothic"/>
                <a:cs typeface="Poppins" pitchFamily="2" charset="77"/>
                <a:sym typeface="Century Gothic"/>
              </a:rPr>
              <a:t>We have fun on and off the course. </a:t>
            </a:r>
          </a:p>
          <a:p>
            <a:pPr marL="285750" lvl="0" indent="-285750" algn="l" rtl="0">
              <a:spcBef>
                <a:spcPts val="0"/>
              </a:spcBef>
              <a:spcAft>
                <a:spcPts val="0"/>
              </a:spcAft>
              <a:buFont typeface="Arial" panose="020B0604020202020204" pitchFamily="34" charset="0"/>
              <a:buChar char="•"/>
            </a:pPr>
            <a:r>
              <a:rPr lang="en-US" sz="1800" dirty="0">
                <a:solidFill>
                  <a:srgbClr val="101539"/>
                </a:solidFill>
                <a:latin typeface="Poppins" pitchFamily="2" charset="77"/>
                <a:ea typeface="Century Gothic"/>
                <a:cs typeface="Poppins" pitchFamily="2" charset="77"/>
                <a:sym typeface="Century Gothic"/>
              </a:rPr>
              <a:t>We embrace all players.</a:t>
            </a:r>
          </a:p>
          <a:p>
            <a:pPr marL="285750" lvl="0" indent="-285750" algn="l" rtl="0">
              <a:spcBef>
                <a:spcPts val="0"/>
              </a:spcBef>
              <a:spcAft>
                <a:spcPts val="0"/>
              </a:spcAft>
              <a:buFont typeface="Arial" panose="020B0604020202020204" pitchFamily="34" charset="0"/>
              <a:buChar char="•"/>
            </a:pPr>
            <a:r>
              <a:rPr lang="en-US" sz="1800" dirty="0">
                <a:solidFill>
                  <a:srgbClr val="101539"/>
                </a:solidFill>
                <a:latin typeface="Poppins" pitchFamily="2" charset="77"/>
                <a:ea typeface="Century Gothic"/>
                <a:cs typeface="Poppins" pitchFamily="2" charset="77"/>
                <a:sym typeface="Century Gothic"/>
              </a:rPr>
              <a:t>We respect the game. </a:t>
            </a:r>
          </a:p>
          <a:p>
            <a:pPr marL="285750" lvl="0" indent="-285750" algn="l" rtl="0">
              <a:spcBef>
                <a:spcPts val="0"/>
              </a:spcBef>
              <a:spcAft>
                <a:spcPts val="0"/>
              </a:spcAft>
              <a:buFont typeface="Arial" panose="020B0604020202020204" pitchFamily="34" charset="0"/>
              <a:buChar char="•"/>
            </a:pPr>
            <a:r>
              <a:rPr lang="en-US" sz="1800" dirty="0">
                <a:solidFill>
                  <a:srgbClr val="101539"/>
                </a:solidFill>
                <a:latin typeface="Poppins" pitchFamily="2" charset="77"/>
                <a:ea typeface="Century Gothic"/>
                <a:cs typeface="Poppins" pitchFamily="2" charset="77"/>
                <a:sym typeface="Century Gothic"/>
              </a:rPr>
              <a:t>We are authentic and build quality products. </a:t>
            </a:r>
          </a:p>
          <a:p>
            <a:pPr marL="285750" lvl="0" indent="-285750" algn="l" rtl="0">
              <a:spcBef>
                <a:spcPts val="0"/>
              </a:spcBef>
              <a:spcAft>
                <a:spcPts val="0"/>
              </a:spcAft>
              <a:buFont typeface="Arial" panose="020B0604020202020204" pitchFamily="34" charset="0"/>
              <a:buChar char="•"/>
            </a:pPr>
            <a:r>
              <a:rPr lang="en-US" sz="1800" dirty="0">
                <a:solidFill>
                  <a:srgbClr val="101539"/>
                </a:solidFill>
                <a:latin typeface="Poppins" pitchFamily="2" charset="77"/>
                <a:ea typeface="Century Gothic"/>
                <a:cs typeface="Poppins" pitchFamily="2" charset="77"/>
                <a:sym typeface="Century Gothic"/>
              </a:rPr>
              <a:t>Like the sport, we are ever-evolving. </a:t>
            </a:r>
          </a:p>
        </p:txBody>
      </p:sp>
      <p:cxnSp>
        <p:nvCxnSpPr>
          <p:cNvPr id="12" name="Straight Connector 11">
            <a:extLst>
              <a:ext uri="{FF2B5EF4-FFF2-40B4-BE49-F238E27FC236}">
                <a16:creationId xmlns:a16="http://schemas.microsoft.com/office/drawing/2014/main" id="{87CD8E0D-A7F5-414F-A93C-716012C72AAC}"/>
              </a:ext>
            </a:extLst>
          </p:cNvPr>
          <p:cNvCxnSpPr/>
          <p:nvPr/>
        </p:nvCxnSpPr>
        <p:spPr>
          <a:xfrm>
            <a:off x="6288656" y="1942336"/>
            <a:ext cx="0" cy="3696094"/>
          </a:xfrm>
          <a:prstGeom prst="line">
            <a:avLst/>
          </a:prstGeom>
          <a:ln>
            <a:solidFill>
              <a:srgbClr val="282828"/>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09278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2" name="Google Shape;62;g11b5860b61b_0_64"/>
          <p:cNvSpPr txBox="1"/>
          <p:nvPr/>
        </p:nvSpPr>
        <p:spPr>
          <a:xfrm>
            <a:off x="280271" y="546705"/>
            <a:ext cx="10889174" cy="779711"/>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4200" b="1" kern="0" dirty="0">
                <a:solidFill>
                  <a:srgbClr val="282828"/>
                </a:solidFill>
                <a:latin typeface="Poppins"/>
                <a:ea typeface="Century Gothic"/>
                <a:cs typeface="Poppins"/>
                <a:sym typeface="Century Gothic"/>
              </a:rPr>
              <a:t>Our Team.</a:t>
            </a:r>
            <a:endParaRPr lang="en" sz="4200" b="1" kern="0" dirty="0">
              <a:solidFill>
                <a:srgbClr val="282828"/>
              </a:solidFill>
              <a:latin typeface="Poppins"/>
              <a:ea typeface="Century Gothic"/>
              <a:cs typeface="Poppins"/>
            </a:endParaRPr>
          </a:p>
        </p:txBody>
      </p:sp>
      <p:sp>
        <p:nvSpPr>
          <p:cNvPr id="17" name="Rectangle 16">
            <a:extLst>
              <a:ext uri="{FF2B5EF4-FFF2-40B4-BE49-F238E27FC236}">
                <a16:creationId xmlns:a16="http://schemas.microsoft.com/office/drawing/2014/main" id="{292FF896-6919-F945-A068-01E14A9258C5}"/>
              </a:ext>
            </a:extLst>
          </p:cNvPr>
          <p:cNvSpPr/>
          <p:nvPr/>
        </p:nvSpPr>
        <p:spPr>
          <a:xfrm>
            <a:off x="0" y="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44BA01E6-2549-984C-891A-2FF8DE67E9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0BC0994-9898-746B-6C87-2ABD8B7067E2}"/>
              </a:ext>
            </a:extLst>
          </p:cNvPr>
          <p:cNvSpPr txBox="1"/>
          <p:nvPr/>
        </p:nvSpPr>
        <p:spPr>
          <a:xfrm>
            <a:off x="141421" y="2923523"/>
            <a:ext cx="2712474" cy="461665"/>
          </a:xfrm>
          <a:prstGeom prst="rect">
            <a:avLst/>
          </a:prstGeom>
          <a:noFill/>
        </p:spPr>
        <p:txBody>
          <a:bodyPr wrap="square" rtlCol="0">
            <a:spAutoFit/>
          </a:bodyPr>
          <a:lstStyle/>
          <a:p>
            <a:pPr algn="ctr" fontAlgn="base"/>
            <a:r>
              <a:rPr lang="en-US" sz="1200" b="1" i="0" dirty="0">
                <a:solidFill>
                  <a:srgbClr val="000000"/>
                </a:solidFill>
                <a:effectLst/>
                <a:latin typeface="Poppins" pitchFamily="2" charset="77"/>
                <a:cs typeface="Poppins" pitchFamily="2" charset="77"/>
              </a:rPr>
              <a:t>Joseph </a:t>
            </a:r>
            <a:r>
              <a:rPr lang="en-US" sz="1200" b="1" i="0" dirty="0" err="1">
                <a:solidFill>
                  <a:srgbClr val="000000"/>
                </a:solidFill>
                <a:effectLst/>
                <a:latin typeface="Poppins" pitchFamily="2" charset="77"/>
                <a:cs typeface="Poppins" pitchFamily="2" charset="77"/>
              </a:rPr>
              <a:t>Ciafardoni</a:t>
            </a:r>
            <a:endParaRPr lang="en-US" sz="1200" b="1" dirty="0">
              <a:solidFill>
                <a:srgbClr val="000000"/>
              </a:solidFill>
              <a:latin typeface="Poppins" pitchFamily="2" charset="77"/>
              <a:cs typeface="Poppins" pitchFamily="2" charset="77"/>
            </a:endParaRPr>
          </a:p>
          <a:p>
            <a:pPr algn="ctr" fontAlgn="base"/>
            <a:r>
              <a:rPr lang="en-US" sz="1200" i="0" dirty="0">
                <a:solidFill>
                  <a:srgbClr val="000000"/>
                </a:solidFill>
                <a:effectLst/>
                <a:latin typeface="Poppins" pitchFamily="2" charset="77"/>
                <a:cs typeface="Poppins" pitchFamily="2" charset="77"/>
              </a:rPr>
              <a:t>COO</a:t>
            </a:r>
            <a:r>
              <a:rPr lang="en-US" sz="1200" dirty="0">
                <a:solidFill>
                  <a:srgbClr val="000000"/>
                </a:solidFill>
                <a:latin typeface="Poppins" pitchFamily="2" charset="77"/>
                <a:cs typeface="Poppins" pitchFamily="2" charset="77"/>
              </a:rPr>
              <a:t>&amp;</a:t>
            </a:r>
            <a:r>
              <a:rPr lang="en-US" sz="1200" i="0" dirty="0">
                <a:solidFill>
                  <a:srgbClr val="000000"/>
                </a:solidFill>
                <a:effectLst/>
                <a:latin typeface="Poppins" pitchFamily="2" charset="77"/>
                <a:cs typeface="Poppins" pitchFamily="2" charset="77"/>
              </a:rPr>
              <a:t>CFO</a:t>
            </a:r>
            <a:endParaRPr lang="en-US" sz="1200" i="0" dirty="0">
              <a:solidFill>
                <a:srgbClr val="242424"/>
              </a:solidFill>
              <a:effectLst/>
              <a:latin typeface="Poppins" pitchFamily="2" charset="77"/>
              <a:cs typeface="Poppins" pitchFamily="2" charset="77"/>
            </a:endParaRPr>
          </a:p>
        </p:txBody>
      </p:sp>
      <p:sp>
        <p:nvSpPr>
          <p:cNvPr id="7" name="TextBox 6">
            <a:extLst>
              <a:ext uri="{FF2B5EF4-FFF2-40B4-BE49-F238E27FC236}">
                <a16:creationId xmlns:a16="http://schemas.microsoft.com/office/drawing/2014/main" id="{ACDB6706-35D0-0844-9E14-703B8CDF993C}"/>
              </a:ext>
            </a:extLst>
          </p:cNvPr>
          <p:cNvSpPr txBox="1"/>
          <p:nvPr/>
        </p:nvSpPr>
        <p:spPr>
          <a:xfrm>
            <a:off x="2885954" y="2923523"/>
            <a:ext cx="3028063" cy="461665"/>
          </a:xfrm>
          <a:prstGeom prst="rect">
            <a:avLst/>
          </a:prstGeom>
          <a:noFill/>
        </p:spPr>
        <p:txBody>
          <a:bodyPr wrap="square" rtlCol="0">
            <a:spAutoFit/>
          </a:bodyPr>
          <a:lstStyle/>
          <a:p>
            <a:pPr marL="0" marR="0" algn="ctr">
              <a:spcBef>
                <a:spcPts val="0"/>
              </a:spcBef>
              <a:spcAft>
                <a:spcPts val="0"/>
              </a:spcAft>
            </a:pPr>
            <a:r>
              <a:rPr lang="en-US" sz="1200" b="1" kern="0" dirty="0">
                <a:effectLst/>
                <a:latin typeface="Poppins" pitchFamily="2" charset="77"/>
                <a:ea typeface="Calibri" panose="020F0502020204030204" pitchFamily="34" charset="0"/>
                <a:cs typeface="Poppins" pitchFamily="2" charset="77"/>
              </a:rPr>
              <a:t>Justin Junior</a:t>
            </a:r>
            <a:endParaRPr lang="en-US" sz="1200" b="1" kern="0" dirty="0">
              <a:latin typeface="Poppins" pitchFamily="2" charset="77"/>
              <a:ea typeface="Calibri" panose="020F0502020204030204" pitchFamily="34" charset="0"/>
              <a:cs typeface="Poppins" pitchFamily="2" charset="77"/>
            </a:endParaRPr>
          </a:p>
          <a:p>
            <a:pPr marL="0" marR="0" algn="ctr">
              <a:spcBef>
                <a:spcPts val="0"/>
              </a:spcBef>
              <a:spcAft>
                <a:spcPts val="0"/>
              </a:spcAft>
            </a:pPr>
            <a:r>
              <a:rPr lang="en-US" sz="1200" kern="0" dirty="0">
                <a:effectLst/>
                <a:latin typeface="Poppins" pitchFamily="2" charset="77"/>
                <a:ea typeface="Calibri" panose="020F0502020204030204" pitchFamily="34" charset="0"/>
                <a:cs typeface="Poppins" pitchFamily="2" charset="77"/>
              </a:rPr>
              <a:t>Chief Marketing Officer</a:t>
            </a:r>
            <a:endParaRPr lang="en-US" sz="1050" kern="0" dirty="0">
              <a:effectLst/>
              <a:latin typeface="Poppins" pitchFamily="2" charset="77"/>
              <a:ea typeface="Calibri" panose="020F0502020204030204" pitchFamily="34" charset="0"/>
              <a:cs typeface="Poppins" pitchFamily="2" charset="77"/>
            </a:endParaRPr>
          </a:p>
        </p:txBody>
      </p:sp>
      <p:sp>
        <p:nvSpPr>
          <p:cNvPr id="10" name="TextBox 9">
            <a:extLst>
              <a:ext uri="{FF2B5EF4-FFF2-40B4-BE49-F238E27FC236}">
                <a16:creationId xmlns:a16="http://schemas.microsoft.com/office/drawing/2014/main" id="{8E8059A6-82AA-CC42-9981-2D8712E12B97}"/>
              </a:ext>
            </a:extLst>
          </p:cNvPr>
          <p:cNvSpPr txBox="1"/>
          <p:nvPr/>
        </p:nvSpPr>
        <p:spPr>
          <a:xfrm>
            <a:off x="5949667" y="2923523"/>
            <a:ext cx="2894324" cy="461665"/>
          </a:xfrm>
          <a:prstGeom prst="rect">
            <a:avLst/>
          </a:prstGeom>
          <a:noFill/>
        </p:spPr>
        <p:txBody>
          <a:bodyPr wrap="square">
            <a:spAutoFit/>
          </a:bodyPr>
          <a:lstStyle/>
          <a:p>
            <a:pPr algn="ctr"/>
            <a:r>
              <a:rPr lang="en-US" sz="1200" b="1" kern="0">
                <a:latin typeface="Poppins" pitchFamily="2" charset="77"/>
                <a:cs typeface="Poppins" pitchFamily="2" charset="77"/>
              </a:rPr>
              <a:t>Dustin </a:t>
            </a:r>
            <a:r>
              <a:rPr lang="en-US" sz="1200" b="1" kern="0" err="1">
                <a:latin typeface="Poppins" pitchFamily="2" charset="77"/>
                <a:cs typeface="Poppins" pitchFamily="2" charset="77"/>
              </a:rPr>
              <a:t>Ghaul</a:t>
            </a:r>
            <a:endParaRPr lang="en-US" sz="1200" b="1" kern="0">
              <a:latin typeface="Poppins" pitchFamily="2" charset="77"/>
              <a:cs typeface="Poppins" pitchFamily="2" charset="77"/>
            </a:endParaRPr>
          </a:p>
          <a:p>
            <a:pPr algn="ctr"/>
            <a:r>
              <a:rPr lang="en-US" sz="1200" kern="0">
                <a:latin typeface="Poppins" pitchFamily="2" charset="77"/>
                <a:cs typeface="Poppins" pitchFamily="2" charset="77"/>
              </a:rPr>
              <a:t>Chief Production Officer</a:t>
            </a:r>
          </a:p>
        </p:txBody>
      </p:sp>
      <p:sp>
        <p:nvSpPr>
          <p:cNvPr id="12" name="TextBox 11">
            <a:extLst>
              <a:ext uri="{FF2B5EF4-FFF2-40B4-BE49-F238E27FC236}">
                <a16:creationId xmlns:a16="http://schemas.microsoft.com/office/drawing/2014/main" id="{2182E4DA-15EB-1A46-925D-87C0B3FFB062}"/>
              </a:ext>
            </a:extLst>
          </p:cNvPr>
          <p:cNvSpPr txBox="1"/>
          <p:nvPr/>
        </p:nvSpPr>
        <p:spPr>
          <a:xfrm>
            <a:off x="8939038" y="2923523"/>
            <a:ext cx="3166222" cy="461665"/>
          </a:xfrm>
          <a:prstGeom prst="rect">
            <a:avLst/>
          </a:prstGeom>
          <a:noFill/>
        </p:spPr>
        <p:txBody>
          <a:bodyPr wrap="square">
            <a:spAutoFit/>
          </a:bodyPr>
          <a:lstStyle/>
          <a:p>
            <a:pPr marR="0" algn="ctr">
              <a:spcBef>
                <a:spcPts val="0"/>
              </a:spcBef>
              <a:spcAft>
                <a:spcPts val="0"/>
              </a:spcAft>
            </a:pPr>
            <a:r>
              <a:rPr lang="en-US" sz="1200" b="1" kern="0">
                <a:latin typeface="Poppins" pitchFamily="2" charset="77"/>
                <a:cs typeface="Poppins" pitchFamily="2" charset="77"/>
              </a:rPr>
              <a:t>Craig </a:t>
            </a:r>
            <a:r>
              <a:rPr lang="en-US" sz="1200" b="1" kern="0" err="1">
                <a:latin typeface="Poppins" pitchFamily="2" charset="77"/>
                <a:cs typeface="Poppins" pitchFamily="2" charset="77"/>
              </a:rPr>
              <a:t>Ungaro</a:t>
            </a:r>
            <a:endParaRPr lang="en-US" sz="1200" b="1" kern="0">
              <a:latin typeface="Poppins" pitchFamily="2" charset="77"/>
              <a:cs typeface="Poppins" pitchFamily="2" charset="77"/>
            </a:endParaRPr>
          </a:p>
          <a:p>
            <a:pPr marL="0" marR="0" algn="ctr">
              <a:spcBef>
                <a:spcPts val="0"/>
              </a:spcBef>
              <a:spcAft>
                <a:spcPts val="0"/>
              </a:spcAft>
            </a:pPr>
            <a:r>
              <a:rPr lang="en-US" sz="1200" kern="0">
                <a:effectLst/>
                <a:latin typeface="Poppins" pitchFamily="2" charset="77"/>
                <a:ea typeface="Times New Roman" panose="02020603050405020304" pitchFamily="18" charset="0"/>
                <a:cs typeface="Poppins" pitchFamily="2" charset="77"/>
              </a:rPr>
              <a:t>Chief Strategy Officer</a:t>
            </a:r>
            <a:endParaRPr lang="en-US" sz="1200" kern="100">
              <a:effectLst/>
              <a:latin typeface="Poppins" pitchFamily="2" charset="77"/>
              <a:ea typeface="Calibri" panose="020F0502020204030204" pitchFamily="34" charset="0"/>
              <a:cs typeface="Poppins" pitchFamily="2" charset="77"/>
            </a:endParaRPr>
          </a:p>
        </p:txBody>
      </p:sp>
      <p:pic>
        <p:nvPicPr>
          <p:cNvPr id="1026" name="Picture 2" descr="Joe Ciafardoni">
            <a:extLst>
              <a:ext uri="{FF2B5EF4-FFF2-40B4-BE49-F238E27FC236}">
                <a16:creationId xmlns:a16="http://schemas.microsoft.com/office/drawing/2014/main" id="{23FCEE6E-91AD-384C-A36A-8C03799C91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804" y="1509582"/>
            <a:ext cx="1333709" cy="1333709"/>
          </a:xfrm>
          <a:prstGeom prst="ellipse">
            <a:avLst/>
          </a:prstGeom>
          <a:noFill/>
          <a:extLst>
            <a:ext uri="{909E8E84-426E-40DD-AFC4-6F175D3DCCD1}">
              <a14:hiddenFill xmlns:a14="http://schemas.microsoft.com/office/drawing/2010/main">
                <a:solidFill>
                  <a:srgbClr val="FFFFFF"/>
                </a:solidFill>
              </a14:hiddenFill>
            </a:ext>
          </a:extLst>
        </p:spPr>
      </p:pic>
      <p:pic>
        <p:nvPicPr>
          <p:cNvPr id="1028" name="Picture 4" descr="Justin Junior">
            <a:extLst>
              <a:ext uri="{FF2B5EF4-FFF2-40B4-BE49-F238E27FC236}">
                <a16:creationId xmlns:a16="http://schemas.microsoft.com/office/drawing/2014/main" id="{383BB325-86C3-174E-B37D-C81B91AD01D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33131" y="1509582"/>
            <a:ext cx="1333709" cy="1333709"/>
          </a:xfrm>
          <a:prstGeom prst="ellipse">
            <a:avLst/>
          </a:prstGeom>
          <a:noFill/>
          <a:extLst>
            <a:ext uri="{909E8E84-426E-40DD-AFC4-6F175D3DCCD1}">
              <a14:hiddenFill xmlns:a14="http://schemas.microsoft.com/office/drawing/2010/main">
                <a:solidFill>
                  <a:srgbClr val="FFFFFF"/>
                </a:solidFill>
              </a14:hiddenFill>
            </a:ext>
          </a:extLst>
        </p:spPr>
      </p:pic>
      <p:pic>
        <p:nvPicPr>
          <p:cNvPr id="1030" name="Picture 6" descr="Dustin Ghaul">
            <a:extLst>
              <a:ext uri="{FF2B5EF4-FFF2-40B4-BE49-F238E27FC236}">
                <a16:creationId xmlns:a16="http://schemas.microsoft.com/office/drawing/2014/main" id="{A355CED5-8186-9845-8D4E-2886A139EF4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29975" y="1509582"/>
            <a:ext cx="1333709" cy="1333709"/>
          </a:xfrm>
          <a:prstGeom prst="ellipse">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91B27239-1335-FA43-BA2C-13E15DEA3229}"/>
              </a:ext>
            </a:extLst>
          </p:cNvPr>
          <p:cNvPicPr>
            <a:picLocks noChangeAspect="1"/>
          </p:cNvPicPr>
          <p:nvPr/>
        </p:nvPicPr>
        <p:blipFill>
          <a:blip r:embed="rId7"/>
          <a:stretch>
            <a:fillRect/>
          </a:stretch>
        </p:blipFill>
        <p:spPr>
          <a:xfrm>
            <a:off x="9855295" y="1509582"/>
            <a:ext cx="1333709" cy="1306491"/>
          </a:xfrm>
          <a:prstGeom prst="ellipse">
            <a:avLst/>
          </a:prstGeom>
        </p:spPr>
      </p:pic>
      <p:sp>
        <p:nvSpPr>
          <p:cNvPr id="23" name="TextBox 22">
            <a:extLst>
              <a:ext uri="{FF2B5EF4-FFF2-40B4-BE49-F238E27FC236}">
                <a16:creationId xmlns:a16="http://schemas.microsoft.com/office/drawing/2014/main" id="{119F1260-2AE3-6D42-8CDD-CB97C4F8FCA8}"/>
              </a:ext>
            </a:extLst>
          </p:cNvPr>
          <p:cNvSpPr txBox="1"/>
          <p:nvPr/>
        </p:nvSpPr>
        <p:spPr>
          <a:xfrm>
            <a:off x="3320708" y="558617"/>
            <a:ext cx="8478002" cy="646331"/>
          </a:xfrm>
          <a:prstGeom prst="rect">
            <a:avLst/>
          </a:prstGeom>
          <a:noFill/>
        </p:spPr>
        <p:txBody>
          <a:bodyPr wrap="square" lIns="91440" tIns="45720" rIns="91440" bIns="45720" anchor="t">
            <a:spAutoFit/>
          </a:bodyPr>
          <a:lstStyle/>
          <a:p>
            <a:pPr defTabSz="1219170">
              <a:buClr>
                <a:srgbClr val="000000"/>
              </a:buClr>
            </a:pPr>
            <a:r>
              <a:rPr lang="en-US" kern="0" dirty="0">
                <a:solidFill>
                  <a:srgbClr val="282828"/>
                </a:solidFill>
                <a:latin typeface="Poppins"/>
                <a:ea typeface="Century Gothic"/>
                <a:cs typeface="Poppins"/>
                <a:sym typeface="Century Gothic"/>
              </a:rPr>
              <a:t>Palm’s team brings depth and breadth of cross-functional experience and in-vertical knowledge. </a:t>
            </a:r>
            <a:endParaRPr lang="en-US" sz="1000" kern="0" dirty="0">
              <a:solidFill>
                <a:srgbClr val="282828"/>
              </a:solidFill>
              <a:latin typeface="Poppins" pitchFamily="2" charset="77"/>
              <a:cs typeface="Poppins" pitchFamily="2" charset="77"/>
            </a:endParaRPr>
          </a:p>
        </p:txBody>
      </p:sp>
      <p:sp>
        <p:nvSpPr>
          <p:cNvPr id="25" name="TextBox 24">
            <a:extLst>
              <a:ext uri="{FF2B5EF4-FFF2-40B4-BE49-F238E27FC236}">
                <a16:creationId xmlns:a16="http://schemas.microsoft.com/office/drawing/2014/main" id="{C04061C0-6A6C-F346-A5E5-0A776556F3B4}"/>
              </a:ext>
            </a:extLst>
          </p:cNvPr>
          <p:cNvSpPr txBox="1"/>
          <p:nvPr/>
        </p:nvSpPr>
        <p:spPr>
          <a:xfrm>
            <a:off x="8939038" y="3486955"/>
            <a:ext cx="3166222" cy="3170099"/>
          </a:xfrm>
          <a:prstGeom prst="rect">
            <a:avLst/>
          </a:prstGeom>
          <a:noFill/>
        </p:spPr>
        <p:txBody>
          <a:bodyPr wrap="square">
            <a:spAutoFit/>
          </a:bodyPr>
          <a:lstStyle/>
          <a:p>
            <a:pPr marR="0" algn="just" fontAlgn="base">
              <a:spcBef>
                <a:spcPts val="0"/>
              </a:spcBef>
              <a:spcAft>
                <a:spcPts val="0"/>
              </a:spcAft>
            </a:pPr>
            <a:r>
              <a:rPr lang="en-US" sz="1000" dirty="0">
                <a:solidFill>
                  <a:srgbClr val="000000"/>
                </a:solidFill>
                <a:latin typeface="Poppins" pitchFamily="2" charset="77"/>
                <a:cs typeface="Poppins" pitchFamily="2" charset="77"/>
              </a:rPr>
              <a:t>Craig has over 10 years of Executive Leadership experience. Palm is Craig’s 3rd start-up. Craig’s successfully scaled a financial services organization from being employee #3 to over 1000 employees, serving all 50 states with over $6B per year in origination activity. Craig has served as a Palm advisor since 2019. Since formally joining the organization in 2021, Palm has scaled 300% in revenue in less than two years and looks forward to multiples of that success in the next few years.</a:t>
            </a:r>
          </a:p>
          <a:p>
            <a:pPr marR="0" algn="just" fontAlgn="base">
              <a:spcBef>
                <a:spcPts val="0"/>
              </a:spcBef>
              <a:spcAft>
                <a:spcPts val="0"/>
              </a:spcAft>
            </a:pPr>
            <a:endParaRPr lang="en-US" sz="1000" dirty="0">
              <a:solidFill>
                <a:srgbClr val="000000"/>
              </a:solidFill>
              <a:latin typeface="Poppins" pitchFamily="2" charset="77"/>
              <a:cs typeface="Poppins" pitchFamily="2" charset="77"/>
            </a:endParaRPr>
          </a:p>
          <a:p>
            <a:pPr marR="0" algn="just" fontAlgn="base">
              <a:spcBef>
                <a:spcPts val="0"/>
              </a:spcBef>
              <a:spcAft>
                <a:spcPts val="0"/>
              </a:spcAft>
            </a:pPr>
            <a:r>
              <a:rPr lang="en-US" sz="1000" dirty="0">
                <a:solidFill>
                  <a:srgbClr val="000000"/>
                </a:solidFill>
                <a:latin typeface="Poppins" pitchFamily="2" charset="77"/>
                <a:cs typeface="Poppins" pitchFamily="2" charset="77"/>
              </a:rPr>
              <a:t>In addition to serving as primary advisor to Palm’s founders, Craig’s involvement includes financial management and serves lead on all professional services core to Palm’s business administration (i.e. legal, accounting, </a:t>
            </a:r>
            <a:r>
              <a:rPr lang="en-US" sz="1000" dirty="0" err="1">
                <a:solidFill>
                  <a:srgbClr val="000000"/>
                </a:solidFill>
                <a:latin typeface="Poppins" pitchFamily="2" charset="77"/>
                <a:cs typeface="Poppins" pitchFamily="2" charset="77"/>
              </a:rPr>
              <a:t>etc</a:t>
            </a:r>
            <a:r>
              <a:rPr lang="en-US" sz="1000" dirty="0">
                <a:solidFill>
                  <a:srgbClr val="000000"/>
                </a:solidFill>
                <a:latin typeface="Poppins" pitchFamily="2" charset="77"/>
                <a:cs typeface="Poppins" pitchFamily="2" charset="77"/>
              </a:rPr>
              <a:t>). Craig also negotiates and manages all marketing affiliation arrangements and key business relationships.</a:t>
            </a:r>
          </a:p>
        </p:txBody>
      </p:sp>
      <p:sp>
        <p:nvSpPr>
          <p:cNvPr id="27" name="TextBox 26">
            <a:extLst>
              <a:ext uri="{FF2B5EF4-FFF2-40B4-BE49-F238E27FC236}">
                <a16:creationId xmlns:a16="http://schemas.microsoft.com/office/drawing/2014/main" id="{A2F091CC-E21A-A645-898E-68EC6F3AC2FB}"/>
              </a:ext>
            </a:extLst>
          </p:cNvPr>
          <p:cNvSpPr txBox="1"/>
          <p:nvPr/>
        </p:nvSpPr>
        <p:spPr>
          <a:xfrm>
            <a:off x="5941360" y="3486955"/>
            <a:ext cx="2910938" cy="2862322"/>
          </a:xfrm>
          <a:prstGeom prst="rect">
            <a:avLst/>
          </a:prstGeom>
          <a:noFill/>
        </p:spPr>
        <p:txBody>
          <a:bodyPr wrap="square">
            <a:spAutoFit/>
          </a:bodyPr>
          <a:lstStyle/>
          <a:p>
            <a:pPr algn="just" fontAlgn="base"/>
            <a:r>
              <a:rPr lang="en-US" sz="1000" dirty="0">
                <a:solidFill>
                  <a:srgbClr val="000000"/>
                </a:solidFill>
                <a:latin typeface="Poppins" pitchFamily="2" charset="77"/>
                <a:cs typeface="Poppins" pitchFamily="2" charset="77"/>
              </a:rPr>
              <a:t>Dustin has over 9 years of dedicated experience in product development, design, and planning. His commitment to quality and innovation, has been instrumental in establishing Palm as a premium brand for the modern golfer. His expertise in sourcing, production planning, and supply chain management have played a key role in meeting the market demand. Dustin’s passion for the game and his expertise in the production development make him an asset to the company’s mission of revolutionizing the golf industry. </a:t>
            </a:r>
          </a:p>
          <a:p>
            <a:pPr algn="just" fontAlgn="base"/>
            <a:endParaRPr lang="en-US" sz="1000" dirty="0">
              <a:solidFill>
                <a:srgbClr val="000000"/>
              </a:solidFill>
              <a:latin typeface="Poppins" pitchFamily="2" charset="77"/>
              <a:cs typeface="Poppins" pitchFamily="2" charset="77"/>
            </a:endParaRPr>
          </a:p>
          <a:p>
            <a:pPr algn="just" fontAlgn="base"/>
            <a:r>
              <a:rPr lang="en-US" sz="1000" dirty="0">
                <a:solidFill>
                  <a:srgbClr val="000000"/>
                </a:solidFill>
                <a:latin typeface="Poppins" pitchFamily="2" charset="77"/>
                <a:cs typeface="Poppins" pitchFamily="2" charset="77"/>
              </a:rPr>
              <a:t>Dustin has a Masters in Education and teaches graphic design in addition to his responsibilities at Palm </a:t>
            </a:r>
          </a:p>
        </p:txBody>
      </p:sp>
      <p:sp>
        <p:nvSpPr>
          <p:cNvPr id="29" name="TextBox 28">
            <a:extLst>
              <a:ext uri="{FF2B5EF4-FFF2-40B4-BE49-F238E27FC236}">
                <a16:creationId xmlns:a16="http://schemas.microsoft.com/office/drawing/2014/main" id="{FC49D2C3-C9D4-4847-B3B7-EEFECDE2A7E9}"/>
              </a:ext>
            </a:extLst>
          </p:cNvPr>
          <p:cNvSpPr txBox="1"/>
          <p:nvPr/>
        </p:nvSpPr>
        <p:spPr>
          <a:xfrm>
            <a:off x="2982286" y="3486955"/>
            <a:ext cx="2835398" cy="3462486"/>
          </a:xfrm>
          <a:prstGeom prst="rect">
            <a:avLst/>
          </a:prstGeom>
          <a:noFill/>
        </p:spPr>
        <p:txBody>
          <a:bodyPr wrap="square">
            <a:spAutoFit/>
          </a:bodyPr>
          <a:lstStyle/>
          <a:p>
            <a:pPr marL="0" marR="0" algn="just">
              <a:spcBef>
                <a:spcPts val="0"/>
              </a:spcBef>
              <a:spcAft>
                <a:spcPts val="0"/>
              </a:spcAft>
            </a:pPr>
            <a:r>
              <a:rPr lang="en-US" sz="1000" kern="0" dirty="0">
                <a:latin typeface="Poppins" pitchFamily="2" charset="77"/>
                <a:ea typeface="Calibri" panose="020F0502020204030204" pitchFamily="34" charset="0"/>
                <a:cs typeface="Poppins" pitchFamily="2" charset="77"/>
              </a:rPr>
              <a:t>Justin is a career entrepreneur and has the benefit of working in some successful start-ups along the way. Prior to Palm he managed graphic design at both Travis Mathew and Haus of Grey. </a:t>
            </a:r>
          </a:p>
          <a:p>
            <a:pPr marL="0" marR="0" algn="just">
              <a:spcBef>
                <a:spcPts val="0"/>
              </a:spcBef>
              <a:spcAft>
                <a:spcPts val="0"/>
              </a:spcAft>
            </a:pPr>
            <a:endParaRPr lang="en-US" sz="1000" kern="0" dirty="0">
              <a:latin typeface="Poppins" pitchFamily="2" charset="77"/>
              <a:ea typeface="Calibri" panose="020F0502020204030204" pitchFamily="34" charset="0"/>
              <a:cs typeface="Poppins" pitchFamily="2" charset="77"/>
            </a:endParaRPr>
          </a:p>
          <a:p>
            <a:pPr algn="just"/>
            <a:r>
              <a:rPr lang="en-US" sz="1000" kern="0" dirty="0">
                <a:latin typeface="Poppins" pitchFamily="2" charset="77"/>
                <a:ea typeface="Calibri" panose="020F0502020204030204" pitchFamily="34" charset="0"/>
                <a:cs typeface="Poppins" pitchFamily="2" charset="77"/>
              </a:rPr>
              <a:t>As founder of Palm, he is responsible for all things digital. He’s built and managed a digital marketing department overseeing $400k in annual advertising with over $1MM in annual sales. Built Palm’s owned media resulting in over $750k in annual sales with over 50% YOY growth. </a:t>
            </a:r>
          </a:p>
          <a:p>
            <a:pPr algn="just"/>
            <a:endParaRPr lang="en-US" sz="1000" i="0" kern="0" dirty="0">
              <a:solidFill>
                <a:srgbClr val="242424"/>
              </a:solidFill>
              <a:effectLst/>
              <a:latin typeface="Poppins" pitchFamily="2" charset="77"/>
              <a:cs typeface="Poppins" pitchFamily="2" charset="77"/>
            </a:endParaRPr>
          </a:p>
          <a:p>
            <a:pPr algn="just"/>
            <a:r>
              <a:rPr lang="en-US" sz="1000" kern="0" dirty="0">
                <a:solidFill>
                  <a:srgbClr val="242424"/>
                </a:solidFill>
                <a:latin typeface="Poppins" pitchFamily="2" charset="77"/>
                <a:cs typeface="Poppins" pitchFamily="2" charset="77"/>
              </a:rPr>
              <a:t>Justin l</a:t>
            </a:r>
            <a:r>
              <a:rPr lang="en-US" sz="1000" i="0" dirty="0">
                <a:solidFill>
                  <a:srgbClr val="242424"/>
                </a:solidFill>
                <a:effectLst/>
                <a:latin typeface="Poppins" pitchFamily="2" charset="77"/>
                <a:cs typeface="Poppins" pitchFamily="2" charset="77"/>
              </a:rPr>
              <a:t>eads the creative design direction for digital marketing campaigns and product design. He is also responsible for building and managing the e-commerce architecture along with 3</a:t>
            </a:r>
            <a:r>
              <a:rPr lang="en-US" sz="1000" i="0" baseline="30000" dirty="0">
                <a:solidFill>
                  <a:srgbClr val="242424"/>
                </a:solidFill>
                <a:effectLst/>
                <a:latin typeface="Poppins" pitchFamily="2" charset="77"/>
                <a:cs typeface="Poppins" pitchFamily="2" charset="77"/>
              </a:rPr>
              <a:t>rd</a:t>
            </a:r>
            <a:r>
              <a:rPr lang="en-US" sz="1000" i="0" dirty="0">
                <a:solidFill>
                  <a:srgbClr val="242424"/>
                </a:solidFill>
                <a:effectLst/>
                <a:latin typeface="Poppins" pitchFamily="2" charset="77"/>
                <a:cs typeface="Poppins" pitchFamily="2" charset="77"/>
              </a:rPr>
              <a:t> party software implementation. </a:t>
            </a:r>
            <a:endParaRPr lang="en-US" sz="1000" kern="0" dirty="0">
              <a:latin typeface="Poppins" pitchFamily="2" charset="77"/>
              <a:ea typeface="Calibri" panose="020F0502020204030204" pitchFamily="34" charset="0"/>
              <a:cs typeface="Poppins" pitchFamily="2" charset="77"/>
            </a:endParaRPr>
          </a:p>
          <a:p>
            <a:pPr algn="l"/>
            <a:endParaRPr lang="en-US" sz="900" i="0" dirty="0">
              <a:solidFill>
                <a:srgbClr val="242424"/>
              </a:solidFill>
              <a:effectLst/>
              <a:latin typeface="Poppins" pitchFamily="2" charset="77"/>
              <a:cs typeface="Poppins" pitchFamily="2" charset="77"/>
            </a:endParaRPr>
          </a:p>
        </p:txBody>
      </p:sp>
      <p:sp>
        <p:nvSpPr>
          <p:cNvPr id="31" name="TextBox 30">
            <a:extLst>
              <a:ext uri="{FF2B5EF4-FFF2-40B4-BE49-F238E27FC236}">
                <a16:creationId xmlns:a16="http://schemas.microsoft.com/office/drawing/2014/main" id="{1C63B7CF-527E-614D-AD1E-1B4392A30F42}"/>
              </a:ext>
            </a:extLst>
          </p:cNvPr>
          <p:cNvSpPr txBox="1"/>
          <p:nvPr/>
        </p:nvSpPr>
        <p:spPr>
          <a:xfrm>
            <a:off x="141421" y="3486955"/>
            <a:ext cx="2712474" cy="2862322"/>
          </a:xfrm>
          <a:prstGeom prst="rect">
            <a:avLst/>
          </a:prstGeom>
          <a:noFill/>
        </p:spPr>
        <p:txBody>
          <a:bodyPr wrap="square">
            <a:spAutoFit/>
          </a:bodyPr>
          <a:lstStyle/>
          <a:p>
            <a:pPr algn="just" fontAlgn="base"/>
            <a:r>
              <a:rPr lang="en-US" sz="1000" i="0" dirty="0">
                <a:solidFill>
                  <a:srgbClr val="000000"/>
                </a:solidFill>
                <a:effectLst/>
                <a:latin typeface="Poppins" pitchFamily="2" charset="77"/>
                <a:cs typeface="Poppins" pitchFamily="2" charset="77"/>
              </a:rPr>
              <a:t>Prior to Palm, Joe managed capital markets and secondary marketing functions, including pricing, trading, hedging and secondary market execution. After serving a leadership role for several years Joe was recruited to share expertise with an industry trade group serving 100+ companies that totaled over $75 billion per year in origination activity.</a:t>
            </a:r>
          </a:p>
          <a:p>
            <a:pPr algn="just" fontAlgn="base"/>
            <a:endParaRPr lang="en-US" sz="1000" dirty="0">
              <a:solidFill>
                <a:srgbClr val="000000"/>
              </a:solidFill>
              <a:latin typeface="Poppins" pitchFamily="2" charset="77"/>
              <a:cs typeface="Poppins" pitchFamily="2" charset="77"/>
            </a:endParaRPr>
          </a:p>
          <a:p>
            <a:pPr algn="just" fontAlgn="base"/>
            <a:r>
              <a:rPr lang="en-US" sz="1000" i="0" dirty="0">
                <a:solidFill>
                  <a:srgbClr val="000000"/>
                </a:solidFill>
                <a:effectLst/>
                <a:latin typeface="Poppins" pitchFamily="2" charset="77"/>
                <a:cs typeface="Poppins" pitchFamily="2" charset="77"/>
              </a:rPr>
              <a:t>At Palm, Joe facilitates the coordination between Production, Marketing, Operations, and Finance. Joe also serves as front line support to our wholesale partners including all major retail partners, green grass accounts and corporate accounts.  </a:t>
            </a:r>
            <a:endParaRPr lang="en-US" sz="1000" i="0" dirty="0">
              <a:solidFill>
                <a:srgbClr val="242424"/>
              </a:solidFill>
              <a:effectLst/>
              <a:latin typeface="Poppins" pitchFamily="2" charset="77"/>
              <a:cs typeface="Poppins" pitchFamily="2" charset="77"/>
            </a:endParaRPr>
          </a:p>
        </p:txBody>
      </p:sp>
      <p:cxnSp>
        <p:nvCxnSpPr>
          <p:cNvPr id="22" name="Straight Connector 21">
            <a:extLst>
              <a:ext uri="{FF2B5EF4-FFF2-40B4-BE49-F238E27FC236}">
                <a16:creationId xmlns:a16="http://schemas.microsoft.com/office/drawing/2014/main" id="{5534B277-008A-3E4F-A938-BE81D9F021B7}"/>
              </a:ext>
            </a:extLst>
          </p:cNvPr>
          <p:cNvCxnSpPr>
            <a:cxnSpLocks/>
          </p:cNvCxnSpPr>
          <p:nvPr/>
        </p:nvCxnSpPr>
        <p:spPr>
          <a:xfrm>
            <a:off x="2885954" y="1380108"/>
            <a:ext cx="0" cy="5147472"/>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F598588B-5204-6E4B-A64C-5C33C8030F4F}"/>
              </a:ext>
            </a:extLst>
          </p:cNvPr>
          <p:cNvCxnSpPr>
            <a:cxnSpLocks/>
          </p:cNvCxnSpPr>
          <p:nvPr/>
        </p:nvCxnSpPr>
        <p:spPr>
          <a:xfrm>
            <a:off x="5885080" y="1380108"/>
            <a:ext cx="0" cy="5147472"/>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760143B-07AB-0447-BC31-378096AE0F17}"/>
              </a:ext>
            </a:extLst>
          </p:cNvPr>
          <p:cNvCxnSpPr>
            <a:cxnSpLocks/>
          </p:cNvCxnSpPr>
          <p:nvPr/>
        </p:nvCxnSpPr>
        <p:spPr>
          <a:xfrm>
            <a:off x="8898526" y="1380108"/>
            <a:ext cx="0" cy="5147472"/>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772907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2" name="Google Shape;62;g11b5860b61b_0_64"/>
          <p:cNvSpPr txBox="1"/>
          <p:nvPr/>
        </p:nvSpPr>
        <p:spPr>
          <a:xfrm>
            <a:off x="280271" y="546705"/>
            <a:ext cx="4582185" cy="779711"/>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4200" b="1" kern="0" dirty="0">
                <a:solidFill>
                  <a:srgbClr val="282828"/>
                </a:solidFill>
                <a:latin typeface="Poppins"/>
                <a:ea typeface="Century Gothic"/>
                <a:cs typeface="Poppins"/>
                <a:sym typeface="Century Gothic"/>
              </a:rPr>
              <a:t>Key Advisors.</a:t>
            </a:r>
            <a:endParaRPr lang="en" sz="4200" b="1" kern="0" dirty="0">
              <a:solidFill>
                <a:srgbClr val="282828"/>
              </a:solidFill>
              <a:latin typeface="Poppins"/>
              <a:ea typeface="Century Gothic"/>
              <a:cs typeface="Poppins"/>
            </a:endParaRPr>
          </a:p>
        </p:txBody>
      </p:sp>
      <p:sp>
        <p:nvSpPr>
          <p:cNvPr id="17" name="Rectangle 16">
            <a:extLst>
              <a:ext uri="{FF2B5EF4-FFF2-40B4-BE49-F238E27FC236}">
                <a16:creationId xmlns:a16="http://schemas.microsoft.com/office/drawing/2014/main" id="{292FF896-6919-F945-A068-01E14A9258C5}"/>
              </a:ext>
            </a:extLst>
          </p:cNvPr>
          <p:cNvSpPr/>
          <p:nvPr/>
        </p:nvSpPr>
        <p:spPr>
          <a:xfrm>
            <a:off x="0" y="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44BA01E6-2549-984C-891A-2FF8DE67E9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0BC0994-9898-746B-6C87-2ABD8B7067E2}"/>
              </a:ext>
            </a:extLst>
          </p:cNvPr>
          <p:cNvSpPr txBox="1"/>
          <p:nvPr/>
        </p:nvSpPr>
        <p:spPr>
          <a:xfrm>
            <a:off x="2188127" y="2957394"/>
            <a:ext cx="2712474" cy="461665"/>
          </a:xfrm>
          <a:prstGeom prst="rect">
            <a:avLst/>
          </a:prstGeom>
          <a:noFill/>
        </p:spPr>
        <p:txBody>
          <a:bodyPr wrap="square" rtlCol="0">
            <a:spAutoFit/>
          </a:bodyPr>
          <a:lstStyle/>
          <a:p>
            <a:pPr algn="ctr" fontAlgn="base"/>
            <a:r>
              <a:rPr lang="en-US" sz="1200" b="1" i="0">
                <a:solidFill>
                  <a:srgbClr val="000000"/>
                </a:solidFill>
                <a:effectLst/>
                <a:latin typeface="Poppins" pitchFamily="2" charset="77"/>
                <a:cs typeface="Poppins" pitchFamily="2" charset="77"/>
              </a:rPr>
              <a:t>Ellen Duncan</a:t>
            </a:r>
            <a:endParaRPr lang="en-US" sz="1200" b="1">
              <a:solidFill>
                <a:srgbClr val="000000"/>
              </a:solidFill>
              <a:latin typeface="Poppins" pitchFamily="2" charset="77"/>
              <a:cs typeface="Poppins" pitchFamily="2" charset="77"/>
            </a:endParaRPr>
          </a:p>
          <a:p>
            <a:pPr algn="ctr" fontAlgn="base"/>
            <a:r>
              <a:rPr lang="en-US" sz="1200" i="0">
                <a:solidFill>
                  <a:srgbClr val="000000"/>
                </a:solidFill>
                <a:effectLst/>
                <a:latin typeface="Poppins" pitchFamily="2" charset="77"/>
                <a:cs typeface="Poppins" pitchFamily="2" charset="77"/>
              </a:rPr>
              <a:t>Marketing &amp; Growth</a:t>
            </a:r>
            <a:endParaRPr lang="en-US" sz="1200" i="0">
              <a:solidFill>
                <a:srgbClr val="242424"/>
              </a:solidFill>
              <a:effectLst/>
              <a:latin typeface="Poppins" pitchFamily="2" charset="77"/>
              <a:cs typeface="Poppins" pitchFamily="2" charset="77"/>
            </a:endParaRPr>
          </a:p>
        </p:txBody>
      </p:sp>
      <p:sp>
        <p:nvSpPr>
          <p:cNvPr id="7" name="TextBox 6">
            <a:extLst>
              <a:ext uri="{FF2B5EF4-FFF2-40B4-BE49-F238E27FC236}">
                <a16:creationId xmlns:a16="http://schemas.microsoft.com/office/drawing/2014/main" id="{ACDB6706-35D0-0844-9E14-703B8CDF993C}"/>
              </a:ext>
            </a:extLst>
          </p:cNvPr>
          <p:cNvSpPr txBox="1"/>
          <p:nvPr/>
        </p:nvSpPr>
        <p:spPr>
          <a:xfrm>
            <a:off x="7405426" y="2964464"/>
            <a:ext cx="3028063" cy="461665"/>
          </a:xfrm>
          <a:prstGeom prst="rect">
            <a:avLst/>
          </a:prstGeom>
          <a:noFill/>
        </p:spPr>
        <p:txBody>
          <a:bodyPr wrap="square" rtlCol="0">
            <a:spAutoFit/>
          </a:bodyPr>
          <a:lstStyle/>
          <a:p>
            <a:pPr marL="0" marR="0" algn="ctr">
              <a:spcBef>
                <a:spcPts val="0"/>
              </a:spcBef>
              <a:spcAft>
                <a:spcPts val="0"/>
              </a:spcAft>
            </a:pPr>
            <a:r>
              <a:rPr lang="en-US" sz="1200" b="1" kern="0" dirty="0">
                <a:effectLst/>
                <a:latin typeface="Poppins" pitchFamily="2" charset="77"/>
                <a:ea typeface="Calibri" panose="020F0502020204030204" pitchFamily="34" charset="0"/>
                <a:cs typeface="Poppins" pitchFamily="2" charset="77"/>
              </a:rPr>
              <a:t>Mimi </a:t>
            </a:r>
            <a:r>
              <a:rPr lang="en-US" sz="1200" b="1" kern="0" dirty="0" err="1">
                <a:effectLst/>
                <a:latin typeface="Poppins" pitchFamily="2" charset="77"/>
                <a:ea typeface="Calibri" panose="020F0502020204030204" pitchFamily="34" charset="0"/>
                <a:cs typeface="Poppins" pitchFamily="2" charset="77"/>
              </a:rPr>
              <a:t>Disipio</a:t>
            </a:r>
            <a:endParaRPr lang="en-US" sz="1200" b="1" kern="0" dirty="0">
              <a:latin typeface="Poppins" pitchFamily="2" charset="77"/>
              <a:ea typeface="Calibri" panose="020F0502020204030204" pitchFamily="34" charset="0"/>
              <a:cs typeface="Poppins" pitchFamily="2" charset="77"/>
            </a:endParaRPr>
          </a:p>
          <a:p>
            <a:pPr marL="0" marR="0" algn="ctr">
              <a:spcBef>
                <a:spcPts val="0"/>
              </a:spcBef>
              <a:spcAft>
                <a:spcPts val="0"/>
              </a:spcAft>
            </a:pPr>
            <a:r>
              <a:rPr lang="en-US" sz="1200" kern="0" dirty="0">
                <a:effectLst/>
                <a:latin typeface="Poppins" pitchFamily="2" charset="77"/>
                <a:ea typeface="Calibri" panose="020F0502020204030204" pitchFamily="34" charset="0"/>
                <a:cs typeface="Poppins" pitchFamily="2" charset="77"/>
              </a:rPr>
              <a:t>Retail Strategy &amp; Merchandising</a:t>
            </a:r>
            <a:endParaRPr lang="en-US" sz="1050" kern="0" dirty="0">
              <a:effectLst/>
              <a:latin typeface="Poppins" pitchFamily="2" charset="77"/>
              <a:ea typeface="Calibri" panose="020F0502020204030204" pitchFamily="34" charset="0"/>
              <a:cs typeface="Poppins" pitchFamily="2" charset="77"/>
            </a:endParaRPr>
          </a:p>
        </p:txBody>
      </p:sp>
      <p:sp>
        <p:nvSpPr>
          <p:cNvPr id="23" name="TextBox 22">
            <a:extLst>
              <a:ext uri="{FF2B5EF4-FFF2-40B4-BE49-F238E27FC236}">
                <a16:creationId xmlns:a16="http://schemas.microsoft.com/office/drawing/2014/main" id="{119F1260-2AE3-6D42-8CDD-CB97C4F8FCA8}"/>
              </a:ext>
            </a:extLst>
          </p:cNvPr>
          <p:cNvSpPr txBox="1"/>
          <p:nvPr/>
        </p:nvSpPr>
        <p:spPr>
          <a:xfrm>
            <a:off x="4292304" y="558617"/>
            <a:ext cx="7506406" cy="523220"/>
          </a:xfrm>
          <a:prstGeom prst="rect">
            <a:avLst/>
          </a:prstGeom>
          <a:noFill/>
        </p:spPr>
        <p:txBody>
          <a:bodyPr wrap="square" lIns="91440" tIns="45720" rIns="91440" bIns="45720" anchor="t">
            <a:spAutoFit/>
          </a:bodyPr>
          <a:lstStyle/>
          <a:p>
            <a:pPr defTabSz="1219170">
              <a:buClr>
                <a:srgbClr val="000000"/>
              </a:buClr>
            </a:pPr>
            <a:r>
              <a:rPr lang="en-US" sz="1400" kern="0" dirty="0">
                <a:solidFill>
                  <a:srgbClr val="282828"/>
                </a:solidFill>
                <a:latin typeface="Poppins"/>
                <a:cs typeface="Poppins"/>
                <a:sym typeface="Century Gothic"/>
              </a:rPr>
              <a:t>Our advisors </a:t>
            </a:r>
            <a:r>
              <a:rPr lang="en-US" sz="1400" kern="0" dirty="0">
                <a:solidFill>
                  <a:srgbClr val="282828"/>
                </a:solidFill>
                <a:latin typeface="Poppins"/>
                <a:cs typeface="Poppins"/>
              </a:rPr>
              <a:t>bring deep industry knowledge and experience that complements the Palm team. Their partnership expands our overall leadership capability.  </a:t>
            </a:r>
            <a:endParaRPr lang="en-US" sz="1400" kern="0" dirty="0">
              <a:solidFill>
                <a:srgbClr val="282828"/>
              </a:solidFill>
              <a:latin typeface="Poppins" pitchFamily="2" charset="77"/>
              <a:cs typeface="Poppins" pitchFamily="2" charset="77"/>
            </a:endParaRPr>
          </a:p>
        </p:txBody>
      </p:sp>
      <p:sp>
        <p:nvSpPr>
          <p:cNvPr id="29" name="TextBox 28">
            <a:extLst>
              <a:ext uri="{FF2B5EF4-FFF2-40B4-BE49-F238E27FC236}">
                <a16:creationId xmlns:a16="http://schemas.microsoft.com/office/drawing/2014/main" id="{FC49D2C3-C9D4-4847-B3B7-EEFECDE2A7E9}"/>
              </a:ext>
            </a:extLst>
          </p:cNvPr>
          <p:cNvSpPr txBox="1"/>
          <p:nvPr/>
        </p:nvSpPr>
        <p:spPr>
          <a:xfrm>
            <a:off x="6524372" y="3486955"/>
            <a:ext cx="4443647" cy="2862322"/>
          </a:xfrm>
          <a:prstGeom prst="rect">
            <a:avLst/>
          </a:prstGeom>
          <a:noFill/>
        </p:spPr>
        <p:txBody>
          <a:bodyPr wrap="square" lIns="91440" tIns="45720" rIns="91440" bIns="45720" anchor="t">
            <a:spAutoFit/>
          </a:bodyPr>
          <a:lstStyle/>
          <a:p>
            <a:pPr algn="just"/>
            <a:r>
              <a:rPr lang="en-US" sz="1000" kern="0" dirty="0">
                <a:solidFill>
                  <a:srgbClr val="242424"/>
                </a:solidFill>
                <a:latin typeface="Poppins"/>
                <a:cs typeface="Segoe UI"/>
              </a:rPr>
              <a:t>Mimi has over a decade of experience in a range of operational and advisory roles within the Apparel and Footwear industries. She spent five years in Global Merchandising and Production at Abercrombie and Fitch where she led end-to-end assortment strategy and product development for the Women's and Kids brands before moving to Under </a:t>
            </a:r>
            <a:r>
              <a:rPr lang="en-US" sz="1000" kern="0" dirty="0" err="1">
                <a:solidFill>
                  <a:srgbClr val="242424"/>
                </a:solidFill>
                <a:latin typeface="Poppins"/>
                <a:cs typeface="Segoe UI"/>
              </a:rPr>
              <a:t>Armour</a:t>
            </a:r>
            <a:r>
              <a:rPr lang="en-US" sz="1000" kern="0" dirty="0">
                <a:solidFill>
                  <a:srgbClr val="242424"/>
                </a:solidFill>
                <a:latin typeface="Poppins"/>
                <a:cs typeface="Segoe UI"/>
              </a:rPr>
              <a:t>. At UA, she led Global Category Management for Youth apparel and footwear, including owned and wholesale expansions in the US and EU. She has since leveraged her experience in assortment planning, production management, and go-to-market strategy as a strategic advisor to several global fashion retailers as a member of Boston Consulting Group's Fashion and Luxury practice. Her expertise is in consumer-centric assortment strategy and data-driven decision making. Mimi has a Bachelor's degree from the University of Notre Dame and an MBA from Harvard Business School. She currently lives in London where she is Transformation Director for Kantar, a private-equity owned consumer research and technology company. </a:t>
            </a:r>
            <a:endParaRPr lang="en-US" sz="1000" dirty="0">
              <a:latin typeface="Poppins"/>
              <a:cs typeface="Poppins"/>
            </a:endParaRPr>
          </a:p>
          <a:p>
            <a:pPr algn="l"/>
            <a:endParaRPr lang="en-US" sz="1000" i="0" dirty="0">
              <a:solidFill>
                <a:srgbClr val="242424"/>
              </a:solidFill>
              <a:effectLst/>
              <a:latin typeface="Poppins" pitchFamily="2" charset="77"/>
              <a:cs typeface="Poppins" pitchFamily="2" charset="77"/>
            </a:endParaRPr>
          </a:p>
        </p:txBody>
      </p:sp>
      <p:sp>
        <p:nvSpPr>
          <p:cNvPr id="31" name="TextBox 30">
            <a:extLst>
              <a:ext uri="{FF2B5EF4-FFF2-40B4-BE49-F238E27FC236}">
                <a16:creationId xmlns:a16="http://schemas.microsoft.com/office/drawing/2014/main" id="{1C63B7CF-527E-614D-AD1E-1B4392A30F42}"/>
              </a:ext>
            </a:extLst>
          </p:cNvPr>
          <p:cNvSpPr txBox="1"/>
          <p:nvPr/>
        </p:nvSpPr>
        <p:spPr>
          <a:xfrm>
            <a:off x="1861915" y="3551169"/>
            <a:ext cx="3612184" cy="2400657"/>
          </a:xfrm>
          <a:prstGeom prst="rect">
            <a:avLst/>
          </a:prstGeom>
          <a:noFill/>
        </p:spPr>
        <p:txBody>
          <a:bodyPr wrap="square">
            <a:spAutoFit/>
          </a:bodyPr>
          <a:lstStyle/>
          <a:p>
            <a:pPr algn="just" fontAlgn="base"/>
            <a:r>
              <a:rPr lang="en-US" sz="1000" dirty="0">
                <a:solidFill>
                  <a:srgbClr val="000000"/>
                </a:solidFill>
                <a:latin typeface="Poppins" pitchFamily="2" charset="77"/>
                <a:cs typeface="Poppins" pitchFamily="2" charset="77"/>
              </a:rPr>
              <a:t>Ellen Duncan is a global marketing transformation leader. With Accenture, she led the digitization of the in-flight experience with Southwest Airlines and the mobile shopping journey for General Motors. Ellen then spent eight years with The Coca-Cola Company as the driving force in the digitization of consumer marketing across the globe. </a:t>
            </a:r>
          </a:p>
          <a:p>
            <a:pPr algn="just" fontAlgn="base"/>
            <a:endParaRPr lang="en-US" sz="1000" i="0" dirty="0">
              <a:solidFill>
                <a:srgbClr val="000000"/>
              </a:solidFill>
              <a:effectLst/>
              <a:latin typeface="Poppins" pitchFamily="2" charset="77"/>
              <a:cs typeface="Poppins" pitchFamily="2" charset="77"/>
            </a:endParaRPr>
          </a:p>
          <a:p>
            <a:pPr algn="just" fontAlgn="base"/>
            <a:r>
              <a:rPr lang="en-US" sz="1000" dirty="0">
                <a:solidFill>
                  <a:srgbClr val="000000"/>
                </a:solidFill>
                <a:latin typeface="Poppins" pitchFamily="2" charset="77"/>
                <a:cs typeface="Poppins" pitchFamily="2" charset="77"/>
              </a:rPr>
              <a:t>Since 2020, Ellen is the Owner and Principal Lead of Pineapple Partners, a growth marketing consulting firm. The firm partners with clients across industries to deliver strategic projects, lead long-range planning, and develop holistic marketing plans. Ellen individually partners as a Fractional CMO for a few key clients. </a:t>
            </a:r>
            <a:endParaRPr lang="en-US" sz="1000" i="0" dirty="0">
              <a:solidFill>
                <a:srgbClr val="242424"/>
              </a:solidFill>
              <a:effectLst/>
              <a:latin typeface="Poppins" pitchFamily="2" charset="77"/>
              <a:cs typeface="Poppins" pitchFamily="2" charset="77"/>
            </a:endParaRPr>
          </a:p>
        </p:txBody>
      </p:sp>
      <p:cxnSp>
        <p:nvCxnSpPr>
          <p:cNvPr id="22" name="Straight Connector 21">
            <a:extLst>
              <a:ext uri="{FF2B5EF4-FFF2-40B4-BE49-F238E27FC236}">
                <a16:creationId xmlns:a16="http://schemas.microsoft.com/office/drawing/2014/main" id="{5534B277-008A-3E4F-A938-BE81D9F021B7}"/>
              </a:ext>
            </a:extLst>
          </p:cNvPr>
          <p:cNvCxnSpPr>
            <a:cxnSpLocks/>
          </p:cNvCxnSpPr>
          <p:nvPr/>
        </p:nvCxnSpPr>
        <p:spPr>
          <a:xfrm>
            <a:off x="6047597" y="1379331"/>
            <a:ext cx="0" cy="5147472"/>
          </a:xfrm>
          <a:prstGeom prst="line">
            <a:avLst/>
          </a:prstGeom>
          <a:ln w="317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pic>
        <p:nvPicPr>
          <p:cNvPr id="3" name="Picture 2" descr="Ellen Duncan - Independent Consultant | Owner, Pineapple Partners -  Pineapple Partners | LinkedIn">
            <a:extLst>
              <a:ext uri="{FF2B5EF4-FFF2-40B4-BE49-F238E27FC236}">
                <a16:creationId xmlns:a16="http://schemas.microsoft.com/office/drawing/2014/main" id="{73D08050-3D12-EE45-820C-F91182FF14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7184" y="1307595"/>
            <a:ext cx="1491277" cy="1491277"/>
          </a:xfrm>
          <a:prstGeom prst="ellipse">
            <a:avLst/>
          </a:prstGeom>
          <a:noFill/>
          <a:extLst>
            <a:ext uri="{909E8E84-426E-40DD-AFC4-6F175D3DCCD1}">
              <a14:hiddenFill xmlns:a14="http://schemas.microsoft.com/office/drawing/2010/main">
                <a:solidFill>
                  <a:srgbClr val="FFFFFF"/>
                </a:solidFill>
              </a14:hiddenFill>
            </a:ext>
          </a:extLst>
        </p:spPr>
      </p:pic>
      <p:pic>
        <p:nvPicPr>
          <p:cNvPr id="4" name="Picture 3" descr="A person smiling at the camera&#10;&#10;Description automatically generated">
            <a:extLst>
              <a:ext uri="{FF2B5EF4-FFF2-40B4-BE49-F238E27FC236}">
                <a16:creationId xmlns:a16="http://schemas.microsoft.com/office/drawing/2014/main" id="{C03B1EA4-428C-C705-AD7E-8B847025BD82}"/>
              </a:ext>
            </a:extLst>
          </p:cNvPr>
          <p:cNvPicPr>
            <a:picLocks noChangeAspect="1"/>
          </p:cNvPicPr>
          <p:nvPr/>
        </p:nvPicPr>
        <p:blipFill>
          <a:blip r:embed="rId5"/>
          <a:stretch>
            <a:fillRect/>
          </a:stretch>
        </p:blipFill>
        <p:spPr>
          <a:xfrm>
            <a:off x="8114594" y="1195604"/>
            <a:ext cx="1609725" cy="1543050"/>
          </a:xfrm>
          <a:prstGeom prst="rect">
            <a:avLst/>
          </a:prstGeom>
        </p:spPr>
      </p:pic>
    </p:spTree>
    <p:extLst>
      <p:ext uri="{BB962C8B-B14F-4D97-AF65-F5344CB8AC3E}">
        <p14:creationId xmlns:p14="http://schemas.microsoft.com/office/powerpoint/2010/main" val="13105172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EFDFEFC-0F9B-3542-A0A5-A69B27500FA8}"/>
              </a:ext>
            </a:extLst>
          </p:cNvPr>
          <p:cNvSpPr>
            <a:spLocks noGrp="1"/>
          </p:cNvSpPr>
          <p:nvPr>
            <p:ph type="subTitle" idx="1"/>
          </p:nvPr>
        </p:nvSpPr>
        <p:spPr>
          <a:xfrm>
            <a:off x="1524000" y="3075680"/>
            <a:ext cx="9144000" cy="1655762"/>
          </a:xfrm>
        </p:spPr>
        <p:txBody>
          <a:bodyPr>
            <a:normAutofit/>
          </a:bodyPr>
          <a:lstStyle/>
          <a:p>
            <a:r>
              <a:rPr lang="en-US" sz="4800" b="1" dirty="0">
                <a:solidFill>
                  <a:schemeClr val="bg1"/>
                </a:solidFill>
                <a:latin typeface="Montserrat" pitchFamily="2" charset="77"/>
                <a:cs typeface="Poppins" pitchFamily="2" charset="77"/>
              </a:rPr>
              <a:t>The business today.</a:t>
            </a:r>
          </a:p>
        </p:txBody>
      </p:sp>
    </p:spTree>
    <p:extLst>
      <p:ext uri="{BB962C8B-B14F-4D97-AF65-F5344CB8AC3E}">
        <p14:creationId xmlns:p14="http://schemas.microsoft.com/office/powerpoint/2010/main" val="2494977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17" name="Rectangle 16">
            <a:extLst>
              <a:ext uri="{FF2B5EF4-FFF2-40B4-BE49-F238E27FC236}">
                <a16:creationId xmlns:a16="http://schemas.microsoft.com/office/drawing/2014/main" id="{292FF896-6919-F945-A068-01E14A9258C5}"/>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44BA01E6-2549-984C-891A-2FF8DE67E9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133B4EC-172A-7E9C-47B0-2DB798A63714}"/>
              </a:ext>
            </a:extLst>
          </p:cNvPr>
          <p:cNvSpPr txBox="1"/>
          <p:nvPr/>
        </p:nvSpPr>
        <p:spPr>
          <a:xfrm>
            <a:off x="686380" y="519616"/>
            <a:ext cx="10178472" cy="1292662"/>
          </a:xfrm>
          <a:prstGeom prst="rect">
            <a:avLst/>
          </a:prstGeom>
          <a:noFill/>
        </p:spPr>
        <p:txBody>
          <a:bodyPr wrap="square" rtlCol="0">
            <a:spAutoFit/>
          </a:bodyPr>
          <a:lstStyle/>
          <a:p>
            <a:pPr algn="ctr"/>
            <a:r>
              <a:rPr lang="en-US" sz="4200" b="1" dirty="0">
                <a:latin typeface="Poppins" pitchFamily="2" charset="77"/>
                <a:cs typeface="Poppins" pitchFamily="2" charset="77"/>
              </a:rPr>
              <a:t>Business Performance: </a:t>
            </a:r>
          </a:p>
          <a:p>
            <a:pPr algn="ctr"/>
            <a:endParaRPr lang="en-US" sz="3600" b="1" dirty="0">
              <a:latin typeface="Poppins" panose="00000500000000000000" pitchFamily="2" charset="0"/>
              <a:cs typeface="Poppins" panose="00000500000000000000" pitchFamily="2" charset="0"/>
            </a:endParaRPr>
          </a:p>
        </p:txBody>
      </p:sp>
      <p:sp>
        <p:nvSpPr>
          <p:cNvPr id="3" name="Rectangle 2">
            <a:extLst>
              <a:ext uri="{FF2B5EF4-FFF2-40B4-BE49-F238E27FC236}">
                <a16:creationId xmlns:a16="http://schemas.microsoft.com/office/drawing/2014/main" id="{7425361E-1AF4-D240-95B8-28598829F67F}"/>
              </a:ext>
            </a:extLst>
          </p:cNvPr>
          <p:cNvSpPr/>
          <p:nvPr/>
        </p:nvSpPr>
        <p:spPr>
          <a:xfrm>
            <a:off x="1316118" y="4295818"/>
            <a:ext cx="2831690" cy="2287496"/>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endParaRPr lang="en-US" b="1" dirty="0">
              <a:latin typeface="Poppins"/>
              <a:cs typeface="Poppins"/>
            </a:endParaRPr>
          </a:p>
          <a:p>
            <a:pPr algn="ctr"/>
            <a:r>
              <a:rPr lang="en-US" b="1" dirty="0">
                <a:latin typeface="Poppins"/>
                <a:cs typeface="Poppins"/>
              </a:rPr>
              <a:t>Strong Paid Media Conversion</a:t>
            </a:r>
            <a:endParaRPr lang="en-US" dirty="0">
              <a:latin typeface="Poppins"/>
              <a:cs typeface="Poppins"/>
            </a:endParaRPr>
          </a:p>
          <a:p>
            <a:pPr algn="ctr"/>
            <a:endParaRPr lang="en-US" sz="1400" dirty="0">
              <a:latin typeface="Poppins" pitchFamily="2" charset="77"/>
              <a:cs typeface="Poppins" pitchFamily="2" charset="77"/>
            </a:endParaRPr>
          </a:p>
          <a:p>
            <a:pPr algn="ctr"/>
            <a:endParaRPr lang="en-US" sz="1400" b="1" dirty="0">
              <a:latin typeface="Poppins" pitchFamily="2" charset="77"/>
              <a:cs typeface="Poppins" pitchFamily="2" charset="77"/>
            </a:endParaRPr>
          </a:p>
          <a:p>
            <a:pPr algn="ctr"/>
            <a:r>
              <a:rPr lang="en-US" sz="2800" b="1" dirty="0">
                <a:latin typeface="Poppins" pitchFamily="2" charset="77"/>
                <a:cs typeface="Poppins" pitchFamily="2" charset="77"/>
              </a:rPr>
              <a:t>3.07%</a:t>
            </a:r>
          </a:p>
          <a:p>
            <a:pPr algn="ctr"/>
            <a:endParaRPr lang="en-US" sz="1400" dirty="0">
              <a:latin typeface="Poppins" pitchFamily="2" charset="77"/>
              <a:cs typeface="Poppins" pitchFamily="2" charset="77"/>
            </a:endParaRPr>
          </a:p>
        </p:txBody>
      </p:sp>
      <p:sp>
        <p:nvSpPr>
          <p:cNvPr id="9" name="Rectangle 8">
            <a:extLst>
              <a:ext uri="{FF2B5EF4-FFF2-40B4-BE49-F238E27FC236}">
                <a16:creationId xmlns:a16="http://schemas.microsoft.com/office/drawing/2014/main" id="{DC7B3686-F6EB-DE4A-8A97-D0F37401F191}"/>
              </a:ext>
            </a:extLst>
          </p:cNvPr>
          <p:cNvSpPr/>
          <p:nvPr/>
        </p:nvSpPr>
        <p:spPr>
          <a:xfrm>
            <a:off x="4655485" y="4295818"/>
            <a:ext cx="2831690" cy="2287496"/>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US" sz="1600" b="1" dirty="0">
                <a:latin typeface="Poppins"/>
                <a:cs typeface="Poppins"/>
              </a:rPr>
              <a:t>Direct Communications driving significant revenue</a:t>
            </a:r>
          </a:p>
          <a:p>
            <a:pPr algn="ctr"/>
            <a:endParaRPr lang="en-US" sz="1400" dirty="0">
              <a:latin typeface="Poppins" pitchFamily="2" charset="77"/>
              <a:cs typeface="Poppins" pitchFamily="2" charset="77"/>
            </a:endParaRPr>
          </a:p>
          <a:p>
            <a:pPr algn="ctr"/>
            <a:r>
              <a:rPr lang="en-US" sz="2800" b="1" dirty="0">
                <a:latin typeface="Poppins" pitchFamily="2" charset="77"/>
                <a:cs typeface="Poppins" pitchFamily="2" charset="77"/>
              </a:rPr>
              <a:t>$800,000 </a:t>
            </a:r>
          </a:p>
          <a:p>
            <a:pPr algn="ctr"/>
            <a:r>
              <a:rPr lang="en-US" sz="1400" dirty="0">
                <a:latin typeface="Poppins" pitchFamily="2" charset="77"/>
                <a:cs typeface="Poppins" pitchFamily="2" charset="77"/>
              </a:rPr>
              <a:t>in revenue attributed to email/SMS automated marketing journeys</a:t>
            </a:r>
          </a:p>
          <a:p>
            <a:pPr algn="ctr"/>
            <a:endParaRPr lang="en-US" sz="1400" dirty="0">
              <a:latin typeface="Poppins" pitchFamily="2" charset="77"/>
              <a:cs typeface="Poppins" pitchFamily="2" charset="77"/>
            </a:endParaRPr>
          </a:p>
        </p:txBody>
      </p:sp>
      <p:sp>
        <p:nvSpPr>
          <p:cNvPr id="10" name="Rectangle 9">
            <a:extLst>
              <a:ext uri="{FF2B5EF4-FFF2-40B4-BE49-F238E27FC236}">
                <a16:creationId xmlns:a16="http://schemas.microsoft.com/office/drawing/2014/main" id="{C5C27FAE-A548-F244-9477-6CA0D045367A}"/>
              </a:ext>
            </a:extLst>
          </p:cNvPr>
          <p:cNvSpPr/>
          <p:nvPr/>
        </p:nvSpPr>
        <p:spPr>
          <a:xfrm>
            <a:off x="7994853" y="4262809"/>
            <a:ext cx="2831690" cy="2287496"/>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endParaRPr lang="en-US" sz="1600" b="1" dirty="0">
              <a:latin typeface="Poppins"/>
              <a:cs typeface="Poppins"/>
            </a:endParaRPr>
          </a:p>
          <a:p>
            <a:pPr algn="ctr"/>
            <a:r>
              <a:rPr lang="en-US" sz="1600" b="1" dirty="0">
                <a:latin typeface="Poppins"/>
                <a:cs typeface="Poppins"/>
              </a:rPr>
              <a:t>Growing and actionable first-party database</a:t>
            </a:r>
            <a:endParaRPr lang="en-US" dirty="0">
              <a:latin typeface="Poppins"/>
              <a:cs typeface="Poppins"/>
            </a:endParaRPr>
          </a:p>
          <a:p>
            <a:pPr algn="ctr"/>
            <a:endParaRPr lang="en-US" sz="2800" b="1" dirty="0">
              <a:latin typeface="Poppins" pitchFamily="2" charset="77"/>
              <a:cs typeface="Poppins" pitchFamily="2" charset="77"/>
            </a:endParaRPr>
          </a:p>
          <a:p>
            <a:pPr algn="ctr"/>
            <a:r>
              <a:rPr lang="en-US" sz="2800" b="1" dirty="0">
                <a:latin typeface="Poppins" pitchFamily="2" charset="77"/>
                <a:cs typeface="Poppins" pitchFamily="2" charset="77"/>
              </a:rPr>
              <a:t>134,000</a:t>
            </a:r>
          </a:p>
          <a:p>
            <a:pPr algn="ctr"/>
            <a:r>
              <a:rPr lang="en-US" sz="1400" dirty="0">
                <a:latin typeface="Poppins" pitchFamily="2" charset="77"/>
                <a:cs typeface="Poppins" pitchFamily="2" charset="77"/>
              </a:rPr>
              <a:t>85% active</a:t>
            </a:r>
          </a:p>
          <a:p>
            <a:pPr algn="ctr"/>
            <a:endParaRPr lang="en-US" sz="1400" dirty="0">
              <a:latin typeface="Poppins" pitchFamily="2" charset="77"/>
              <a:cs typeface="Poppins" pitchFamily="2" charset="77"/>
            </a:endParaRPr>
          </a:p>
        </p:txBody>
      </p:sp>
      <p:cxnSp>
        <p:nvCxnSpPr>
          <p:cNvPr id="6" name="Straight Connector 5">
            <a:extLst>
              <a:ext uri="{FF2B5EF4-FFF2-40B4-BE49-F238E27FC236}">
                <a16:creationId xmlns:a16="http://schemas.microsoft.com/office/drawing/2014/main" id="{8290A0B2-2550-E74B-876A-99E379A68157}"/>
              </a:ext>
            </a:extLst>
          </p:cNvPr>
          <p:cNvCxnSpPr/>
          <p:nvPr/>
        </p:nvCxnSpPr>
        <p:spPr>
          <a:xfrm>
            <a:off x="1651819" y="5133116"/>
            <a:ext cx="228108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E6F92DAE-E12D-A341-977D-892CFF2AD773}"/>
              </a:ext>
            </a:extLst>
          </p:cNvPr>
          <p:cNvCxnSpPr/>
          <p:nvPr/>
        </p:nvCxnSpPr>
        <p:spPr>
          <a:xfrm>
            <a:off x="4955458" y="5133116"/>
            <a:ext cx="228108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367543D7-EB48-0640-9722-847CB50B94CC}"/>
              </a:ext>
            </a:extLst>
          </p:cNvPr>
          <p:cNvCxnSpPr/>
          <p:nvPr/>
        </p:nvCxnSpPr>
        <p:spPr>
          <a:xfrm>
            <a:off x="8303341" y="5042930"/>
            <a:ext cx="2281084"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aphicFrame>
        <p:nvGraphicFramePr>
          <p:cNvPr id="8" name="Chart 7">
            <a:extLst>
              <a:ext uri="{FF2B5EF4-FFF2-40B4-BE49-F238E27FC236}">
                <a16:creationId xmlns:a16="http://schemas.microsoft.com/office/drawing/2014/main" id="{B365C641-480A-FF97-562D-88234CAC7126}"/>
              </a:ext>
            </a:extLst>
          </p:cNvPr>
          <p:cNvGraphicFramePr>
            <a:graphicFrameLocks/>
          </p:cNvGraphicFramePr>
          <p:nvPr>
            <p:extLst>
              <p:ext uri="{D42A27DB-BD31-4B8C-83A1-F6EECF244321}">
                <p14:modId xmlns:p14="http://schemas.microsoft.com/office/powerpoint/2010/main" val="1366419006"/>
              </p:ext>
            </p:extLst>
          </p:nvPr>
        </p:nvGraphicFramePr>
        <p:xfrm>
          <a:off x="2554007" y="1214488"/>
          <a:ext cx="7339801" cy="2879969"/>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32774588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17" name="Rectangle 16">
            <a:extLst>
              <a:ext uri="{FF2B5EF4-FFF2-40B4-BE49-F238E27FC236}">
                <a16:creationId xmlns:a16="http://schemas.microsoft.com/office/drawing/2014/main" id="{292FF896-6919-F945-A068-01E14A9258C5}"/>
              </a:ext>
            </a:extLst>
          </p:cNvPr>
          <p:cNvSpPr/>
          <p:nvPr/>
        </p:nvSpPr>
        <p:spPr>
          <a:xfrm>
            <a:off x="0" y="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44BA01E6-2549-984C-891A-2FF8DE67E9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B6076E1-949F-3C42-A695-2878F68082ED}"/>
              </a:ext>
            </a:extLst>
          </p:cNvPr>
          <p:cNvSpPr txBox="1"/>
          <p:nvPr/>
        </p:nvSpPr>
        <p:spPr>
          <a:xfrm>
            <a:off x="418617" y="745152"/>
            <a:ext cx="11111476" cy="615553"/>
          </a:xfrm>
          <a:prstGeom prst="rect">
            <a:avLst/>
          </a:prstGeom>
          <a:noFill/>
        </p:spPr>
        <p:txBody>
          <a:bodyPr wrap="square" rtlCol="0">
            <a:spAutoFit/>
          </a:bodyPr>
          <a:lstStyle/>
          <a:p>
            <a:r>
              <a:rPr lang="en-US" sz="3400" b="1" dirty="0">
                <a:latin typeface="Poppins" pitchFamily="2" charset="77"/>
                <a:cs typeface="Poppins" pitchFamily="2" charset="77"/>
              </a:rPr>
              <a:t>We’re gaining awareness with target audience. </a:t>
            </a:r>
          </a:p>
        </p:txBody>
      </p:sp>
      <p:pic>
        <p:nvPicPr>
          <p:cNvPr id="24" name="Picture 23">
            <a:extLst>
              <a:ext uri="{FF2B5EF4-FFF2-40B4-BE49-F238E27FC236}">
                <a16:creationId xmlns:a16="http://schemas.microsoft.com/office/drawing/2014/main" id="{2ED23778-EEEF-6844-BDF3-C3FAB455D901}"/>
              </a:ext>
            </a:extLst>
          </p:cNvPr>
          <p:cNvPicPr>
            <a:picLocks noChangeAspect="1"/>
          </p:cNvPicPr>
          <p:nvPr/>
        </p:nvPicPr>
        <p:blipFill>
          <a:blip r:embed="rId4"/>
          <a:stretch>
            <a:fillRect/>
          </a:stretch>
        </p:blipFill>
        <p:spPr>
          <a:xfrm>
            <a:off x="595044" y="1492697"/>
            <a:ext cx="10935049" cy="2132711"/>
          </a:xfrm>
          <a:prstGeom prst="rect">
            <a:avLst/>
          </a:prstGeom>
        </p:spPr>
      </p:pic>
      <p:sp>
        <p:nvSpPr>
          <p:cNvPr id="26" name="TextBox 25">
            <a:extLst>
              <a:ext uri="{FF2B5EF4-FFF2-40B4-BE49-F238E27FC236}">
                <a16:creationId xmlns:a16="http://schemas.microsoft.com/office/drawing/2014/main" id="{560500A1-F434-AD45-9CEA-223EBD00D611}"/>
              </a:ext>
            </a:extLst>
          </p:cNvPr>
          <p:cNvSpPr txBox="1"/>
          <p:nvPr/>
        </p:nvSpPr>
        <p:spPr>
          <a:xfrm>
            <a:off x="418617" y="3982669"/>
            <a:ext cx="3262132" cy="2062103"/>
          </a:xfrm>
          <a:prstGeom prst="rect">
            <a:avLst/>
          </a:prstGeom>
          <a:noFill/>
        </p:spPr>
        <p:txBody>
          <a:bodyPr wrap="square" rtlCol="0">
            <a:spAutoFit/>
          </a:bodyPr>
          <a:lstStyle/>
          <a:p>
            <a:r>
              <a:rPr lang="en-US" sz="3200" dirty="0">
                <a:latin typeface="Poppins" pitchFamily="2" charset="77"/>
                <a:cs typeface="Poppins" pitchFamily="2" charset="77"/>
              </a:rPr>
              <a:t>And gaining relevance via key category  influencers. </a:t>
            </a:r>
          </a:p>
        </p:txBody>
      </p:sp>
      <p:pic>
        <p:nvPicPr>
          <p:cNvPr id="6" name="Picture 5" descr="A collage of men wearing hats&#10;&#10;Description automatically generated">
            <a:extLst>
              <a:ext uri="{FF2B5EF4-FFF2-40B4-BE49-F238E27FC236}">
                <a16:creationId xmlns:a16="http://schemas.microsoft.com/office/drawing/2014/main" id="{F05D19F3-9CA4-162E-AD51-446C5766316D}"/>
              </a:ext>
            </a:extLst>
          </p:cNvPr>
          <p:cNvPicPr>
            <a:picLocks noChangeAspect="1"/>
          </p:cNvPicPr>
          <p:nvPr/>
        </p:nvPicPr>
        <p:blipFill>
          <a:blip r:embed="rId5"/>
          <a:stretch>
            <a:fillRect/>
          </a:stretch>
        </p:blipFill>
        <p:spPr>
          <a:xfrm>
            <a:off x="3507709" y="3625408"/>
            <a:ext cx="8022384" cy="3107082"/>
          </a:xfrm>
          <a:prstGeom prst="rect">
            <a:avLst/>
          </a:prstGeom>
        </p:spPr>
      </p:pic>
    </p:spTree>
    <p:extLst>
      <p:ext uri="{BB962C8B-B14F-4D97-AF65-F5344CB8AC3E}">
        <p14:creationId xmlns:p14="http://schemas.microsoft.com/office/powerpoint/2010/main" val="31465606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46;p6">
            <a:extLst>
              <a:ext uri="{FF2B5EF4-FFF2-40B4-BE49-F238E27FC236}">
                <a16:creationId xmlns:a16="http://schemas.microsoft.com/office/drawing/2014/main" id="{107A3952-4D20-7A42-A161-F72B4ED991B4}"/>
              </a:ext>
            </a:extLst>
          </p:cNvPr>
          <p:cNvSpPr/>
          <p:nvPr/>
        </p:nvSpPr>
        <p:spPr>
          <a:xfrm>
            <a:off x="-7248" y="6482159"/>
            <a:ext cx="12192000" cy="388620"/>
          </a:xfrm>
          <a:prstGeom prst="rect">
            <a:avLst/>
          </a:prstGeom>
          <a:solidFill>
            <a:srgbClr val="282828"/>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Montserrat" pitchFamily="2" charset="77"/>
              <a:ea typeface="Poppins"/>
              <a:cs typeface="Poppins" pitchFamily="2" charset="77"/>
              <a:sym typeface="Poppins"/>
            </a:endParaRPr>
          </a:p>
        </p:txBody>
      </p:sp>
      <p:pic>
        <p:nvPicPr>
          <p:cNvPr id="5" name="Google Shape;247;p6" descr="Palm Golf Co. Logo">
            <a:extLst>
              <a:ext uri="{FF2B5EF4-FFF2-40B4-BE49-F238E27FC236}">
                <a16:creationId xmlns:a16="http://schemas.microsoft.com/office/drawing/2014/main" id="{AB45B525-218C-8D48-A9AA-69CEF35A1496}"/>
              </a:ext>
            </a:extLst>
          </p:cNvPr>
          <p:cNvPicPr preferRelativeResize="0"/>
          <p:nvPr/>
        </p:nvPicPr>
        <p:blipFill rotWithShape="1">
          <a:blip r:embed="rId2">
            <a:alphaModFix/>
          </a:blip>
          <a:srcRect/>
          <a:stretch/>
        </p:blipFill>
        <p:spPr>
          <a:xfrm>
            <a:off x="10857604" y="6516449"/>
            <a:ext cx="1097072" cy="331887"/>
          </a:xfrm>
          <a:prstGeom prst="rect">
            <a:avLst/>
          </a:prstGeom>
          <a:noFill/>
          <a:ln>
            <a:noFill/>
          </a:ln>
        </p:spPr>
      </p:pic>
      <p:pic>
        <p:nvPicPr>
          <p:cNvPr id="6" name="Picture 5" descr="A collage of a person wearing a hat and a surfboard&#10;&#10;Description automatically generated">
            <a:extLst>
              <a:ext uri="{FF2B5EF4-FFF2-40B4-BE49-F238E27FC236}">
                <a16:creationId xmlns:a16="http://schemas.microsoft.com/office/drawing/2014/main" id="{4712682D-6508-BE86-A533-AD982DD436C1}"/>
              </a:ext>
            </a:extLst>
          </p:cNvPr>
          <p:cNvPicPr>
            <a:picLocks noChangeAspect="1"/>
          </p:cNvPicPr>
          <p:nvPr/>
        </p:nvPicPr>
        <p:blipFill rotWithShape="1">
          <a:blip r:embed="rId3"/>
          <a:srcRect t="5678" r="714" b="92"/>
          <a:stretch/>
        </p:blipFill>
        <p:spPr>
          <a:xfrm>
            <a:off x="-6145" y="28125"/>
            <a:ext cx="12192010" cy="6457686"/>
          </a:xfrm>
          <a:prstGeom prst="rect">
            <a:avLst/>
          </a:prstGeom>
        </p:spPr>
      </p:pic>
    </p:spTree>
    <p:extLst>
      <p:ext uri="{BB962C8B-B14F-4D97-AF65-F5344CB8AC3E}">
        <p14:creationId xmlns:p14="http://schemas.microsoft.com/office/powerpoint/2010/main" val="32905240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46;p6">
            <a:extLst>
              <a:ext uri="{FF2B5EF4-FFF2-40B4-BE49-F238E27FC236}">
                <a16:creationId xmlns:a16="http://schemas.microsoft.com/office/drawing/2014/main" id="{107A3952-4D20-7A42-A161-F72B4ED991B4}"/>
              </a:ext>
            </a:extLst>
          </p:cNvPr>
          <p:cNvSpPr/>
          <p:nvPr/>
        </p:nvSpPr>
        <p:spPr>
          <a:xfrm>
            <a:off x="-7248" y="6482159"/>
            <a:ext cx="12192000" cy="388620"/>
          </a:xfrm>
          <a:prstGeom prst="rect">
            <a:avLst/>
          </a:prstGeom>
          <a:solidFill>
            <a:srgbClr val="282828"/>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Montserrat" pitchFamily="2" charset="77"/>
              <a:ea typeface="Poppins"/>
              <a:cs typeface="Poppins" pitchFamily="2" charset="77"/>
              <a:sym typeface="Poppins"/>
            </a:endParaRPr>
          </a:p>
        </p:txBody>
      </p:sp>
      <p:pic>
        <p:nvPicPr>
          <p:cNvPr id="5" name="Google Shape;247;p6" descr="Palm Golf Co. Logo">
            <a:extLst>
              <a:ext uri="{FF2B5EF4-FFF2-40B4-BE49-F238E27FC236}">
                <a16:creationId xmlns:a16="http://schemas.microsoft.com/office/drawing/2014/main" id="{AB45B525-218C-8D48-A9AA-69CEF35A1496}"/>
              </a:ext>
            </a:extLst>
          </p:cNvPr>
          <p:cNvPicPr preferRelativeResize="0"/>
          <p:nvPr/>
        </p:nvPicPr>
        <p:blipFill rotWithShape="1">
          <a:blip r:embed="rId2">
            <a:alphaModFix/>
          </a:blip>
          <a:srcRect/>
          <a:stretch/>
        </p:blipFill>
        <p:spPr>
          <a:xfrm>
            <a:off x="10857604" y="6516449"/>
            <a:ext cx="1097072" cy="331887"/>
          </a:xfrm>
          <a:prstGeom prst="rect">
            <a:avLst/>
          </a:prstGeom>
          <a:noFill/>
          <a:ln>
            <a:noFill/>
          </a:ln>
        </p:spPr>
      </p:pic>
      <p:sp>
        <p:nvSpPr>
          <p:cNvPr id="11" name="TextBox 10">
            <a:extLst>
              <a:ext uri="{FF2B5EF4-FFF2-40B4-BE49-F238E27FC236}">
                <a16:creationId xmlns:a16="http://schemas.microsoft.com/office/drawing/2014/main" id="{3C1087D9-6759-4D44-99CB-8BF411530910}"/>
              </a:ext>
            </a:extLst>
          </p:cNvPr>
          <p:cNvSpPr txBox="1"/>
          <p:nvPr/>
        </p:nvSpPr>
        <p:spPr>
          <a:xfrm>
            <a:off x="278250" y="331300"/>
            <a:ext cx="11676426" cy="1477328"/>
          </a:xfrm>
          <a:prstGeom prst="rect">
            <a:avLst/>
          </a:prstGeom>
          <a:noFill/>
        </p:spPr>
        <p:txBody>
          <a:bodyPr wrap="square" rtlCol="0">
            <a:spAutoFit/>
          </a:bodyPr>
          <a:lstStyle/>
          <a:p>
            <a:r>
              <a:rPr lang="en-US" sz="4000" b="1" dirty="0">
                <a:latin typeface="Poppins" pitchFamily="2" charset="77"/>
                <a:cs typeface="Poppins" pitchFamily="2" charset="77"/>
              </a:rPr>
              <a:t>The earned media is growing. </a:t>
            </a:r>
          </a:p>
          <a:p>
            <a:r>
              <a:rPr lang="en-US" sz="2400" dirty="0">
                <a:latin typeface="Poppins" pitchFamily="2" charset="77"/>
                <a:cs typeface="Poppins" pitchFamily="2" charset="77"/>
              </a:rPr>
              <a:t>Our roster of partner brands underscores the relevance Palm carries with our consumers, partners, and within the industry.  </a:t>
            </a:r>
          </a:p>
        </p:txBody>
      </p:sp>
      <p:pic>
        <p:nvPicPr>
          <p:cNvPr id="13" name="Picture 12">
            <a:extLst>
              <a:ext uri="{FF2B5EF4-FFF2-40B4-BE49-F238E27FC236}">
                <a16:creationId xmlns:a16="http://schemas.microsoft.com/office/drawing/2014/main" id="{F31F9596-DDC0-C94D-A0F8-C0E52702A3E8}"/>
              </a:ext>
            </a:extLst>
          </p:cNvPr>
          <p:cNvPicPr>
            <a:picLocks noChangeAspect="1"/>
          </p:cNvPicPr>
          <p:nvPr/>
        </p:nvPicPr>
        <p:blipFill>
          <a:blip r:embed="rId3"/>
          <a:stretch>
            <a:fillRect/>
          </a:stretch>
        </p:blipFill>
        <p:spPr>
          <a:xfrm>
            <a:off x="1769388" y="2621526"/>
            <a:ext cx="1537981" cy="278865"/>
          </a:xfrm>
          <a:prstGeom prst="rect">
            <a:avLst/>
          </a:prstGeom>
        </p:spPr>
      </p:pic>
      <p:pic>
        <p:nvPicPr>
          <p:cNvPr id="15" name="Picture 14">
            <a:extLst>
              <a:ext uri="{FF2B5EF4-FFF2-40B4-BE49-F238E27FC236}">
                <a16:creationId xmlns:a16="http://schemas.microsoft.com/office/drawing/2014/main" id="{F7C182AF-58AD-334C-90A1-F69D093AD5F6}"/>
              </a:ext>
            </a:extLst>
          </p:cNvPr>
          <p:cNvPicPr>
            <a:picLocks noChangeAspect="1"/>
          </p:cNvPicPr>
          <p:nvPr/>
        </p:nvPicPr>
        <p:blipFill>
          <a:blip r:embed="rId4"/>
          <a:stretch>
            <a:fillRect/>
          </a:stretch>
        </p:blipFill>
        <p:spPr>
          <a:xfrm>
            <a:off x="1250119" y="3052677"/>
            <a:ext cx="1787527" cy="1051488"/>
          </a:xfrm>
          <a:prstGeom prst="rect">
            <a:avLst/>
          </a:prstGeom>
        </p:spPr>
      </p:pic>
      <p:pic>
        <p:nvPicPr>
          <p:cNvPr id="17" name="Picture 16">
            <a:extLst>
              <a:ext uri="{FF2B5EF4-FFF2-40B4-BE49-F238E27FC236}">
                <a16:creationId xmlns:a16="http://schemas.microsoft.com/office/drawing/2014/main" id="{DA66C66B-E3EB-3040-803B-C1E2072731BB}"/>
              </a:ext>
            </a:extLst>
          </p:cNvPr>
          <p:cNvPicPr>
            <a:picLocks noChangeAspect="1"/>
          </p:cNvPicPr>
          <p:nvPr/>
        </p:nvPicPr>
        <p:blipFill>
          <a:blip r:embed="rId5"/>
          <a:stretch>
            <a:fillRect/>
          </a:stretch>
        </p:blipFill>
        <p:spPr>
          <a:xfrm>
            <a:off x="9859791" y="2645827"/>
            <a:ext cx="1839273" cy="702325"/>
          </a:xfrm>
          <a:prstGeom prst="rect">
            <a:avLst/>
          </a:prstGeom>
        </p:spPr>
      </p:pic>
      <p:pic>
        <p:nvPicPr>
          <p:cNvPr id="20" name="Picture 19">
            <a:extLst>
              <a:ext uri="{FF2B5EF4-FFF2-40B4-BE49-F238E27FC236}">
                <a16:creationId xmlns:a16="http://schemas.microsoft.com/office/drawing/2014/main" id="{AB428B7E-65BE-6D47-AC73-C54107B68FF0}"/>
              </a:ext>
            </a:extLst>
          </p:cNvPr>
          <p:cNvPicPr>
            <a:picLocks noChangeAspect="1"/>
          </p:cNvPicPr>
          <p:nvPr/>
        </p:nvPicPr>
        <p:blipFill>
          <a:blip r:embed="rId6"/>
          <a:stretch>
            <a:fillRect/>
          </a:stretch>
        </p:blipFill>
        <p:spPr>
          <a:xfrm>
            <a:off x="70379" y="3822578"/>
            <a:ext cx="1065264" cy="873517"/>
          </a:xfrm>
          <a:prstGeom prst="rect">
            <a:avLst/>
          </a:prstGeom>
        </p:spPr>
      </p:pic>
      <p:pic>
        <p:nvPicPr>
          <p:cNvPr id="21" name="Picture 20">
            <a:extLst>
              <a:ext uri="{FF2B5EF4-FFF2-40B4-BE49-F238E27FC236}">
                <a16:creationId xmlns:a16="http://schemas.microsoft.com/office/drawing/2014/main" id="{3066A21D-C9CF-5647-AD94-57302FC79807}"/>
              </a:ext>
            </a:extLst>
          </p:cNvPr>
          <p:cNvPicPr>
            <a:picLocks noChangeAspect="1"/>
          </p:cNvPicPr>
          <p:nvPr/>
        </p:nvPicPr>
        <p:blipFill>
          <a:blip r:embed="rId7"/>
          <a:stretch>
            <a:fillRect/>
          </a:stretch>
        </p:blipFill>
        <p:spPr>
          <a:xfrm>
            <a:off x="3087957" y="4463321"/>
            <a:ext cx="886469" cy="950706"/>
          </a:xfrm>
          <a:prstGeom prst="rect">
            <a:avLst/>
          </a:prstGeom>
        </p:spPr>
      </p:pic>
      <p:pic>
        <p:nvPicPr>
          <p:cNvPr id="22" name="Picture 21">
            <a:extLst>
              <a:ext uri="{FF2B5EF4-FFF2-40B4-BE49-F238E27FC236}">
                <a16:creationId xmlns:a16="http://schemas.microsoft.com/office/drawing/2014/main" id="{D03B691C-9E34-3344-A4CC-DB8C3534637F}"/>
              </a:ext>
            </a:extLst>
          </p:cNvPr>
          <p:cNvPicPr>
            <a:picLocks noChangeAspect="1"/>
          </p:cNvPicPr>
          <p:nvPr/>
        </p:nvPicPr>
        <p:blipFill>
          <a:blip r:embed="rId8"/>
          <a:stretch>
            <a:fillRect/>
          </a:stretch>
        </p:blipFill>
        <p:spPr>
          <a:xfrm>
            <a:off x="6721046" y="1744321"/>
            <a:ext cx="2883135" cy="624679"/>
          </a:xfrm>
          <a:prstGeom prst="rect">
            <a:avLst/>
          </a:prstGeom>
        </p:spPr>
      </p:pic>
      <p:pic>
        <p:nvPicPr>
          <p:cNvPr id="23" name="Picture 22">
            <a:extLst>
              <a:ext uri="{FF2B5EF4-FFF2-40B4-BE49-F238E27FC236}">
                <a16:creationId xmlns:a16="http://schemas.microsoft.com/office/drawing/2014/main" id="{95F9128D-F49A-BE4F-816B-B2BAE8F5FC1D}"/>
              </a:ext>
            </a:extLst>
          </p:cNvPr>
          <p:cNvPicPr>
            <a:picLocks noChangeAspect="1"/>
          </p:cNvPicPr>
          <p:nvPr/>
        </p:nvPicPr>
        <p:blipFill>
          <a:blip r:embed="rId9"/>
          <a:stretch>
            <a:fillRect/>
          </a:stretch>
        </p:blipFill>
        <p:spPr>
          <a:xfrm>
            <a:off x="4494984" y="4461005"/>
            <a:ext cx="2250595" cy="725999"/>
          </a:xfrm>
          <a:prstGeom prst="rect">
            <a:avLst/>
          </a:prstGeom>
        </p:spPr>
      </p:pic>
      <p:pic>
        <p:nvPicPr>
          <p:cNvPr id="25" name="Picture 24">
            <a:extLst>
              <a:ext uri="{FF2B5EF4-FFF2-40B4-BE49-F238E27FC236}">
                <a16:creationId xmlns:a16="http://schemas.microsoft.com/office/drawing/2014/main" id="{77134694-64F9-F14F-A639-FFB8A6A03086}"/>
              </a:ext>
            </a:extLst>
          </p:cNvPr>
          <p:cNvPicPr>
            <a:picLocks noChangeAspect="1"/>
          </p:cNvPicPr>
          <p:nvPr/>
        </p:nvPicPr>
        <p:blipFill>
          <a:blip r:embed="rId10"/>
          <a:stretch>
            <a:fillRect/>
          </a:stretch>
        </p:blipFill>
        <p:spPr>
          <a:xfrm>
            <a:off x="508379" y="1759982"/>
            <a:ext cx="1030880" cy="926846"/>
          </a:xfrm>
          <a:prstGeom prst="rect">
            <a:avLst/>
          </a:prstGeom>
        </p:spPr>
      </p:pic>
      <p:pic>
        <p:nvPicPr>
          <p:cNvPr id="28" name="Picture 27">
            <a:extLst>
              <a:ext uri="{FF2B5EF4-FFF2-40B4-BE49-F238E27FC236}">
                <a16:creationId xmlns:a16="http://schemas.microsoft.com/office/drawing/2014/main" id="{E6BCCE1E-B1DD-DD42-B511-52E5D3A8C5AC}"/>
              </a:ext>
            </a:extLst>
          </p:cNvPr>
          <p:cNvPicPr>
            <a:picLocks noChangeAspect="1"/>
          </p:cNvPicPr>
          <p:nvPr/>
        </p:nvPicPr>
        <p:blipFill>
          <a:blip r:embed="rId11"/>
          <a:stretch>
            <a:fillRect/>
          </a:stretch>
        </p:blipFill>
        <p:spPr>
          <a:xfrm>
            <a:off x="149185" y="2909991"/>
            <a:ext cx="1100934" cy="821592"/>
          </a:xfrm>
          <a:prstGeom prst="rect">
            <a:avLst/>
          </a:prstGeom>
        </p:spPr>
      </p:pic>
      <p:pic>
        <p:nvPicPr>
          <p:cNvPr id="29" name="Picture 28">
            <a:extLst>
              <a:ext uri="{FF2B5EF4-FFF2-40B4-BE49-F238E27FC236}">
                <a16:creationId xmlns:a16="http://schemas.microsoft.com/office/drawing/2014/main" id="{179B332D-43B8-F542-880D-9E08911D8D4C}"/>
              </a:ext>
            </a:extLst>
          </p:cNvPr>
          <p:cNvPicPr>
            <a:picLocks noChangeAspect="1"/>
          </p:cNvPicPr>
          <p:nvPr/>
        </p:nvPicPr>
        <p:blipFill>
          <a:blip r:embed="rId12"/>
          <a:stretch>
            <a:fillRect/>
          </a:stretch>
        </p:blipFill>
        <p:spPr>
          <a:xfrm>
            <a:off x="2853502" y="3257814"/>
            <a:ext cx="3344923" cy="1105724"/>
          </a:xfrm>
          <a:prstGeom prst="rect">
            <a:avLst/>
          </a:prstGeom>
        </p:spPr>
      </p:pic>
      <p:pic>
        <p:nvPicPr>
          <p:cNvPr id="30" name="Picture 29">
            <a:extLst>
              <a:ext uri="{FF2B5EF4-FFF2-40B4-BE49-F238E27FC236}">
                <a16:creationId xmlns:a16="http://schemas.microsoft.com/office/drawing/2014/main" id="{568A912F-FCB2-4949-85C6-101911F5C825}"/>
              </a:ext>
            </a:extLst>
          </p:cNvPr>
          <p:cNvPicPr>
            <a:picLocks noChangeAspect="1"/>
          </p:cNvPicPr>
          <p:nvPr/>
        </p:nvPicPr>
        <p:blipFill>
          <a:blip r:embed="rId13"/>
          <a:stretch>
            <a:fillRect/>
          </a:stretch>
        </p:blipFill>
        <p:spPr>
          <a:xfrm>
            <a:off x="9398284" y="4943060"/>
            <a:ext cx="1671781" cy="412811"/>
          </a:xfrm>
          <a:prstGeom prst="rect">
            <a:avLst/>
          </a:prstGeom>
        </p:spPr>
      </p:pic>
      <p:pic>
        <p:nvPicPr>
          <p:cNvPr id="32" name="Picture 31">
            <a:extLst>
              <a:ext uri="{FF2B5EF4-FFF2-40B4-BE49-F238E27FC236}">
                <a16:creationId xmlns:a16="http://schemas.microsoft.com/office/drawing/2014/main" id="{E272A5FB-EC52-7241-BC7F-8915D494672A}"/>
              </a:ext>
            </a:extLst>
          </p:cNvPr>
          <p:cNvPicPr>
            <a:picLocks noChangeAspect="1"/>
          </p:cNvPicPr>
          <p:nvPr/>
        </p:nvPicPr>
        <p:blipFill>
          <a:blip r:embed="rId14"/>
          <a:stretch>
            <a:fillRect/>
          </a:stretch>
        </p:blipFill>
        <p:spPr>
          <a:xfrm>
            <a:off x="9741303" y="5488110"/>
            <a:ext cx="2076247" cy="517277"/>
          </a:xfrm>
          <a:prstGeom prst="rect">
            <a:avLst/>
          </a:prstGeom>
        </p:spPr>
      </p:pic>
      <p:pic>
        <p:nvPicPr>
          <p:cNvPr id="3" name="Picture 2">
            <a:extLst>
              <a:ext uri="{FF2B5EF4-FFF2-40B4-BE49-F238E27FC236}">
                <a16:creationId xmlns:a16="http://schemas.microsoft.com/office/drawing/2014/main" id="{6BC030F9-AF64-1130-9A97-46A7DB05197C}"/>
              </a:ext>
            </a:extLst>
          </p:cNvPr>
          <p:cNvPicPr>
            <a:picLocks noChangeAspect="1"/>
          </p:cNvPicPr>
          <p:nvPr/>
        </p:nvPicPr>
        <p:blipFill>
          <a:blip r:embed="rId15"/>
          <a:stretch>
            <a:fillRect/>
          </a:stretch>
        </p:blipFill>
        <p:spPr>
          <a:xfrm>
            <a:off x="1936986" y="1885878"/>
            <a:ext cx="2133898" cy="514422"/>
          </a:xfrm>
          <a:prstGeom prst="rect">
            <a:avLst/>
          </a:prstGeom>
        </p:spPr>
      </p:pic>
      <p:pic>
        <p:nvPicPr>
          <p:cNvPr id="9" name="Picture 8">
            <a:extLst>
              <a:ext uri="{FF2B5EF4-FFF2-40B4-BE49-F238E27FC236}">
                <a16:creationId xmlns:a16="http://schemas.microsoft.com/office/drawing/2014/main" id="{D2A5CEDE-9931-E62E-7FEA-C3C0BBB09D3E}"/>
              </a:ext>
            </a:extLst>
          </p:cNvPr>
          <p:cNvPicPr>
            <a:picLocks noChangeAspect="1"/>
          </p:cNvPicPr>
          <p:nvPr/>
        </p:nvPicPr>
        <p:blipFill>
          <a:blip r:embed="rId16"/>
          <a:stretch>
            <a:fillRect/>
          </a:stretch>
        </p:blipFill>
        <p:spPr>
          <a:xfrm>
            <a:off x="293671" y="5091614"/>
            <a:ext cx="1010849" cy="1010849"/>
          </a:xfrm>
          <a:prstGeom prst="rect">
            <a:avLst/>
          </a:prstGeom>
        </p:spPr>
      </p:pic>
      <p:pic>
        <p:nvPicPr>
          <p:cNvPr id="34" name="Picture 33">
            <a:extLst>
              <a:ext uri="{FF2B5EF4-FFF2-40B4-BE49-F238E27FC236}">
                <a16:creationId xmlns:a16="http://schemas.microsoft.com/office/drawing/2014/main" id="{95525AD9-040D-B913-76B1-0B1FA3BFC63D}"/>
              </a:ext>
            </a:extLst>
          </p:cNvPr>
          <p:cNvPicPr>
            <a:picLocks noChangeAspect="1"/>
          </p:cNvPicPr>
          <p:nvPr/>
        </p:nvPicPr>
        <p:blipFill>
          <a:blip r:embed="rId17"/>
          <a:stretch>
            <a:fillRect/>
          </a:stretch>
        </p:blipFill>
        <p:spPr>
          <a:xfrm>
            <a:off x="1722351" y="5550508"/>
            <a:ext cx="2537168" cy="658688"/>
          </a:xfrm>
          <a:prstGeom prst="rect">
            <a:avLst/>
          </a:prstGeom>
        </p:spPr>
      </p:pic>
      <p:pic>
        <p:nvPicPr>
          <p:cNvPr id="36" name="Picture 35">
            <a:extLst>
              <a:ext uri="{FF2B5EF4-FFF2-40B4-BE49-F238E27FC236}">
                <a16:creationId xmlns:a16="http://schemas.microsoft.com/office/drawing/2014/main" id="{A376268B-AFDA-2113-10DD-5848564A415B}"/>
              </a:ext>
            </a:extLst>
          </p:cNvPr>
          <p:cNvPicPr>
            <a:picLocks noChangeAspect="1"/>
          </p:cNvPicPr>
          <p:nvPr/>
        </p:nvPicPr>
        <p:blipFill>
          <a:blip r:embed="rId18"/>
          <a:stretch>
            <a:fillRect/>
          </a:stretch>
        </p:blipFill>
        <p:spPr>
          <a:xfrm>
            <a:off x="10127849" y="1686988"/>
            <a:ext cx="1213634" cy="758260"/>
          </a:xfrm>
          <a:prstGeom prst="rect">
            <a:avLst/>
          </a:prstGeom>
        </p:spPr>
      </p:pic>
      <p:pic>
        <p:nvPicPr>
          <p:cNvPr id="39" name="Picture 38">
            <a:extLst>
              <a:ext uri="{FF2B5EF4-FFF2-40B4-BE49-F238E27FC236}">
                <a16:creationId xmlns:a16="http://schemas.microsoft.com/office/drawing/2014/main" id="{1DC8E8E3-A37A-58A5-6233-93E229F4C800}"/>
              </a:ext>
            </a:extLst>
          </p:cNvPr>
          <p:cNvPicPr>
            <a:picLocks noChangeAspect="1"/>
          </p:cNvPicPr>
          <p:nvPr/>
        </p:nvPicPr>
        <p:blipFill>
          <a:blip r:embed="rId19"/>
          <a:stretch>
            <a:fillRect/>
          </a:stretch>
        </p:blipFill>
        <p:spPr>
          <a:xfrm>
            <a:off x="4870822" y="1725002"/>
            <a:ext cx="1559297" cy="663389"/>
          </a:xfrm>
          <a:prstGeom prst="rect">
            <a:avLst/>
          </a:prstGeom>
        </p:spPr>
      </p:pic>
      <p:pic>
        <p:nvPicPr>
          <p:cNvPr id="43" name="Picture 42">
            <a:extLst>
              <a:ext uri="{FF2B5EF4-FFF2-40B4-BE49-F238E27FC236}">
                <a16:creationId xmlns:a16="http://schemas.microsoft.com/office/drawing/2014/main" id="{B52FCB9A-2BE7-ED4C-A03C-59DB6E575DC9}"/>
              </a:ext>
            </a:extLst>
          </p:cNvPr>
          <p:cNvPicPr>
            <a:picLocks noChangeAspect="1"/>
          </p:cNvPicPr>
          <p:nvPr/>
        </p:nvPicPr>
        <p:blipFill>
          <a:blip r:embed="rId20"/>
          <a:stretch>
            <a:fillRect/>
          </a:stretch>
        </p:blipFill>
        <p:spPr>
          <a:xfrm>
            <a:off x="8044884" y="2756358"/>
            <a:ext cx="1268370" cy="1202195"/>
          </a:xfrm>
          <a:prstGeom prst="rect">
            <a:avLst/>
          </a:prstGeom>
        </p:spPr>
      </p:pic>
      <p:pic>
        <p:nvPicPr>
          <p:cNvPr id="6" name="Picture 5">
            <a:extLst>
              <a:ext uri="{FF2B5EF4-FFF2-40B4-BE49-F238E27FC236}">
                <a16:creationId xmlns:a16="http://schemas.microsoft.com/office/drawing/2014/main" id="{18EFF2A8-862A-9800-08B5-AB1FA80E730A}"/>
              </a:ext>
            </a:extLst>
          </p:cNvPr>
          <p:cNvPicPr>
            <a:picLocks noChangeAspect="1"/>
          </p:cNvPicPr>
          <p:nvPr/>
        </p:nvPicPr>
        <p:blipFill>
          <a:blip r:embed="rId21"/>
          <a:stretch>
            <a:fillRect/>
          </a:stretch>
        </p:blipFill>
        <p:spPr>
          <a:xfrm>
            <a:off x="7297417" y="5406343"/>
            <a:ext cx="1984003" cy="729654"/>
          </a:xfrm>
          <a:prstGeom prst="rect">
            <a:avLst/>
          </a:prstGeom>
        </p:spPr>
      </p:pic>
      <p:pic>
        <p:nvPicPr>
          <p:cNvPr id="10" name="Picture 9" descr="A logo of a company&#10;&#10;Description automatically generated">
            <a:extLst>
              <a:ext uri="{FF2B5EF4-FFF2-40B4-BE49-F238E27FC236}">
                <a16:creationId xmlns:a16="http://schemas.microsoft.com/office/drawing/2014/main" id="{8662E4E6-04C7-1A2D-DF6F-D94A48301A4F}"/>
              </a:ext>
            </a:extLst>
          </p:cNvPr>
          <p:cNvPicPr>
            <a:picLocks noChangeAspect="1"/>
          </p:cNvPicPr>
          <p:nvPr/>
        </p:nvPicPr>
        <p:blipFill>
          <a:blip r:embed="rId22"/>
          <a:stretch>
            <a:fillRect/>
          </a:stretch>
        </p:blipFill>
        <p:spPr>
          <a:xfrm>
            <a:off x="6177710" y="3342183"/>
            <a:ext cx="1485900" cy="863600"/>
          </a:xfrm>
          <a:prstGeom prst="rect">
            <a:avLst/>
          </a:prstGeom>
        </p:spPr>
      </p:pic>
      <p:pic>
        <p:nvPicPr>
          <p:cNvPr id="8" name="Picture 7">
            <a:extLst>
              <a:ext uri="{FF2B5EF4-FFF2-40B4-BE49-F238E27FC236}">
                <a16:creationId xmlns:a16="http://schemas.microsoft.com/office/drawing/2014/main" id="{3A6D0DB7-380A-F4E0-D7B4-62AFD85F4645}"/>
              </a:ext>
            </a:extLst>
          </p:cNvPr>
          <p:cNvPicPr>
            <a:picLocks noChangeAspect="1"/>
          </p:cNvPicPr>
          <p:nvPr/>
        </p:nvPicPr>
        <p:blipFill>
          <a:blip r:embed="rId23"/>
          <a:stretch>
            <a:fillRect/>
          </a:stretch>
        </p:blipFill>
        <p:spPr>
          <a:xfrm>
            <a:off x="4794893" y="5527730"/>
            <a:ext cx="2146300" cy="609600"/>
          </a:xfrm>
          <a:prstGeom prst="rect">
            <a:avLst/>
          </a:prstGeom>
        </p:spPr>
      </p:pic>
      <p:pic>
        <p:nvPicPr>
          <p:cNvPr id="12" name="Picture 11">
            <a:extLst>
              <a:ext uri="{FF2B5EF4-FFF2-40B4-BE49-F238E27FC236}">
                <a16:creationId xmlns:a16="http://schemas.microsoft.com/office/drawing/2014/main" id="{CEAE5F6A-4F37-AD10-3F10-A63C8FC43549}"/>
              </a:ext>
            </a:extLst>
          </p:cNvPr>
          <p:cNvPicPr>
            <a:picLocks noChangeAspect="1"/>
          </p:cNvPicPr>
          <p:nvPr/>
        </p:nvPicPr>
        <p:blipFill>
          <a:blip r:embed="rId24"/>
          <a:stretch>
            <a:fillRect/>
          </a:stretch>
        </p:blipFill>
        <p:spPr>
          <a:xfrm>
            <a:off x="4515367" y="2510300"/>
            <a:ext cx="2606288" cy="625157"/>
          </a:xfrm>
          <a:prstGeom prst="rect">
            <a:avLst/>
          </a:prstGeom>
        </p:spPr>
      </p:pic>
      <p:pic>
        <p:nvPicPr>
          <p:cNvPr id="16" name="Picture 15">
            <a:extLst>
              <a:ext uri="{FF2B5EF4-FFF2-40B4-BE49-F238E27FC236}">
                <a16:creationId xmlns:a16="http://schemas.microsoft.com/office/drawing/2014/main" id="{078949C8-5ED9-9436-0F35-F60C9B2BDC85}"/>
              </a:ext>
            </a:extLst>
          </p:cNvPr>
          <p:cNvPicPr>
            <a:picLocks noChangeAspect="1"/>
          </p:cNvPicPr>
          <p:nvPr/>
        </p:nvPicPr>
        <p:blipFill>
          <a:blip r:embed="rId25"/>
          <a:stretch>
            <a:fillRect/>
          </a:stretch>
        </p:blipFill>
        <p:spPr>
          <a:xfrm>
            <a:off x="10280496" y="3508407"/>
            <a:ext cx="1414644" cy="1313080"/>
          </a:xfrm>
          <a:prstGeom prst="rect">
            <a:avLst/>
          </a:prstGeom>
        </p:spPr>
      </p:pic>
      <p:pic>
        <p:nvPicPr>
          <p:cNvPr id="18" name="Picture 17">
            <a:extLst>
              <a:ext uri="{FF2B5EF4-FFF2-40B4-BE49-F238E27FC236}">
                <a16:creationId xmlns:a16="http://schemas.microsoft.com/office/drawing/2014/main" id="{26F17D5B-A4E7-1119-A95F-9529113407D3}"/>
              </a:ext>
            </a:extLst>
          </p:cNvPr>
          <p:cNvPicPr>
            <a:picLocks noChangeAspect="1"/>
          </p:cNvPicPr>
          <p:nvPr/>
        </p:nvPicPr>
        <p:blipFill>
          <a:blip r:embed="rId26"/>
          <a:stretch>
            <a:fillRect/>
          </a:stretch>
        </p:blipFill>
        <p:spPr>
          <a:xfrm>
            <a:off x="1165260" y="4268006"/>
            <a:ext cx="1513584" cy="659767"/>
          </a:xfrm>
          <a:prstGeom prst="rect">
            <a:avLst/>
          </a:prstGeom>
        </p:spPr>
      </p:pic>
      <p:pic>
        <p:nvPicPr>
          <p:cNvPr id="19" name="Picture 18">
            <a:extLst>
              <a:ext uri="{FF2B5EF4-FFF2-40B4-BE49-F238E27FC236}">
                <a16:creationId xmlns:a16="http://schemas.microsoft.com/office/drawing/2014/main" id="{272CB505-1EE8-B3A7-A992-E1A63C3C6131}"/>
              </a:ext>
            </a:extLst>
          </p:cNvPr>
          <p:cNvPicPr>
            <a:picLocks noChangeAspect="1"/>
          </p:cNvPicPr>
          <p:nvPr/>
        </p:nvPicPr>
        <p:blipFill>
          <a:blip r:embed="rId27"/>
          <a:stretch>
            <a:fillRect/>
          </a:stretch>
        </p:blipFill>
        <p:spPr>
          <a:xfrm>
            <a:off x="7322923" y="4223850"/>
            <a:ext cx="2590800" cy="685800"/>
          </a:xfrm>
          <a:prstGeom prst="rect">
            <a:avLst/>
          </a:prstGeom>
        </p:spPr>
      </p:pic>
    </p:spTree>
    <p:extLst>
      <p:ext uri="{BB962C8B-B14F-4D97-AF65-F5344CB8AC3E}">
        <p14:creationId xmlns:p14="http://schemas.microsoft.com/office/powerpoint/2010/main" val="31718312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55;g122946ae33d_0_0">
            <a:extLst>
              <a:ext uri="{FF2B5EF4-FFF2-40B4-BE49-F238E27FC236}">
                <a16:creationId xmlns:a16="http://schemas.microsoft.com/office/drawing/2014/main" id="{1374D4E5-C5ED-DA4F-9E96-8ADB933B6C5D}"/>
              </a:ext>
            </a:extLst>
          </p:cNvPr>
          <p:cNvSpPr txBox="1"/>
          <p:nvPr/>
        </p:nvSpPr>
        <p:spPr>
          <a:xfrm>
            <a:off x="396414" y="856588"/>
            <a:ext cx="3826390" cy="1477287"/>
          </a:xfrm>
          <a:prstGeom prst="rect">
            <a:avLst/>
          </a:prstGeom>
          <a:noFill/>
          <a:ln>
            <a:noFill/>
          </a:ln>
        </p:spPr>
        <p:txBody>
          <a:bodyPr spcFirstLastPara="1" wrap="square" lIns="121900" tIns="121900" rIns="121900" bIns="121900" anchor="t" anchorCtr="0">
            <a:spAutoFit/>
          </a:bodyPr>
          <a:lstStyle/>
          <a:p>
            <a:r>
              <a:rPr lang="en-US" sz="4000" b="1" i="0" dirty="0">
                <a:solidFill>
                  <a:srgbClr val="373F47"/>
                </a:solidFill>
                <a:effectLst/>
                <a:latin typeface="Poppins" pitchFamily="2" charset="77"/>
                <a:cs typeface="Poppins" pitchFamily="2" charset="77"/>
              </a:rPr>
              <a:t>Our Product Journey.</a:t>
            </a:r>
            <a:endParaRPr lang="en-US" sz="4000" b="1" dirty="0">
              <a:latin typeface="Poppins" pitchFamily="2" charset="77"/>
              <a:cs typeface="Poppins" pitchFamily="2" charset="77"/>
            </a:endParaRPr>
          </a:p>
        </p:txBody>
      </p:sp>
      <p:sp>
        <p:nvSpPr>
          <p:cNvPr id="3" name="Rectangle 2">
            <a:extLst>
              <a:ext uri="{FF2B5EF4-FFF2-40B4-BE49-F238E27FC236}">
                <a16:creationId xmlns:a16="http://schemas.microsoft.com/office/drawing/2014/main" id="{E657E43E-8BE4-024B-BE72-65069F669FFC}"/>
              </a:ext>
            </a:extLst>
          </p:cNvPr>
          <p:cNvSpPr/>
          <p:nvPr/>
        </p:nvSpPr>
        <p:spPr>
          <a:xfrm>
            <a:off x="0" y="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4" name="Picture 2" descr="Palm Golf Co. Logo">
            <a:extLst>
              <a:ext uri="{FF2B5EF4-FFF2-40B4-BE49-F238E27FC236}">
                <a16:creationId xmlns:a16="http://schemas.microsoft.com/office/drawing/2014/main" id="{FFED5797-9179-BA41-BDAF-4192FCACD0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7C4FED19-8CB9-D14B-AFFE-2D86241040F7}"/>
              </a:ext>
            </a:extLst>
          </p:cNvPr>
          <p:cNvSpPr txBox="1"/>
          <p:nvPr/>
        </p:nvSpPr>
        <p:spPr>
          <a:xfrm>
            <a:off x="396414" y="2191374"/>
            <a:ext cx="3737051" cy="4431983"/>
          </a:xfrm>
          <a:prstGeom prst="rect">
            <a:avLst/>
          </a:prstGeom>
          <a:noFill/>
        </p:spPr>
        <p:txBody>
          <a:bodyPr wrap="square" rtlCol="0">
            <a:spAutoFit/>
          </a:bodyPr>
          <a:lstStyle/>
          <a:p>
            <a:r>
              <a:rPr lang="en-US" sz="2400" dirty="0">
                <a:solidFill>
                  <a:srgbClr val="282828"/>
                </a:solidFill>
                <a:latin typeface="Poppins" pitchFamily="2" charset="77"/>
                <a:cs typeface="Poppins" pitchFamily="2" charset="77"/>
              </a:rPr>
              <a:t>Palm enables the lifestyle of golf. Our apparel and accessories are rooted in the game of golf but are worn by </a:t>
            </a:r>
            <a:r>
              <a:rPr lang="en-US" sz="2400" i="0" dirty="0">
                <a:solidFill>
                  <a:srgbClr val="282828"/>
                </a:solidFill>
                <a:latin typeface="Poppins" pitchFamily="2" charset="77"/>
                <a:cs typeface="Poppins" pitchFamily="2" charset="77"/>
              </a:rPr>
              <a:t>lovers of fun on </a:t>
            </a:r>
            <a:r>
              <a:rPr lang="en-US" sz="2400" dirty="0">
                <a:solidFill>
                  <a:srgbClr val="282828"/>
                </a:solidFill>
                <a:latin typeface="Poppins" pitchFamily="2" charset="77"/>
                <a:cs typeface="Poppins" pitchFamily="2" charset="77"/>
              </a:rPr>
              <a:t>and off the course. </a:t>
            </a:r>
          </a:p>
          <a:p>
            <a:pPr marL="285750" indent="-285750">
              <a:buFont typeface="Arial" panose="020B0604020202020204" pitchFamily="34" charset="0"/>
              <a:buChar char="•"/>
            </a:pPr>
            <a:r>
              <a:rPr lang="en-US" sz="2400" dirty="0">
                <a:latin typeface="Poppins" pitchFamily="2" charset="77"/>
                <a:cs typeface="Poppins" pitchFamily="2" charset="77"/>
              </a:rPr>
              <a:t>On course</a:t>
            </a:r>
          </a:p>
          <a:p>
            <a:pPr marL="285750" indent="-285750">
              <a:buFont typeface="Arial" panose="020B0604020202020204" pitchFamily="34" charset="0"/>
              <a:buChar char="•"/>
            </a:pPr>
            <a:r>
              <a:rPr lang="en-US" sz="2400" dirty="0">
                <a:latin typeface="Poppins" pitchFamily="2" charset="77"/>
                <a:cs typeface="Poppins" pitchFamily="2" charset="77"/>
              </a:rPr>
              <a:t>Off</a:t>
            </a:r>
          </a:p>
          <a:p>
            <a:pPr marL="285750" indent="-285750">
              <a:buFont typeface="Arial" panose="020B0604020202020204" pitchFamily="34" charset="0"/>
              <a:buChar char="•"/>
            </a:pPr>
            <a:r>
              <a:rPr lang="en-US" sz="2400" dirty="0">
                <a:latin typeface="Poppins" pitchFamily="2" charset="77"/>
                <a:cs typeface="Poppins" pitchFamily="2" charset="77"/>
              </a:rPr>
              <a:t>Lifestyle</a:t>
            </a:r>
          </a:p>
          <a:p>
            <a:endParaRPr lang="en-US" dirty="0">
              <a:latin typeface="Poppins" pitchFamily="2" charset="77"/>
              <a:cs typeface="Poppins" pitchFamily="2" charset="77"/>
            </a:endParaRPr>
          </a:p>
        </p:txBody>
      </p:sp>
      <p:pic>
        <p:nvPicPr>
          <p:cNvPr id="12" name="Picture 11">
            <a:extLst>
              <a:ext uri="{FF2B5EF4-FFF2-40B4-BE49-F238E27FC236}">
                <a16:creationId xmlns:a16="http://schemas.microsoft.com/office/drawing/2014/main" id="{7DA580E7-2181-4945-A204-F2EA2C626480}"/>
              </a:ext>
            </a:extLst>
          </p:cNvPr>
          <p:cNvPicPr>
            <a:picLocks noChangeAspect="1"/>
          </p:cNvPicPr>
          <p:nvPr/>
        </p:nvPicPr>
        <p:blipFill>
          <a:blip r:embed="rId3"/>
          <a:stretch>
            <a:fillRect/>
          </a:stretch>
        </p:blipFill>
        <p:spPr>
          <a:xfrm>
            <a:off x="4692652" y="400467"/>
            <a:ext cx="6172200" cy="5621965"/>
          </a:xfrm>
          <a:prstGeom prst="rect">
            <a:avLst/>
          </a:prstGeom>
        </p:spPr>
      </p:pic>
      <p:cxnSp>
        <p:nvCxnSpPr>
          <p:cNvPr id="6" name="Straight Connector 5">
            <a:extLst>
              <a:ext uri="{FF2B5EF4-FFF2-40B4-BE49-F238E27FC236}">
                <a16:creationId xmlns:a16="http://schemas.microsoft.com/office/drawing/2014/main" id="{0A3096BC-A2C3-E940-B0BB-0ACD3CBAEFAD}"/>
              </a:ext>
            </a:extLst>
          </p:cNvPr>
          <p:cNvCxnSpPr/>
          <p:nvPr/>
        </p:nvCxnSpPr>
        <p:spPr>
          <a:xfrm>
            <a:off x="4692652" y="697230"/>
            <a:ext cx="0" cy="5347645"/>
          </a:xfrm>
          <a:prstGeom prst="line">
            <a:avLst/>
          </a:prstGeom>
          <a:ln w="28575">
            <a:solidFill>
              <a:srgbClr val="282828"/>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AD56C49-B2B6-AF42-9336-FC1B668B578E}"/>
              </a:ext>
            </a:extLst>
          </p:cNvPr>
          <p:cNvCxnSpPr/>
          <p:nvPr/>
        </p:nvCxnSpPr>
        <p:spPr>
          <a:xfrm>
            <a:off x="4692652" y="6044875"/>
            <a:ext cx="5800088" cy="0"/>
          </a:xfrm>
          <a:prstGeom prst="line">
            <a:avLst/>
          </a:prstGeom>
          <a:ln w="28575">
            <a:solidFill>
              <a:srgbClr val="282828"/>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BAF0BA3-CD9F-934A-BF6A-DF2AF753801A}"/>
              </a:ext>
            </a:extLst>
          </p:cNvPr>
          <p:cNvSpPr txBox="1"/>
          <p:nvPr/>
        </p:nvSpPr>
        <p:spPr>
          <a:xfrm>
            <a:off x="4914899" y="5075379"/>
            <a:ext cx="857249" cy="646331"/>
          </a:xfrm>
          <a:prstGeom prst="rect">
            <a:avLst/>
          </a:prstGeom>
          <a:noFill/>
        </p:spPr>
        <p:txBody>
          <a:bodyPr wrap="square" rtlCol="0">
            <a:spAutoFit/>
          </a:bodyPr>
          <a:lstStyle/>
          <a:p>
            <a:r>
              <a:rPr lang="en-US">
                <a:solidFill>
                  <a:schemeClr val="bg1"/>
                </a:solidFill>
                <a:latin typeface="Poppins" pitchFamily="2" charset="77"/>
                <a:cs typeface="Poppins" pitchFamily="2" charset="77"/>
              </a:rPr>
              <a:t>The Glove</a:t>
            </a:r>
          </a:p>
        </p:txBody>
      </p:sp>
      <p:sp>
        <p:nvSpPr>
          <p:cNvPr id="18" name="TextBox 17">
            <a:extLst>
              <a:ext uri="{FF2B5EF4-FFF2-40B4-BE49-F238E27FC236}">
                <a16:creationId xmlns:a16="http://schemas.microsoft.com/office/drawing/2014/main" id="{2607CF9A-1842-764A-A672-4833DDC7D01D}"/>
              </a:ext>
            </a:extLst>
          </p:cNvPr>
          <p:cNvSpPr txBox="1"/>
          <p:nvPr/>
        </p:nvSpPr>
        <p:spPr>
          <a:xfrm>
            <a:off x="5618320" y="2935361"/>
            <a:ext cx="2007868" cy="646331"/>
          </a:xfrm>
          <a:prstGeom prst="rect">
            <a:avLst/>
          </a:prstGeom>
          <a:noFill/>
        </p:spPr>
        <p:txBody>
          <a:bodyPr wrap="square" rtlCol="0">
            <a:spAutoFit/>
          </a:bodyPr>
          <a:lstStyle/>
          <a:p>
            <a:r>
              <a:rPr lang="en-US" b="1" dirty="0">
                <a:latin typeface="Poppins" pitchFamily="2" charset="77"/>
                <a:cs typeface="Poppins" pitchFamily="2" charset="77"/>
              </a:rPr>
              <a:t>Men’s golf apparel</a:t>
            </a:r>
          </a:p>
        </p:txBody>
      </p:sp>
      <p:sp>
        <p:nvSpPr>
          <p:cNvPr id="19" name="TextBox 18">
            <a:extLst>
              <a:ext uri="{FF2B5EF4-FFF2-40B4-BE49-F238E27FC236}">
                <a16:creationId xmlns:a16="http://schemas.microsoft.com/office/drawing/2014/main" id="{FEAA066E-5BC3-9F42-84DC-8A5D37E087AF}"/>
              </a:ext>
            </a:extLst>
          </p:cNvPr>
          <p:cNvSpPr txBox="1"/>
          <p:nvPr/>
        </p:nvSpPr>
        <p:spPr>
          <a:xfrm>
            <a:off x="8096620" y="2010710"/>
            <a:ext cx="2007868" cy="646331"/>
          </a:xfrm>
          <a:prstGeom prst="rect">
            <a:avLst/>
          </a:prstGeom>
          <a:noFill/>
        </p:spPr>
        <p:txBody>
          <a:bodyPr wrap="square" rtlCol="0">
            <a:spAutoFit/>
          </a:bodyPr>
          <a:lstStyle/>
          <a:p>
            <a:r>
              <a:rPr lang="en-US" b="1" dirty="0">
                <a:latin typeface="Poppins" pitchFamily="2" charset="77"/>
                <a:cs typeface="Poppins" pitchFamily="2" charset="77"/>
              </a:rPr>
              <a:t>Men’s lifestyle apparel</a:t>
            </a:r>
          </a:p>
        </p:txBody>
      </p:sp>
      <p:sp>
        <p:nvSpPr>
          <p:cNvPr id="20" name="TextBox 19">
            <a:extLst>
              <a:ext uri="{FF2B5EF4-FFF2-40B4-BE49-F238E27FC236}">
                <a16:creationId xmlns:a16="http://schemas.microsoft.com/office/drawing/2014/main" id="{57F79057-10C6-9143-BFB5-FE7164448FB9}"/>
              </a:ext>
            </a:extLst>
          </p:cNvPr>
          <p:cNvSpPr txBox="1"/>
          <p:nvPr/>
        </p:nvSpPr>
        <p:spPr>
          <a:xfrm>
            <a:off x="6921796" y="3494209"/>
            <a:ext cx="2007868" cy="369332"/>
          </a:xfrm>
          <a:prstGeom prst="rect">
            <a:avLst/>
          </a:prstGeom>
          <a:noFill/>
        </p:spPr>
        <p:txBody>
          <a:bodyPr wrap="square" rtlCol="0">
            <a:spAutoFit/>
          </a:bodyPr>
          <a:lstStyle/>
          <a:p>
            <a:r>
              <a:rPr lang="en-US" b="1" dirty="0">
                <a:latin typeface="Poppins" pitchFamily="2" charset="77"/>
                <a:cs typeface="Poppins" pitchFamily="2" charset="77"/>
              </a:rPr>
              <a:t>Accessories</a:t>
            </a:r>
          </a:p>
        </p:txBody>
      </p:sp>
      <p:sp>
        <p:nvSpPr>
          <p:cNvPr id="22" name="TextBox 21">
            <a:extLst>
              <a:ext uri="{FF2B5EF4-FFF2-40B4-BE49-F238E27FC236}">
                <a16:creationId xmlns:a16="http://schemas.microsoft.com/office/drawing/2014/main" id="{4DF170C8-570E-2F4D-A5CD-DA70926E9087}"/>
              </a:ext>
            </a:extLst>
          </p:cNvPr>
          <p:cNvSpPr txBox="1"/>
          <p:nvPr/>
        </p:nvSpPr>
        <p:spPr>
          <a:xfrm>
            <a:off x="6821142" y="4382415"/>
            <a:ext cx="1266499" cy="646331"/>
          </a:xfrm>
          <a:prstGeom prst="rect">
            <a:avLst/>
          </a:prstGeom>
          <a:noFill/>
        </p:spPr>
        <p:txBody>
          <a:bodyPr wrap="square" rtlCol="0">
            <a:spAutoFit/>
          </a:bodyPr>
          <a:lstStyle/>
          <a:p>
            <a:r>
              <a:rPr lang="en-US" dirty="0">
                <a:solidFill>
                  <a:schemeClr val="bg1"/>
                </a:solidFill>
                <a:latin typeface="Poppins" pitchFamily="2" charset="77"/>
                <a:cs typeface="Poppins" pitchFamily="2" charset="77"/>
              </a:rPr>
              <a:t>Women’s glove</a:t>
            </a:r>
          </a:p>
        </p:txBody>
      </p:sp>
      <p:sp>
        <p:nvSpPr>
          <p:cNvPr id="23" name="TextBox 22">
            <a:extLst>
              <a:ext uri="{FF2B5EF4-FFF2-40B4-BE49-F238E27FC236}">
                <a16:creationId xmlns:a16="http://schemas.microsoft.com/office/drawing/2014/main" id="{07494982-5D7E-1949-8F16-B3489B3C5887}"/>
              </a:ext>
            </a:extLst>
          </p:cNvPr>
          <p:cNvSpPr txBox="1"/>
          <p:nvPr/>
        </p:nvSpPr>
        <p:spPr>
          <a:xfrm>
            <a:off x="8214655" y="622630"/>
            <a:ext cx="1771798" cy="646331"/>
          </a:xfrm>
          <a:prstGeom prst="rect">
            <a:avLst/>
          </a:prstGeom>
          <a:noFill/>
        </p:spPr>
        <p:txBody>
          <a:bodyPr wrap="square" rtlCol="0">
            <a:spAutoFit/>
          </a:bodyPr>
          <a:lstStyle/>
          <a:p>
            <a:r>
              <a:rPr lang="en-US" b="1" dirty="0">
                <a:latin typeface="Poppins" pitchFamily="2" charset="77"/>
                <a:cs typeface="Poppins" pitchFamily="2" charset="77"/>
              </a:rPr>
              <a:t>Women’s apparel</a:t>
            </a:r>
          </a:p>
        </p:txBody>
      </p:sp>
      <p:sp>
        <p:nvSpPr>
          <p:cNvPr id="25" name="TextBox 24">
            <a:extLst>
              <a:ext uri="{FF2B5EF4-FFF2-40B4-BE49-F238E27FC236}">
                <a16:creationId xmlns:a16="http://schemas.microsoft.com/office/drawing/2014/main" id="{6CF72787-585D-5E48-80AB-36CA074ECA34}"/>
              </a:ext>
            </a:extLst>
          </p:cNvPr>
          <p:cNvSpPr txBox="1"/>
          <p:nvPr/>
        </p:nvSpPr>
        <p:spPr>
          <a:xfrm>
            <a:off x="9750566" y="3970404"/>
            <a:ext cx="1771798" cy="369332"/>
          </a:xfrm>
          <a:prstGeom prst="rect">
            <a:avLst/>
          </a:prstGeom>
          <a:noFill/>
        </p:spPr>
        <p:txBody>
          <a:bodyPr wrap="square" rtlCol="0">
            <a:spAutoFit/>
          </a:bodyPr>
          <a:lstStyle/>
          <a:p>
            <a:r>
              <a:rPr lang="en-US" b="1" dirty="0">
                <a:latin typeface="Poppins" pitchFamily="2" charset="77"/>
                <a:cs typeface="Poppins" pitchFamily="2" charset="77"/>
              </a:rPr>
              <a:t>Youth</a:t>
            </a:r>
          </a:p>
        </p:txBody>
      </p:sp>
      <p:sp>
        <p:nvSpPr>
          <p:cNvPr id="26" name="TextBox 25">
            <a:extLst>
              <a:ext uri="{FF2B5EF4-FFF2-40B4-BE49-F238E27FC236}">
                <a16:creationId xmlns:a16="http://schemas.microsoft.com/office/drawing/2014/main" id="{799D0906-CC84-154B-BF26-9C1ECC02DE98}"/>
              </a:ext>
            </a:extLst>
          </p:cNvPr>
          <p:cNvSpPr txBox="1"/>
          <p:nvPr/>
        </p:nvSpPr>
        <p:spPr>
          <a:xfrm>
            <a:off x="4883867" y="6133623"/>
            <a:ext cx="1295169" cy="369332"/>
          </a:xfrm>
          <a:prstGeom prst="rect">
            <a:avLst/>
          </a:prstGeom>
          <a:noFill/>
        </p:spPr>
        <p:txBody>
          <a:bodyPr wrap="square" rtlCol="0">
            <a:spAutoFit/>
          </a:bodyPr>
          <a:lstStyle/>
          <a:p>
            <a:r>
              <a:rPr lang="en-US" dirty="0">
                <a:latin typeface="Poppins" pitchFamily="2" charset="77"/>
                <a:cs typeface="Poppins" pitchFamily="2" charset="77"/>
              </a:rPr>
              <a:t>2018-20</a:t>
            </a:r>
          </a:p>
        </p:txBody>
      </p:sp>
      <p:sp>
        <p:nvSpPr>
          <p:cNvPr id="28" name="TextBox 27">
            <a:extLst>
              <a:ext uri="{FF2B5EF4-FFF2-40B4-BE49-F238E27FC236}">
                <a16:creationId xmlns:a16="http://schemas.microsoft.com/office/drawing/2014/main" id="{CF38AF20-1E99-DA4E-8514-C04B46E7546C}"/>
              </a:ext>
            </a:extLst>
          </p:cNvPr>
          <p:cNvSpPr txBox="1"/>
          <p:nvPr/>
        </p:nvSpPr>
        <p:spPr>
          <a:xfrm>
            <a:off x="5506622" y="4964590"/>
            <a:ext cx="2007868" cy="369332"/>
          </a:xfrm>
          <a:prstGeom prst="rect">
            <a:avLst/>
          </a:prstGeom>
          <a:noFill/>
        </p:spPr>
        <p:txBody>
          <a:bodyPr wrap="square" rtlCol="0">
            <a:spAutoFit/>
          </a:bodyPr>
          <a:lstStyle/>
          <a:p>
            <a:r>
              <a:rPr lang="en-US">
                <a:solidFill>
                  <a:schemeClr val="bg1"/>
                </a:solidFill>
                <a:latin typeface="Poppins" pitchFamily="2" charset="77"/>
                <a:cs typeface="Poppins" pitchFamily="2" charset="77"/>
              </a:rPr>
              <a:t>Towels</a:t>
            </a:r>
          </a:p>
        </p:txBody>
      </p:sp>
      <p:sp>
        <p:nvSpPr>
          <p:cNvPr id="30" name="TextBox 29">
            <a:extLst>
              <a:ext uri="{FF2B5EF4-FFF2-40B4-BE49-F238E27FC236}">
                <a16:creationId xmlns:a16="http://schemas.microsoft.com/office/drawing/2014/main" id="{E86F93F5-9277-1546-B8F8-31AB86AD7758}"/>
              </a:ext>
            </a:extLst>
          </p:cNvPr>
          <p:cNvSpPr txBox="1"/>
          <p:nvPr/>
        </p:nvSpPr>
        <p:spPr>
          <a:xfrm>
            <a:off x="6369839" y="6148128"/>
            <a:ext cx="1376850" cy="369332"/>
          </a:xfrm>
          <a:prstGeom prst="rect">
            <a:avLst/>
          </a:prstGeom>
          <a:noFill/>
        </p:spPr>
        <p:txBody>
          <a:bodyPr wrap="square" rtlCol="0">
            <a:spAutoFit/>
          </a:bodyPr>
          <a:lstStyle/>
          <a:p>
            <a:r>
              <a:rPr lang="en-US" dirty="0">
                <a:latin typeface="Poppins" pitchFamily="2" charset="77"/>
                <a:cs typeface="Poppins" pitchFamily="2" charset="77"/>
              </a:rPr>
              <a:t>2021-22</a:t>
            </a:r>
          </a:p>
        </p:txBody>
      </p:sp>
      <p:sp>
        <p:nvSpPr>
          <p:cNvPr id="9" name="TextBox 8">
            <a:extLst>
              <a:ext uri="{FF2B5EF4-FFF2-40B4-BE49-F238E27FC236}">
                <a16:creationId xmlns:a16="http://schemas.microsoft.com/office/drawing/2014/main" id="{61F1EC88-F2A3-8BF8-0C8A-5D70619D7DE1}"/>
              </a:ext>
            </a:extLst>
          </p:cNvPr>
          <p:cNvSpPr txBox="1"/>
          <p:nvPr/>
        </p:nvSpPr>
        <p:spPr>
          <a:xfrm>
            <a:off x="7689691" y="6148128"/>
            <a:ext cx="1153967" cy="369332"/>
          </a:xfrm>
          <a:prstGeom prst="rect">
            <a:avLst/>
          </a:prstGeom>
          <a:noFill/>
        </p:spPr>
        <p:txBody>
          <a:bodyPr wrap="square" rtlCol="0">
            <a:spAutoFit/>
          </a:bodyPr>
          <a:lstStyle/>
          <a:p>
            <a:r>
              <a:rPr lang="en-US" dirty="0">
                <a:latin typeface="Poppins" pitchFamily="2" charset="77"/>
                <a:cs typeface="Poppins" pitchFamily="2" charset="77"/>
              </a:rPr>
              <a:t>2023-24</a:t>
            </a:r>
          </a:p>
        </p:txBody>
      </p:sp>
      <p:sp>
        <p:nvSpPr>
          <p:cNvPr id="11" name="TextBox 10">
            <a:extLst>
              <a:ext uri="{FF2B5EF4-FFF2-40B4-BE49-F238E27FC236}">
                <a16:creationId xmlns:a16="http://schemas.microsoft.com/office/drawing/2014/main" id="{FA9A1144-7A7B-9475-9BA8-76593E9BEBF6}"/>
              </a:ext>
            </a:extLst>
          </p:cNvPr>
          <p:cNvSpPr txBox="1"/>
          <p:nvPr/>
        </p:nvSpPr>
        <p:spPr>
          <a:xfrm>
            <a:off x="9125624" y="6130897"/>
            <a:ext cx="1505298" cy="369332"/>
          </a:xfrm>
          <a:prstGeom prst="rect">
            <a:avLst/>
          </a:prstGeom>
          <a:noFill/>
        </p:spPr>
        <p:txBody>
          <a:bodyPr wrap="square" rtlCol="0">
            <a:spAutoFit/>
          </a:bodyPr>
          <a:lstStyle/>
          <a:p>
            <a:r>
              <a:rPr lang="en-US" dirty="0">
                <a:latin typeface="Poppins" pitchFamily="2" charset="77"/>
                <a:cs typeface="Poppins" pitchFamily="2" charset="77"/>
              </a:rPr>
              <a:t>2025-28</a:t>
            </a:r>
          </a:p>
        </p:txBody>
      </p:sp>
      <p:sp>
        <p:nvSpPr>
          <p:cNvPr id="14" name="TextBox 13">
            <a:extLst>
              <a:ext uri="{FF2B5EF4-FFF2-40B4-BE49-F238E27FC236}">
                <a16:creationId xmlns:a16="http://schemas.microsoft.com/office/drawing/2014/main" id="{BAA3D4A8-88B8-8374-ED2F-A571A7896300}"/>
              </a:ext>
            </a:extLst>
          </p:cNvPr>
          <p:cNvSpPr txBox="1"/>
          <p:nvPr/>
        </p:nvSpPr>
        <p:spPr>
          <a:xfrm>
            <a:off x="5339845" y="4407366"/>
            <a:ext cx="1467355" cy="369332"/>
          </a:xfrm>
          <a:prstGeom prst="rect">
            <a:avLst/>
          </a:prstGeom>
          <a:noFill/>
        </p:spPr>
        <p:txBody>
          <a:bodyPr wrap="square" rtlCol="0">
            <a:spAutoFit/>
          </a:bodyPr>
          <a:lstStyle/>
          <a:p>
            <a:r>
              <a:rPr lang="en-US">
                <a:solidFill>
                  <a:schemeClr val="bg1"/>
                </a:solidFill>
                <a:latin typeface="Poppins" pitchFamily="2" charset="77"/>
                <a:cs typeface="Poppins" pitchFamily="2" charset="77"/>
              </a:rPr>
              <a:t>Headwear</a:t>
            </a:r>
          </a:p>
        </p:txBody>
      </p:sp>
    </p:spTree>
    <p:extLst>
      <p:ext uri="{BB962C8B-B14F-4D97-AF65-F5344CB8AC3E}">
        <p14:creationId xmlns:p14="http://schemas.microsoft.com/office/powerpoint/2010/main" val="23663052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Google Shape;246;p6">
            <a:extLst>
              <a:ext uri="{FF2B5EF4-FFF2-40B4-BE49-F238E27FC236}">
                <a16:creationId xmlns:a16="http://schemas.microsoft.com/office/drawing/2014/main" id="{107A3952-4D20-7A42-A161-F72B4ED991B4}"/>
              </a:ext>
            </a:extLst>
          </p:cNvPr>
          <p:cNvSpPr/>
          <p:nvPr/>
        </p:nvSpPr>
        <p:spPr>
          <a:xfrm>
            <a:off x="-7248" y="6482159"/>
            <a:ext cx="12192000" cy="388620"/>
          </a:xfrm>
          <a:prstGeom prst="rect">
            <a:avLst/>
          </a:prstGeom>
          <a:solidFill>
            <a:srgbClr val="282828"/>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800" b="0" i="0" u="none" strike="noStrike" kern="0" cap="none" spc="0" normalizeH="0" baseline="0" noProof="0">
              <a:ln>
                <a:noFill/>
              </a:ln>
              <a:solidFill>
                <a:srgbClr val="FFFFFF"/>
              </a:solidFill>
              <a:effectLst/>
              <a:uLnTx/>
              <a:uFillTx/>
              <a:latin typeface="Montserrat" pitchFamily="2" charset="77"/>
              <a:ea typeface="Poppins"/>
              <a:cs typeface="Poppins" pitchFamily="2" charset="77"/>
              <a:sym typeface="Poppins"/>
            </a:endParaRPr>
          </a:p>
        </p:txBody>
      </p:sp>
      <p:pic>
        <p:nvPicPr>
          <p:cNvPr id="5" name="Google Shape;247;p6" descr="Palm Golf Co. Logo">
            <a:extLst>
              <a:ext uri="{FF2B5EF4-FFF2-40B4-BE49-F238E27FC236}">
                <a16:creationId xmlns:a16="http://schemas.microsoft.com/office/drawing/2014/main" id="{AB45B525-218C-8D48-A9AA-69CEF35A1496}"/>
              </a:ext>
            </a:extLst>
          </p:cNvPr>
          <p:cNvPicPr preferRelativeResize="0"/>
          <p:nvPr/>
        </p:nvPicPr>
        <p:blipFill rotWithShape="1">
          <a:blip r:embed="rId2">
            <a:alphaModFix/>
          </a:blip>
          <a:srcRect/>
          <a:stretch/>
        </p:blipFill>
        <p:spPr>
          <a:xfrm>
            <a:off x="10857604" y="6516449"/>
            <a:ext cx="1097072" cy="331887"/>
          </a:xfrm>
          <a:prstGeom prst="rect">
            <a:avLst/>
          </a:prstGeom>
          <a:noFill/>
          <a:ln>
            <a:noFill/>
          </a:ln>
        </p:spPr>
      </p:pic>
      <p:sp>
        <p:nvSpPr>
          <p:cNvPr id="7" name="TextBox 6">
            <a:extLst>
              <a:ext uri="{FF2B5EF4-FFF2-40B4-BE49-F238E27FC236}">
                <a16:creationId xmlns:a16="http://schemas.microsoft.com/office/drawing/2014/main" id="{71545F23-D117-87AA-E7EA-827D72B26BCE}"/>
              </a:ext>
            </a:extLst>
          </p:cNvPr>
          <p:cNvSpPr txBox="1"/>
          <p:nvPr/>
        </p:nvSpPr>
        <p:spPr>
          <a:xfrm>
            <a:off x="5845976" y="702786"/>
            <a:ext cx="6108700" cy="6463308"/>
          </a:xfrm>
          <a:prstGeom prst="rect">
            <a:avLst/>
          </a:prstGeom>
          <a:noFill/>
        </p:spPr>
        <p:txBody>
          <a:bodyPr wrap="square">
            <a:spAutoFit/>
          </a:bodyPr>
          <a:lstStyle/>
          <a:p>
            <a:pPr marR="0" fontAlgn="ctr">
              <a:spcBef>
                <a:spcPts val="0"/>
              </a:spcBef>
              <a:spcAft>
                <a:spcPts val="0"/>
              </a:spcAft>
            </a:pPr>
            <a:endPar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0" fontAlgn="ctr">
              <a:spcBef>
                <a:spcPts val="0"/>
              </a:spcBef>
              <a:spcAft>
                <a:spcPts val="0"/>
              </a:spcAft>
            </a:pPr>
            <a:endParaRPr lang="en-US" kern="0" dirty="0">
              <a:latin typeface="Times New Roman" panose="02020603050405020304" pitchFamily="18" charset="0"/>
              <a:ea typeface="Times New Roman" panose="02020603050405020304" pitchFamily="18" charset="0"/>
              <a:cs typeface="Times New Roman" panose="02020603050405020304" pitchFamily="18" charset="0"/>
            </a:endParaRPr>
          </a:p>
          <a:p>
            <a:pPr marR="0" fontAlgn="ctr">
              <a:spcBef>
                <a:spcPts val="0"/>
              </a:spcBef>
              <a:spcAft>
                <a:spcPts val="0"/>
              </a:spcAft>
            </a:pPr>
            <a:r>
              <a:rPr lang="en-US" sz="1800" b="1" kern="0" dirty="0">
                <a:effectLst/>
                <a:latin typeface="Poppins" pitchFamily="2" charset="77"/>
                <a:ea typeface="Times New Roman" panose="02020603050405020304" pitchFamily="18" charset="0"/>
                <a:cs typeface="Poppins" pitchFamily="2" charset="77"/>
              </a:rPr>
              <a:t>Catching the golf worlds attention: "Featured product as Favorite Things from the 2020 and 2023 PGA Show" – Golf Channel. </a:t>
            </a:r>
          </a:p>
          <a:p>
            <a:pPr marR="0" fontAlgn="ctr">
              <a:spcBef>
                <a:spcPts val="0"/>
              </a:spcBef>
              <a:spcAft>
                <a:spcPts val="0"/>
              </a:spcAft>
            </a:pPr>
            <a:endParaRPr lang="en-US" kern="0" dirty="0">
              <a:latin typeface="Times New Roman" panose="02020603050405020304" pitchFamily="18" charset="0"/>
              <a:ea typeface="Times New Roman" panose="02020603050405020304" pitchFamily="18" charset="0"/>
              <a:cs typeface="Times New Roman" panose="02020603050405020304" pitchFamily="18" charset="0"/>
            </a:endParaRPr>
          </a:p>
          <a:p>
            <a:pPr marR="0" fontAlgn="ctr">
              <a:spcBef>
                <a:spcPts val="0"/>
              </a:spcBef>
              <a:spcAft>
                <a:spcPts val="0"/>
              </a:spcAft>
            </a:pPr>
            <a:endPar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0" fontAlgn="ctr">
              <a:spcBef>
                <a:spcPts val="0"/>
              </a:spcBef>
              <a:spcAft>
                <a:spcPts val="0"/>
              </a:spcAft>
            </a:pPr>
            <a:endPar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0" fontAlgn="ctr">
              <a:spcBef>
                <a:spcPts val="0"/>
              </a:spcBef>
              <a:spcAft>
                <a:spcPts val="0"/>
              </a:spcAft>
            </a:pPr>
            <a:endParaRPr lang="en-US" kern="0" dirty="0">
              <a:latin typeface="Times New Roman" panose="02020603050405020304" pitchFamily="18" charset="0"/>
              <a:ea typeface="Times New Roman" panose="02020603050405020304" pitchFamily="18" charset="0"/>
              <a:cs typeface="Times New Roman" panose="02020603050405020304" pitchFamily="18" charset="0"/>
            </a:endParaRPr>
          </a:p>
          <a:p>
            <a:pPr fontAlgn="ctr"/>
            <a:r>
              <a:rPr lang="en-US" b="1" kern="0" dirty="0">
                <a:latin typeface="Poppins" pitchFamily="2" charset="77"/>
                <a:ea typeface="Times New Roman" panose="02020603050405020304" pitchFamily="18" charset="0"/>
                <a:cs typeface="Poppins" pitchFamily="2" charset="77"/>
              </a:rPr>
              <a:t>Golf Digest Collab with some of Golf’s Coolest Brands</a:t>
            </a:r>
            <a:r>
              <a:rPr lang="en-US" b="1" kern="100" dirty="0">
                <a:latin typeface="Poppins" pitchFamily="2" charset="77"/>
                <a:ea typeface="Calibri" panose="020F0502020204030204" pitchFamily="34" charset="0"/>
                <a:cs typeface="Poppins" pitchFamily="2" charset="77"/>
              </a:rPr>
              <a:t>. </a:t>
            </a:r>
          </a:p>
          <a:p>
            <a:pPr marR="0" fontAlgn="ctr">
              <a:spcBef>
                <a:spcPts val="0"/>
              </a:spcBef>
              <a:spcAft>
                <a:spcPts val="0"/>
              </a:spcAft>
            </a:pPr>
            <a:endPar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R="0" fontAlgn="ctr">
              <a:spcBef>
                <a:spcPts val="0"/>
              </a:spcBef>
              <a:spcAft>
                <a:spcPts val="0"/>
              </a:spcAft>
            </a:pPr>
            <a:endParaRPr lang="en-US" sz="1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R="0" fontAlgn="ctr">
              <a:spcBef>
                <a:spcPts val="0"/>
              </a:spcBef>
              <a:spcAft>
                <a:spcPts val="0"/>
              </a:spcAft>
            </a:pPr>
            <a:endParaRPr lang="en-US" sz="1800" kern="100" dirty="0">
              <a:effectLst/>
              <a:latin typeface="Calibri" panose="020F0502020204030204" pitchFamily="34" charset="0"/>
              <a:ea typeface="Times New Roman" panose="02020603050405020304" pitchFamily="18" charset="0"/>
              <a:cs typeface="Times New Roman" panose="02020603050405020304" pitchFamily="18" charset="0"/>
            </a:endParaRPr>
          </a:p>
          <a:p>
            <a:pPr marR="0" fontAlgn="ctr">
              <a:spcBef>
                <a:spcPts val="0"/>
              </a:spcBef>
              <a:spcAft>
                <a:spcPts val="0"/>
              </a:spcAft>
            </a:pPr>
            <a:endParaRPr lang="en-US" kern="100" dirty="0">
              <a:latin typeface="Calibri" panose="020F0502020204030204" pitchFamily="34" charset="0"/>
              <a:ea typeface="Times New Roman" panose="02020603050405020304" pitchFamily="18" charset="0"/>
              <a:cs typeface="Times New Roman" panose="02020603050405020304" pitchFamily="18" charset="0"/>
            </a:endParaRPr>
          </a:p>
          <a:p>
            <a:pPr marR="0" fontAlgn="ctr">
              <a:spcBef>
                <a:spcPts val="0"/>
              </a:spcBef>
              <a:spcAft>
                <a:spcPts val="0"/>
              </a:spcAft>
            </a:pPr>
            <a:endParaRPr lang="en-US" kern="0" dirty="0">
              <a:latin typeface="Times New Roman" panose="02020603050405020304" pitchFamily="18" charset="0"/>
              <a:ea typeface="Times New Roman" panose="02020603050405020304" pitchFamily="18" charset="0"/>
              <a:cs typeface="Times New Roman" panose="02020603050405020304" pitchFamily="18" charset="0"/>
            </a:endParaRPr>
          </a:p>
          <a:p>
            <a:pPr marR="0" fontAlgn="ctr">
              <a:spcBef>
                <a:spcPts val="0"/>
              </a:spcBef>
              <a:spcAft>
                <a:spcPts val="0"/>
              </a:spcAft>
            </a:pPr>
            <a:endPar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solidFill>
                <a:srgbClr val="242424"/>
              </a:solidFill>
              <a:latin typeface="Poppins" pitchFamily="2" charset="77"/>
              <a:cs typeface="Poppins" pitchFamily="2" charset="77"/>
            </a:endParaRPr>
          </a:p>
          <a:p>
            <a:r>
              <a:rPr lang="en-US" b="1" dirty="0">
                <a:solidFill>
                  <a:srgbClr val="242424"/>
                </a:solidFill>
                <a:latin typeface="Poppins" pitchFamily="2" charset="77"/>
                <a:cs typeface="Poppins" pitchFamily="2" charset="77"/>
              </a:rPr>
              <a:t>“Best lifestyle glove 2018, 2019, 2025” </a:t>
            </a:r>
          </a:p>
          <a:p>
            <a:r>
              <a:rPr lang="en-US" dirty="0">
                <a:solidFill>
                  <a:srgbClr val="242424"/>
                </a:solidFill>
                <a:latin typeface="Poppins" pitchFamily="2" charset="77"/>
                <a:cs typeface="Poppins" pitchFamily="2" charset="77"/>
              </a:rPr>
              <a:t>- </a:t>
            </a:r>
            <a:r>
              <a:rPr lang="en-US" b="1" dirty="0">
                <a:solidFill>
                  <a:srgbClr val="242424"/>
                </a:solidFill>
                <a:latin typeface="Poppins" pitchFamily="2" charset="77"/>
                <a:cs typeface="Poppins" pitchFamily="2" charset="77"/>
              </a:rPr>
              <a:t>MYGOLFSPY</a:t>
            </a:r>
            <a:r>
              <a:rPr lang="en-US" dirty="0">
                <a:solidFill>
                  <a:srgbClr val="242424"/>
                </a:solidFill>
                <a:latin typeface="Poppins" pitchFamily="2" charset="77"/>
                <a:cs typeface="Poppins" pitchFamily="2" charset="77"/>
              </a:rPr>
              <a:t> </a:t>
            </a:r>
          </a:p>
          <a:p>
            <a:pPr marL="0" marR="0" algn="l">
              <a:spcBef>
                <a:spcPts val="0"/>
              </a:spcBef>
              <a:spcAft>
                <a:spcPts val="0"/>
              </a:spcAft>
              <a:buFont typeface="Courier New" panose="02070309020205020404" pitchFamily="49" charset="0"/>
              <a:buChar char="o"/>
            </a:pPr>
            <a:endParaRPr lang="en-US" sz="1800" b="0" i="0" dirty="0">
              <a:solidFill>
                <a:srgbClr val="242424"/>
              </a:solidFill>
              <a:effectLst/>
              <a:latin typeface="Helvetica Neue" panose="02000503000000020004" pitchFamily="2" charset="0"/>
            </a:endParaRPr>
          </a:p>
          <a:p>
            <a:pPr marL="0" marR="0" algn="l">
              <a:spcBef>
                <a:spcPts val="0"/>
              </a:spcBef>
              <a:spcAft>
                <a:spcPts val="0"/>
              </a:spcAft>
            </a:pPr>
            <a:endParaRPr lang="en-US" sz="1800" b="0" i="0" dirty="0">
              <a:solidFill>
                <a:srgbClr val="242424"/>
              </a:solidFill>
              <a:effectLst/>
              <a:latin typeface="Helvetica Neue" panose="02000503000000020004" pitchFamily="2" charset="0"/>
            </a:endParaRPr>
          </a:p>
          <a:p>
            <a:pPr marR="0" fontAlgn="ctr">
              <a:spcBef>
                <a:spcPts val="0"/>
              </a:spcBef>
              <a:spcAft>
                <a:spcPts val="0"/>
              </a:spcAft>
            </a:pPr>
            <a:endParaRPr lang="en-US" sz="1800" kern="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F1C69972-CD77-19DD-003A-C675FAF465D0}"/>
              </a:ext>
            </a:extLst>
          </p:cNvPr>
          <p:cNvPicPr>
            <a:picLocks noChangeAspect="1"/>
          </p:cNvPicPr>
          <p:nvPr/>
        </p:nvPicPr>
        <p:blipFill>
          <a:blip r:embed="rId3"/>
          <a:stretch>
            <a:fillRect/>
          </a:stretch>
        </p:blipFill>
        <p:spPr>
          <a:xfrm>
            <a:off x="7429500" y="364044"/>
            <a:ext cx="1905000" cy="762000"/>
          </a:xfrm>
          <a:prstGeom prst="rect">
            <a:avLst/>
          </a:prstGeom>
        </p:spPr>
      </p:pic>
      <p:pic>
        <p:nvPicPr>
          <p:cNvPr id="9" name="Picture 8">
            <a:extLst>
              <a:ext uri="{FF2B5EF4-FFF2-40B4-BE49-F238E27FC236}">
                <a16:creationId xmlns:a16="http://schemas.microsoft.com/office/drawing/2014/main" id="{26C2581B-FE08-393D-83B6-43B828DC255A}"/>
              </a:ext>
            </a:extLst>
          </p:cNvPr>
          <p:cNvPicPr>
            <a:picLocks noChangeAspect="1"/>
          </p:cNvPicPr>
          <p:nvPr/>
        </p:nvPicPr>
        <p:blipFill>
          <a:blip r:embed="rId4"/>
          <a:stretch>
            <a:fillRect/>
          </a:stretch>
        </p:blipFill>
        <p:spPr>
          <a:xfrm>
            <a:off x="6826250" y="2310571"/>
            <a:ext cx="3695700" cy="762000"/>
          </a:xfrm>
          <a:prstGeom prst="rect">
            <a:avLst/>
          </a:prstGeom>
        </p:spPr>
      </p:pic>
      <p:pic>
        <p:nvPicPr>
          <p:cNvPr id="10" name="Picture 9">
            <a:extLst>
              <a:ext uri="{FF2B5EF4-FFF2-40B4-BE49-F238E27FC236}">
                <a16:creationId xmlns:a16="http://schemas.microsoft.com/office/drawing/2014/main" id="{C1FEE963-1011-A170-6213-DE4B95A295DF}"/>
              </a:ext>
            </a:extLst>
          </p:cNvPr>
          <p:cNvPicPr>
            <a:picLocks noChangeAspect="1"/>
          </p:cNvPicPr>
          <p:nvPr/>
        </p:nvPicPr>
        <p:blipFill>
          <a:blip r:embed="rId5"/>
          <a:stretch>
            <a:fillRect/>
          </a:stretch>
        </p:blipFill>
        <p:spPr>
          <a:xfrm>
            <a:off x="6442876" y="3804387"/>
            <a:ext cx="4914900" cy="1638300"/>
          </a:xfrm>
          <a:prstGeom prst="rect">
            <a:avLst/>
          </a:prstGeom>
        </p:spPr>
      </p:pic>
      <p:sp>
        <p:nvSpPr>
          <p:cNvPr id="11" name="TextBox 10">
            <a:extLst>
              <a:ext uri="{FF2B5EF4-FFF2-40B4-BE49-F238E27FC236}">
                <a16:creationId xmlns:a16="http://schemas.microsoft.com/office/drawing/2014/main" id="{3C1087D9-6759-4D44-99CB-8BF411530910}"/>
              </a:ext>
            </a:extLst>
          </p:cNvPr>
          <p:cNvSpPr txBox="1"/>
          <p:nvPr/>
        </p:nvSpPr>
        <p:spPr>
          <a:xfrm>
            <a:off x="533619" y="629468"/>
            <a:ext cx="3667246" cy="2062103"/>
          </a:xfrm>
          <a:prstGeom prst="rect">
            <a:avLst/>
          </a:prstGeom>
          <a:noFill/>
        </p:spPr>
        <p:txBody>
          <a:bodyPr wrap="square" lIns="91440" tIns="45720" rIns="91440" bIns="45720" rtlCol="0" anchor="t">
            <a:spAutoFit/>
          </a:bodyPr>
          <a:lstStyle/>
          <a:p>
            <a:r>
              <a:rPr lang="en-US" sz="3200" b="1" dirty="0">
                <a:solidFill>
                  <a:srgbClr val="282828"/>
                </a:solidFill>
                <a:latin typeface="Poppins"/>
                <a:cs typeface="Poppins"/>
              </a:rPr>
              <a:t>Product Validation: The industry is recognizing us. </a:t>
            </a:r>
            <a:endParaRPr lang="en-US" sz="3200" b="1" dirty="0">
              <a:solidFill>
                <a:srgbClr val="282828"/>
              </a:solidFill>
              <a:latin typeface="Poppins" pitchFamily="2" charset="77"/>
              <a:cs typeface="Poppins" pitchFamily="2" charset="77"/>
            </a:endParaRPr>
          </a:p>
        </p:txBody>
      </p:sp>
      <p:pic>
        <p:nvPicPr>
          <p:cNvPr id="2" name="Picture 1">
            <a:extLst>
              <a:ext uri="{FF2B5EF4-FFF2-40B4-BE49-F238E27FC236}">
                <a16:creationId xmlns:a16="http://schemas.microsoft.com/office/drawing/2014/main" id="{BC438FD1-95D4-4FC2-E1F7-EF11B882E44E}"/>
              </a:ext>
            </a:extLst>
          </p:cNvPr>
          <p:cNvPicPr>
            <a:picLocks noChangeAspect="1"/>
          </p:cNvPicPr>
          <p:nvPr/>
        </p:nvPicPr>
        <p:blipFill>
          <a:blip r:embed="rId6"/>
          <a:stretch>
            <a:fillRect/>
          </a:stretch>
        </p:blipFill>
        <p:spPr>
          <a:xfrm>
            <a:off x="45098" y="2838632"/>
            <a:ext cx="5711992" cy="3569995"/>
          </a:xfrm>
          <a:prstGeom prst="rect">
            <a:avLst/>
          </a:prstGeom>
        </p:spPr>
      </p:pic>
      <p:pic>
        <p:nvPicPr>
          <p:cNvPr id="3" name="Picture 2">
            <a:extLst>
              <a:ext uri="{FF2B5EF4-FFF2-40B4-BE49-F238E27FC236}">
                <a16:creationId xmlns:a16="http://schemas.microsoft.com/office/drawing/2014/main" id="{F94798E9-BD5A-32D2-0DFF-B5B27684640A}"/>
              </a:ext>
            </a:extLst>
          </p:cNvPr>
          <p:cNvPicPr>
            <a:picLocks noChangeAspect="1"/>
          </p:cNvPicPr>
          <p:nvPr/>
        </p:nvPicPr>
        <p:blipFill>
          <a:blip r:embed="rId7"/>
          <a:stretch>
            <a:fillRect/>
          </a:stretch>
        </p:blipFill>
        <p:spPr>
          <a:xfrm>
            <a:off x="227246" y="2765100"/>
            <a:ext cx="901700" cy="838200"/>
          </a:xfrm>
          <a:prstGeom prst="rect">
            <a:avLst/>
          </a:prstGeom>
        </p:spPr>
      </p:pic>
    </p:spTree>
    <p:extLst>
      <p:ext uri="{BB962C8B-B14F-4D97-AF65-F5344CB8AC3E}">
        <p14:creationId xmlns:p14="http://schemas.microsoft.com/office/powerpoint/2010/main" val="1923676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82828"/>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AEFDFEFC-0F9B-3542-A0A5-A69B27500FA8}"/>
              </a:ext>
            </a:extLst>
          </p:cNvPr>
          <p:cNvSpPr>
            <a:spLocks noGrp="1"/>
          </p:cNvSpPr>
          <p:nvPr>
            <p:ph type="subTitle" idx="1"/>
          </p:nvPr>
        </p:nvSpPr>
        <p:spPr>
          <a:xfrm>
            <a:off x="1524000" y="3075680"/>
            <a:ext cx="9144000" cy="1655762"/>
          </a:xfrm>
        </p:spPr>
        <p:txBody>
          <a:bodyPr>
            <a:normAutofit/>
          </a:bodyPr>
          <a:lstStyle/>
          <a:p>
            <a:r>
              <a:rPr lang="en-US" sz="4800" b="1" dirty="0">
                <a:solidFill>
                  <a:schemeClr val="bg1"/>
                </a:solidFill>
                <a:latin typeface="Montserrat" pitchFamily="2" charset="77"/>
                <a:cs typeface="Poppins" pitchFamily="2" charset="77"/>
              </a:rPr>
              <a:t>The business tomorrow.</a:t>
            </a:r>
          </a:p>
        </p:txBody>
      </p:sp>
    </p:spTree>
    <p:extLst>
      <p:ext uri="{BB962C8B-B14F-4D97-AF65-F5344CB8AC3E}">
        <p14:creationId xmlns:p14="http://schemas.microsoft.com/office/powerpoint/2010/main" val="4154890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3" name="Rectangle 2">
            <a:extLst>
              <a:ext uri="{FF2B5EF4-FFF2-40B4-BE49-F238E27FC236}">
                <a16:creationId xmlns:a16="http://schemas.microsoft.com/office/drawing/2014/main" id="{491215A6-D177-2149-96F4-D3AED6C0CDA0}"/>
              </a:ext>
            </a:extLst>
          </p:cNvPr>
          <p:cNvSpPr/>
          <p:nvPr/>
        </p:nvSpPr>
        <p:spPr>
          <a:xfrm>
            <a:off x="0" y="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7" name="Picture 2" descr="Palm Golf Co. Logo">
            <a:extLst>
              <a:ext uri="{FF2B5EF4-FFF2-40B4-BE49-F238E27FC236}">
                <a16:creationId xmlns:a16="http://schemas.microsoft.com/office/drawing/2014/main" id="{87C323CD-7A61-AC40-9760-B1578CE961F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09299951-0931-B640-A51B-B69D0DF1D662}"/>
              </a:ext>
            </a:extLst>
          </p:cNvPr>
          <p:cNvSpPr txBox="1"/>
          <p:nvPr/>
        </p:nvSpPr>
        <p:spPr>
          <a:xfrm>
            <a:off x="578733" y="968515"/>
            <a:ext cx="10741307" cy="1354217"/>
          </a:xfrm>
          <a:prstGeom prst="rect">
            <a:avLst/>
          </a:prstGeom>
          <a:noFill/>
        </p:spPr>
        <p:txBody>
          <a:bodyPr wrap="square" lIns="91440" tIns="45720" rIns="91440" bIns="45720" rtlCol="0" anchor="t">
            <a:spAutoFit/>
          </a:bodyPr>
          <a:lstStyle/>
          <a:p>
            <a:r>
              <a:rPr lang="en-US" sz="4200" b="1" dirty="0">
                <a:solidFill>
                  <a:srgbClr val="282828"/>
                </a:solidFill>
                <a:latin typeface="Poppins"/>
                <a:cs typeface="Poppins"/>
              </a:rPr>
              <a:t>Go to Market Strategy.</a:t>
            </a:r>
          </a:p>
          <a:p>
            <a:r>
              <a:rPr lang="en-US" sz="2000" dirty="0">
                <a:solidFill>
                  <a:srgbClr val="282828"/>
                </a:solidFill>
                <a:latin typeface="Poppins"/>
                <a:cs typeface="Poppins"/>
              </a:rPr>
              <a:t>Today, we sell nationwide and most of our business is direct vis our website. </a:t>
            </a:r>
            <a:endParaRPr lang="en-US" sz="2000" dirty="0">
              <a:solidFill>
                <a:srgbClr val="282828"/>
              </a:solidFill>
              <a:latin typeface="Poppins" pitchFamily="2" charset="77"/>
              <a:cs typeface="Poppins" pitchFamily="2" charset="77"/>
            </a:endParaRPr>
          </a:p>
          <a:p>
            <a:r>
              <a:rPr lang="en-US" sz="2000" dirty="0">
                <a:solidFill>
                  <a:srgbClr val="282828"/>
                </a:solidFill>
                <a:latin typeface="Poppins"/>
                <a:cs typeface="Poppins"/>
              </a:rPr>
              <a:t>2026+ we will continue to expand across retail channels. </a:t>
            </a:r>
            <a:endParaRPr lang="en-US" sz="2000" dirty="0">
              <a:solidFill>
                <a:srgbClr val="282828"/>
              </a:solidFill>
              <a:latin typeface="Poppins" pitchFamily="2" charset="77"/>
              <a:cs typeface="Poppins" pitchFamily="2" charset="77"/>
            </a:endParaRPr>
          </a:p>
        </p:txBody>
      </p:sp>
      <p:pic>
        <p:nvPicPr>
          <p:cNvPr id="9" name="Picture 8">
            <a:extLst>
              <a:ext uri="{FF2B5EF4-FFF2-40B4-BE49-F238E27FC236}">
                <a16:creationId xmlns:a16="http://schemas.microsoft.com/office/drawing/2014/main" id="{32458257-3ED4-0D40-AAF0-9B0CE64A87DA}"/>
              </a:ext>
            </a:extLst>
          </p:cNvPr>
          <p:cNvPicPr>
            <a:picLocks noChangeAspect="1"/>
          </p:cNvPicPr>
          <p:nvPr/>
        </p:nvPicPr>
        <p:blipFill>
          <a:blip r:embed="rId4"/>
          <a:stretch>
            <a:fillRect/>
          </a:stretch>
        </p:blipFill>
        <p:spPr>
          <a:xfrm>
            <a:off x="6310564" y="2494772"/>
            <a:ext cx="4763275" cy="2517620"/>
          </a:xfrm>
          <a:prstGeom prst="rect">
            <a:avLst/>
          </a:prstGeom>
        </p:spPr>
      </p:pic>
      <p:graphicFrame>
        <p:nvGraphicFramePr>
          <p:cNvPr id="8" name="Table 11">
            <a:extLst>
              <a:ext uri="{FF2B5EF4-FFF2-40B4-BE49-F238E27FC236}">
                <a16:creationId xmlns:a16="http://schemas.microsoft.com/office/drawing/2014/main" id="{90AE483C-A16E-CE47-A2FA-DF2F8BE09C1C}"/>
              </a:ext>
            </a:extLst>
          </p:cNvPr>
          <p:cNvGraphicFramePr>
            <a:graphicFrameLocks noGrp="1"/>
          </p:cNvGraphicFramePr>
          <p:nvPr>
            <p:extLst>
              <p:ext uri="{D42A27DB-BD31-4B8C-83A1-F6EECF244321}">
                <p14:modId xmlns:p14="http://schemas.microsoft.com/office/powerpoint/2010/main" val="902042358"/>
              </p:ext>
            </p:extLst>
          </p:nvPr>
        </p:nvGraphicFramePr>
        <p:xfrm>
          <a:off x="578732" y="2494771"/>
          <a:ext cx="5517267" cy="1963402"/>
        </p:xfrm>
        <a:graphic>
          <a:graphicData uri="http://schemas.openxmlformats.org/drawingml/2006/table">
            <a:tbl>
              <a:tblPr firstRow="1" bandRow="1">
                <a:tableStyleId>{21E4AEA4-8DFA-4A89-87EB-49C32662AFE0}</a:tableStyleId>
              </a:tblPr>
              <a:tblGrid>
                <a:gridCol w="2379047">
                  <a:extLst>
                    <a:ext uri="{9D8B030D-6E8A-4147-A177-3AD203B41FA5}">
                      <a16:colId xmlns:a16="http://schemas.microsoft.com/office/drawing/2014/main" val="2137492801"/>
                    </a:ext>
                  </a:extLst>
                </a:gridCol>
                <a:gridCol w="1569110">
                  <a:extLst>
                    <a:ext uri="{9D8B030D-6E8A-4147-A177-3AD203B41FA5}">
                      <a16:colId xmlns:a16="http://schemas.microsoft.com/office/drawing/2014/main" val="3176826326"/>
                    </a:ext>
                  </a:extLst>
                </a:gridCol>
                <a:gridCol w="1569110">
                  <a:extLst>
                    <a:ext uri="{9D8B030D-6E8A-4147-A177-3AD203B41FA5}">
                      <a16:colId xmlns:a16="http://schemas.microsoft.com/office/drawing/2014/main" val="2348835023"/>
                    </a:ext>
                  </a:extLst>
                </a:gridCol>
              </a:tblGrid>
              <a:tr h="372864">
                <a:tc>
                  <a:txBody>
                    <a:bodyPr/>
                    <a:lstStyle/>
                    <a:p>
                      <a:r>
                        <a:rPr lang="en-US" sz="1400"/>
                        <a:t>Retail Channel</a:t>
                      </a:r>
                    </a:p>
                  </a:txBody>
                  <a:tcPr/>
                </a:tc>
                <a:tc>
                  <a:txBody>
                    <a:bodyPr/>
                    <a:lstStyle/>
                    <a:p>
                      <a:r>
                        <a:rPr lang="en-US" sz="1400" dirty="0"/>
                        <a:t>Revenue % in 2024</a:t>
                      </a:r>
                    </a:p>
                  </a:txBody>
                  <a:tcPr/>
                </a:tc>
                <a:tc>
                  <a:txBody>
                    <a:bodyPr/>
                    <a:lstStyle/>
                    <a:p>
                      <a:r>
                        <a:rPr lang="en-US" sz="1400" dirty="0"/>
                        <a:t>As of 5/30/25</a:t>
                      </a:r>
                    </a:p>
                  </a:txBody>
                  <a:tcPr/>
                </a:tc>
                <a:extLst>
                  <a:ext uri="{0D108BD9-81ED-4DB2-BD59-A6C34878D82A}">
                    <a16:rowId xmlns:a16="http://schemas.microsoft.com/office/drawing/2014/main" val="1533164136"/>
                  </a:ext>
                </a:extLst>
              </a:tr>
              <a:tr h="372864">
                <a:tc>
                  <a:txBody>
                    <a:bodyPr/>
                    <a:lstStyle/>
                    <a:p>
                      <a:r>
                        <a:rPr lang="en-US" sz="1400">
                          <a:solidFill>
                            <a:srgbClr val="282828"/>
                          </a:solidFill>
                          <a:sym typeface="Century Gothic"/>
                        </a:rPr>
                        <a:t>DTC </a:t>
                      </a:r>
                      <a:r>
                        <a:rPr lang="en-US" sz="1400" err="1">
                          <a:solidFill>
                            <a:srgbClr val="282828"/>
                          </a:solidFill>
                          <a:sym typeface="Century Gothic"/>
                        </a:rPr>
                        <a:t>eComm</a:t>
                      </a:r>
                      <a:endParaRPr lang="en-US" sz="1400"/>
                    </a:p>
                  </a:txBody>
                  <a:tcPr/>
                </a:tc>
                <a:tc>
                  <a:txBody>
                    <a:bodyPr/>
                    <a:lstStyle/>
                    <a:p>
                      <a:r>
                        <a:rPr lang="en-US" sz="1400" dirty="0"/>
                        <a:t>72%</a:t>
                      </a:r>
                    </a:p>
                  </a:txBody>
                  <a:tcPr/>
                </a:tc>
                <a:tc>
                  <a:txBody>
                    <a:bodyPr/>
                    <a:lstStyle/>
                    <a:p>
                      <a:r>
                        <a:rPr lang="en-US" sz="1400" dirty="0"/>
                        <a:t>53%</a:t>
                      </a:r>
                    </a:p>
                  </a:txBody>
                  <a:tcPr/>
                </a:tc>
                <a:extLst>
                  <a:ext uri="{0D108BD9-81ED-4DB2-BD59-A6C34878D82A}">
                    <a16:rowId xmlns:a16="http://schemas.microsoft.com/office/drawing/2014/main" val="3737453109"/>
                  </a:ext>
                </a:extLst>
              </a:tr>
              <a:tr h="372864">
                <a:tc>
                  <a:txBody>
                    <a:bodyPr/>
                    <a:lstStyle/>
                    <a:p>
                      <a:r>
                        <a:rPr lang="en-US" sz="1400" dirty="0">
                          <a:solidFill>
                            <a:srgbClr val="282828"/>
                          </a:solidFill>
                          <a:sym typeface="Century Gothic"/>
                        </a:rPr>
                        <a:t>Wholesale</a:t>
                      </a:r>
                      <a:endParaRPr lang="en-US" sz="1400" dirty="0"/>
                    </a:p>
                  </a:txBody>
                  <a:tcPr/>
                </a:tc>
                <a:tc>
                  <a:txBody>
                    <a:bodyPr/>
                    <a:lstStyle/>
                    <a:p>
                      <a:r>
                        <a:rPr lang="en-US" sz="1400" dirty="0"/>
                        <a:t>18%</a:t>
                      </a:r>
                    </a:p>
                  </a:txBody>
                  <a:tcPr/>
                </a:tc>
                <a:tc>
                  <a:txBody>
                    <a:bodyPr/>
                    <a:lstStyle/>
                    <a:p>
                      <a:r>
                        <a:rPr lang="en-US" sz="1400" dirty="0"/>
                        <a:t>37%</a:t>
                      </a:r>
                    </a:p>
                  </a:txBody>
                  <a:tcPr/>
                </a:tc>
                <a:extLst>
                  <a:ext uri="{0D108BD9-81ED-4DB2-BD59-A6C34878D82A}">
                    <a16:rowId xmlns:a16="http://schemas.microsoft.com/office/drawing/2014/main" val="2829193965"/>
                  </a:ext>
                </a:extLst>
              </a:tr>
              <a:tr h="372864">
                <a:tc>
                  <a:txBody>
                    <a:bodyPr/>
                    <a:lstStyle/>
                    <a:p>
                      <a:r>
                        <a:rPr lang="en-US" sz="1400" dirty="0">
                          <a:solidFill>
                            <a:srgbClr val="282828"/>
                          </a:solidFill>
                          <a:sym typeface="Century Gothic"/>
                        </a:rPr>
                        <a:t>Amazon</a:t>
                      </a:r>
                      <a:endParaRPr lang="en-US" sz="1400" dirty="0"/>
                    </a:p>
                  </a:txBody>
                  <a:tcPr/>
                </a:tc>
                <a:tc>
                  <a:txBody>
                    <a:bodyPr/>
                    <a:lstStyle/>
                    <a:p>
                      <a:r>
                        <a:rPr lang="en-US" sz="1400" dirty="0"/>
                        <a:t>9%</a:t>
                      </a:r>
                    </a:p>
                  </a:txBody>
                  <a:tcPr/>
                </a:tc>
                <a:tc>
                  <a:txBody>
                    <a:bodyPr/>
                    <a:lstStyle/>
                    <a:p>
                      <a:r>
                        <a:rPr lang="en-US" sz="1400" dirty="0"/>
                        <a:t>9%</a:t>
                      </a:r>
                    </a:p>
                  </a:txBody>
                  <a:tcPr/>
                </a:tc>
                <a:extLst>
                  <a:ext uri="{0D108BD9-81ED-4DB2-BD59-A6C34878D82A}">
                    <a16:rowId xmlns:a16="http://schemas.microsoft.com/office/drawing/2014/main" val="2967946214"/>
                  </a:ext>
                </a:extLst>
              </a:tr>
              <a:tr h="326650">
                <a:tc>
                  <a:txBody>
                    <a:bodyPr/>
                    <a:lstStyle/>
                    <a:p>
                      <a:r>
                        <a:rPr lang="en-US" sz="1400" dirty="0">
                          <a:solidFill>
                            <a:srgbClr val="282828"/>
                          </a:solidFill>
                          <a:sym typeface="Century Gothic"/>
                        </a:rPr>
                        <a:t>Other/Mobile Retail</a:t>
                      </a:r>
                      <a:endParaRPr lang="en-US" sz="1400" dirty="0"/>
                    </a:p>
                  </a:txBody>
                  <a:tcPr/>
                </a:tc>
                <a:tc>
                  <a:txBody>
                    <a:bodyPr/>
                    <a:lstStyle/>
                    <a:p>
                      <a:r>
                        <a:rPr lang="en-US" sz="1400" dirty="0"/>
                        <a:t>1%</a:t>
                      </a:r>
                    </a:p>
                  </a:txBody>
                  <a:tcPr/>
                </a:tc>
                <a:tc>
                  <a:txBody>
                    <a:bodyPr/>
                    <a:lstStyle/>
                    <a:p>
                      <a:r>
                        <a:rPr lang="en-US" sz="1400" dirty="0"/>
                        <a:t>1%</a:t>
                      </a:r>
                    </a:p>
                  </a:txBody>
                  <a:tcPr/>
                </a:tc>
                <a:extLst>
                  <a:ext uri="{0D108BD9-81ED-4DB2-BD59-A6C34878D82A}">
                    <a16:rowId xmlns:a16="http://schemas.microsoft.com/office/drawing/2014/main" val="3741420118"/>
                  </a:ext>
                </a:extLst>
              </a:tr>
            </a:tbl>
          </a:graphicData>
        </a:graphic>
      </p:graphicFrame>
      <p:sp>
        <p:nvSpPr>
          <p:cNvPr id="14" name="TextBox 13">
            <a:extLst>
              <a:ext uri="{FF2B5EF4-FFF2-40B4-BE49-F238E27FC236}">
                <a16:creationId xmlns:a16="http://schemas.microsoft.com/office/drawing/2014/main" id="{68ADE8AA-BF75-C141-93DD-F9FCE6AAE095}"/>
              </a:ext>
            </a:extLst>
          </p:cNvPr>
          <p:cNvSpPr txBox="1"/>
          <p:nvPr/>
        </p:nvSpPr>
        <p:spPr>
          <a:xfrm>
            <a:off x="1118161" y="5053090"/>
            <a:ext cx="4451263" cy="984885"/>
          </a:xfrm>
          <a:prstGeom prst="rect">
            <a:avLst/>
          </a:prstGeom>
          <a:noFill/>
        </p:spPr>
        <p:txBody>
          <a:bodyPr wrap="square" rtlCol="0">
            <a:spAutoFit/>
          </a:bodyPr>
          <a:lstStyle/>
          <a:p>
            <a:pPr algn="ctr"/>
            <a:endParaRPr lang="en-US" dirty="0">
              <a:latin typeface="Poppins" pitchFamily="2" charset="77"/>
              <a:cs typeface="Poppins" pitchFamily="2" charset="77"/>
            </a:endParaRPr>
          </a:p>
          <a:p>
            <a:pPr algn="ctr"/>
            <a:r>
              <a:rPr lang="en-US" sz="2000" dirty="0">
                <a:latin typeface="Poppins" pitchFamily="2" charset="77"/>
                <a:cs typeface="Poppins" pitchFamily="2" charset="77"/>
              </a:rPr>
              <a:t>Opportunity to scale and further diversify </a:t>
            </a:r>
          </a:p>
        </p:txBody>
      </p:sp>
      <p:sp>
        <p:nvSpPr>
          <p:cNvPr id="15" name="TextBox 14">
            <a:extLst>
              <a:ext uri="{FF2B5EF4-FFF2-40B4-BE49-F238E27FC236}">
                <a16:creationId xmlns:a16="http://schemas.microsoft.com/office/drawing/2014/main" id="{79A607A2-75B7-9343-A646-4F45C6BF5B19}"/>
              </a:ext>
            </a:extLst>
          </p:cNvPr>
          <p:cNvSpPr txBox="1"/>
          <p:nvPr/>
        </p:nvSpPr>
        <p:spPr>
          <a:xfrm>
            <a:off x="6622576" y="5037241"/>
            <a:ext cx="4451263" cy="1292662"/>
          </a:xfrm>
          <a:prstGeom prst="rect">
            <a:avLst/>
          </a:prstGeom>
          <a:noFill/>
        </p:spPr>
        <p:txBody>
          <a:bodyPr wrap="square" rtlCol="0">
            <a:spAutoFit/>
          </a:bodyPr>
          <a:lstStyle/>
          <a:p>
            <a:pPr algn="ctr"/>
            <a:endParaRPr lang="en-US" dirty="0">
              <a:latin typeface="Poppins" pitchFamily="2" charset="77"/>
              <a:cs typeface="Poppins" pitchFamily="2" charset="77"/>
            </a:endParaRPr>
          </a:p>
          <a:p>
            <a:pPr algn="ctr"/>
            <a:r>
              <a:rPr lang="en-US" sz="2000" dirty="0">
                <a:latin typeface="Poppins" pitchFamily="2" charset="77"/>
                <a:cs typeface="Poppins" pitchFamily="2" charset="77"/>
              </a:rPr>
              <a:t>Breadth of geographic footprint, with opportunity to penetrate deeper outside of SoCal.</a:t>
            </a:r>
          </a:p>
        </p:txBody>
      </p:sp>
    </p:spTree>
    <p:extLst>
      <p:ext uri="{BB962C8B-B14F-4D97-AF65-F5344CB8AC3E}">
        <p14:creationId xmlns:p14="http://schemas.microsoft.com/office/powerpoint/2010/main" val="13328460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2" name="Google Shape;62;g11b5860b61b_0_64"/>
          <p:cNvSpPr txBox="1"/>
          <p:nvPr/>
        </p:nvSpPr>
        <p:spPr>
          <a:xfrm>
            <a:off x="466776" y="638156"/>
            <a:ext cx="9133990" cy="73860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4000" b="1" kern="0" dirty="0">
                <a:solidFill>
                  <a:srgbClr val="282828"/>
                </a:solidFill>
                <a:latin typeface="Poppins"/>
                <a:ea typeface="Century Gothic"/>
                <a:cs typeface="Poppins"/>
                <a:sym typeface="Century Gothic"/>
              </a:rPr>
              <a:t>Growth Forecast. </a:t>
            </a:r>
            <a:endParaRPr lang="en-US" sz="4000" kern="0" dirty="0">
              <a:solidFill>
                <a:srgbClr val="282828"/>
              </a:solidFill>
              <a:latin typeface="Poppins" pitchFamily="2" charset="77"/>
              <a:cs typeface="Poppins" pitchFamily="2" charset="77"/>
            </a:endParaRPr>
          </a:p>
        </p:txBody>
      </p:sp>
      <p:sp>
        <p:nvSpPr>
          <p:cNvPr id="17" name="Rectangle 16">
            <a:extLst>
              <a:ext uri="{FF2B5EF4-FFF2-40B4-BE49-F238E27FC236}">
                <a16:creationId xmlns:a16="http://schemas.microsoft.com/office/drawing/2014/main" id="{292FF896-6919-F945-A068-01E14A9258C5}"/>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44BA01E6-2549-984C-891A-2FF8DE67E9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9FDB0CF-0BA1-E743-7727-7E221B09706E}"/>
              </a:ext>
            </a:extLst>
          </p:cNvPr>
          <p:cNvSpPr txBox="1"/>
          <p:nvPr/>
        </p:nvSpPr>
        <p:spPr>
          <a:xfrm>
            <a:off x="618836" y="2309091"/>
            <a:ext cx="11018982" cy="646331"/>
          </a:xfrm>
          <a:prstGeom prst="rect">
            <a:avLst/>
          </a:prstGeom>
          <a:noFill/>
        </p:spPr>
        <p:txBody>
          <a:bodyPr wrap="square" rtlCol="0">
            <a:spAutoFit/>
          </a:bodyPr>
          <a:lstStyle/>
          <a:p>
            <a:endParaRPr lang="en-US">
              <a:latin typeface="Poppins" pitchFamily="2" charset="77"/>
              <a:cs typeface="Poppins" pitchFamily="2" charset="77"/>
            </a:endParaRPr>
          </a:p>
          <a:p>
            <a:endParaRPr lang="en-US">
              <a:latin typeface="Poppins" pitchFamily="2" charset="77"/>
              <a:cs typeface="Poppins" pitchFamily="2" charset="77"/>
            </a:endParaRPr>
          </a:p>
        </p:txBody>
      </p:sp>
      <p:sp>
        <p:nvSpPr>
          <p:cNvPr id="9" name="TextBox 8">
            <a:extLst>
              <a:ext uri="{FF2B5EF4-FFF2-40B4-BE49-F238E27FC236}">
                <a16:creationId xmlns:a16="http://schemas.microsoft.com/office/drawing/2014/main" id="{91AB9932-3079-994F-9E0F-D766947C3FC6}"/>
              </a:ext>
            </a:extLst>
          </p:cNvPr>
          <p:cNvSpPr txBox="1"/>
          <p:nvPr/>
        </p:nvSpPr>
        <p:spPr>
          <a:xfrm>
            <a:off x="466776" y="1637849"/>
            <a:ext cx="5146946" cy="1723549"/>
          </a:xfrm>
          <a:prstGeom prst="rect">
            <a:avLst/>
          </a:prstGeom>
          <a:noFill/>
        </p:spPr>
        <p:txBody>
          <a:bodyPr wrap="square" lIns="91440" tIns="45720" rIns="91440" bIns="45720" anchor="t">
            <a:spAutoFit/>
          </a:bodyPr>
          <a:lstStyle/>
          <a:p>
            <a:r>
              <a:rPr lang="en-US" sz="2400" b="1" dirty="0">
                <a:solidFill>
                  <a:srgbClr val="282828"/>
                </a:solidFill>
                <a:latin typeface="Poppins"/>
                <a:cs typeface="Poppins"/>
              </a:rPr>
              <a:t>The known entity</a:t>
            </a:r>
            <a:r>
              <a:rPr lang="en-US" sz="2000" b="1" dirty="0">
                <a:solidFill>
                  <a:srgbClr val="282828"/>
                </a:solidFill>
                <a:latin typeface="Poppins"/>
                <a:cs typeface="Poppins"/>
              </a:rPr>
              <a:t>:</a:t>
            </a:r>
          </a:p>
          <a:p>
            <a:r>
              <a:rPr lang="en-US" dirty="0">
                <a:solidFill>
                  <a:srgbClr val="282828"/>
                </a:solidFill>
                <a:latin typeface="Poppins"/>
                <a:cs typeface="Poppins"/>
              </a:rPr>
              <a:t>Palm’s customer acquisition trajectory along with a 38%+ returning customer rate puts Palm on a path for a </a:t>
            </a:r>
            <a:endParaRPr lang="en-US" dirty="0">
              <a:solidFill>
                <a:srgbClr val="282828"/>
              </a:solidFill>
              <a:latin typeface="Poppins" pitchFamily="2" charset="77"/>
              <a:cs typeface="Poppins" pitchFamily="2" charset="77"/>
            </a:endParaRPr>
          </a:p>
          <a:p>
            <a:r>
              <a:rPr lang="en-US" sz="2800" b="1" dirty="0">
                <a:solidFill>
                  <a:srgbClr val="282828"/>
                </a:solidFill>
                <a:latin typeface="Poppins"/>
                <a:cs typeface="Poppins"/>
              </a:rPr>
              <a:t>$4.5M+ 2026.</a:t>
            </a:r>
            <a:endParaRPr lang="en-US" dirty="0">
              <a:solidFill>
                <a:srgbClr val="282828"/>
              </a:solidFill>
              <a:latin typeface="Poppins" pitchFamily="2" charset="77"/>
              <a:cs typeface="Poppins" pitchFamily="2" charset="77"/>
            </a:endParaRPr>
          </a:p>
        </p:txBody>
      </p:sp>
      <p:sp>
        <p:nvSpPr>
          <p:cNvPr id="6" name="Rectangle 5">
            <a:extLst>
              <a:ext uri="{FF2B5EF4-FFF2-40B4-BE49-F238E27FC236}">
                <a16:creationId xmlns:a16="http://schemas.microsoft.com/office/drawing/2014/main" id="{F7FC1296-F508-8E40-A4B5-E31806A83774}"/>
              </a:ext>
            </a:extLst>
          </p:cNvPr>
          <p:cNvSpPr/>
          <p:nvPr/>
        </p:nvSpPr>
        <p:spPr>
          <a:xfrm>
            <a:off x="618835" y="4622058"/>
            <a:ext cx="3437155" cy="20948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latin typeface="Poppins" pitchFamily="2" charset="77"/>
                <a:cs typeface="Poppins" pitchFamily="2" charset="77"/>
              </a:rPr>
              <a:t>Scaled Paid Media</a:t>
            </a:r>
          </a:p>
          <a:p>
            <a:pPr algn="ctr"/>
            <a:r>
              <a:rPr lang="en-US" sz="1600" dirty="0">
                <a:solidFill>
                  <a:schemeClr val="tx1"/>
                </a:solidFill>
                <a:latin typeface="Poppins" pitchFamily="2" charset="77"/>
                <a:cs typeface="Poppins" pitchFamily="2" charset="77"/>
              </a:rPr>
              <a:t>Palm’s yet to do any mass marketing and plans to invest in these efforts making 2026 the biggest customer acquisition year to date. </a:t>
            </a:r>
          </a:p>
        </p:txBody>
      </p:sp>
      <p:sp>
        <p:nvSpPr>
          <p:cNvPr id="12" name="Rectangle 11">
            <a:extLst>
              <a:ext uri="{FF2B5EF4-FFF2-40B4-BE49-F238E27FC236}">
                <a16:creationId xmlns:a16="http://schemas.microsoft.com/office/drawing/2014/main" id="{AE30A775-11D5-ED48-9D87-7148ABBE910F}"/>
              </a:ext>
            </a:extLst>
          </p:cNvPr>
          <p:cNvSpPr/>
          <p:nvPr/>
        </p:nvSpPr>
        <p:spPr>
          <a:xfrm>
            <a:off x="4605553" y="4622058"/>
            <a:ext cx="3437155" cy="20948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latin typeface="Poppins" pitchFamily="2" charset="77"/>
                <a:cs typeface="Poppins" pitchFamily="2" charset="77"/>
              </a:rPr>
              <a:t>New Brand Partnerships</a:t>
            </a:r>
          </a:p>
          <a:p>
            <a:pPr algn="ctr"/>
            <a:r>
              <a:rPr lang="en-US" sz="1600" dirty="0">
                <a:solidFill>
                  <a:schemeClr val="tx1"/>
                </a:solidFill>
                <a:latin typeface="Poppins" pitchFamily="2" charset="77"/>
                <a:cs typeface="Poppins" pitchFamily="2" charset="77"/>
              </a:rPr>
              <a:t>Palm is engaging with several established brands to collaborate additional product categories which is expected to accelerate customer acquisition and revenue growth. </a:t>
            </a:r>
          </a:p>
        </p:txBody>
      </p:sp>
      <p:sp>
        <p:nvSpPr>
          <p:cNvPr id="13" name="Rectangle 12">
            <a:extLst>
              <a:ext uri="{FF2B5EF4-FFF2-40B4-BE49-F238E27FC236}">
                <a16:creationId xmlns:a16="http://schemas.microsoft.com/office/drawing/2014/main" id="{C3EF3446-E8C9-5143-81FD-8067D7B4873B}"/>
              </a:ext>
            </a:extLst>
          </p:cNvPr>
          <p:cNvSpPr/>
          <p:nvPr/>
        </p:nvSpPr>
        <p:spPr>
          <a:xfrm>
            <a:off x="8592271" y="4622058"/>
            <a:ext cx="3437155" cy="209480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b="1" dirty="0">
                <a:solidFill>
                  <a:schemeClr val="tx1"/>
                </a:solidFill>
                <a:latin typeface="Poppins" pitchFamily="2" charset="77"/>
                <a:cs typeface="Poppins" pitchFamily="2" charset="77"/>
              </a:rPr>
              <a:t>Wholesale Investment</a:t>
            </a:r>
          </a:p>
          <a:p>
            <a:pPr algn="ctr"/>
            <a:r>
              <a:rPr lang="en-US" sz="1600" dirty="0">
                <a:solidFill>
                  <a:schemeClr val="tx1"/>
                </a:solidFill>
                <a:latin typeface="Poppins" pitchFamily="2" charset="77"/>
                <a:cs typeface="Poppins" pitchFamily="2" charset="77"/>
              </a:rPr>
              <a:t>Through strategic hiring and past prospecting, Wholesale is expecting to surpass DTC efforts by year 2027 when both channels will eclipse $9MM.  </a:t>
            </a:r>
          </a:p>
        </p:txBody>
      </p:sp>
      <p:sp>
        <p:nvSpPr>
          <p:cNvPr id="15" name="TextBox 14">
            <a:extLst>
              <a:ext uri="{FF2B5EF4-FFF2-40B4-BE49-F238E27FC236}">
                <a16:creationId xmlns:a16="http://schemas.microsoft.com/office/drawing/2014/main" id="{CBF6033C-7A90-9A44-B763-CDF1148A5A98}"/>
              </a:ext>
            </a:extLst>
          </p:cNvPr>
          <p:cNvSpPr txBox="1"/>
          <p:nvPr/>
        </p:nvSpPr>
        <p:spPr>
          <a:xfrm>
            <a:off x="618835" y="3854616"/>
            <a:ext cx="6568632" cy="461665"/>
          </a:xfrm>
          <a:prstGeom prst="rect">
            <a:avLst/>
          </a:prstGeom>
          <a:noFill/>
        </p:spPr>
        <p:txBody>
          <a:bodyPr wrap="square" lIns="91440" tIns="45720" rIns="91440" bIns="45720" anchor="t">
            <a:spAutoFit/>
          </a:bodyPr>
          <a:lstStyle/>
          <a:p>
            <a:r>
              <a:rPr lang="en-US" sz="2400" b="1" dirty="0">
                <a:solidFill>
                  <a:srgbClr val="282828"/>
                </a:solidFill>
                <a:latin typeface="Poppins"/>
                <a:cs typeface="Poppins"/>
              </a:rPr>
              <a:t>The new levers:</a:t>
            </a:r>
          </a:p>
        </p:txBody>
      </p:sp>
      <p:pic>
        <p:nvPicPr>
          <p:cNvPr id="2" name="Picture 1">
            <a:extLst>
              <a:ext uri="{FF2B5EF4-FFF2-40B4-BE49-F238E27FC236}">
                <a16:creationId xmlns:a16="http://schemas.microsoft.com/office/drawing/2014/main" id="{05568332-7F24-0D49-C514-2E11D6409C3B}"/>
              </a:ext>
            </a:extLst>
          </p:cNvPr>
          <p:cNvPicPr>
            <a:picLocks noChangeAspect="1"/>
          </p:cNvPicPr>
          <p:nvPr/>
        </p:nvPicPr>
        <p:blipFill>
          <a:blip r:embed="rId4"/>
          <a:stretch>
            <a:fillRect/>
          </a:stretch>
        </p:blipFill>
        <p:spPr>
          <a:xfrm>
            <a:off x="5765782" y="914710"/>
            <a:ext cx="5419669" cy="3435092"/>
          </a:xfrm>
          <a:prstGeom prst="rect">
            <a:avLst/>
          </a:prstGeom>
        </p:spPr>
      </p:pic>
    </p:spTree>
    <p:extLst>
      <p:ext uri="{BB962C8B-B14F-4D97-AF65-F5344CB8AC3E}">
        <p14:creationId xmlns:p14="http://schemas.microsoft.com/office/powerpoint/2010/main" val="1362621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7" name="Pentagon 6">
            <a:extLst>
              <a:ext uri="{FF2B5EF4-FFF2-40B4-BE49-F238E27FC236}">
                <a16:creationId xmlns:a16="http://schemas.microsoft.com/office/drawing/2014/main" id="{CDD8A853-E248-4E42-9184-E58D8325120B}"/>
              </a:ext>
            </a:extLst>
          </p:cNvPr>
          <p:cNvSpPr/>
          <p:nvPr/>
        </p:nvSpPr>
        <p:spPr>
          <a:xfrm>
            <a:off x="1708557" y="5282821"/>
            <a:ext cx="5322292" cy="93434"/>
          </a:xfrm>
          <a:prstGeom prst="homePlat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Google Shape;62;g11b5860b61b_0_64"/>
          <p:cNvSpPr txBox="1"/>
          <p:nvPr/>
        </p:nvSpPr>
        <p:spPr>
          <a:xfrm>
            <a:off x="401074" y="593871"/>
            <a:ext cx="7781793" cy="1431106"/>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4250" b="1" kern="0" dirty="0">
                <a:solidFill>
                  <a:srgbClr val="282828"/>
                </a:solidFill>
                <a:latin typeface="Poppins"/>
                <a:cs typeface="Poppins"/>
                <a:sym typeface="Century Gothic"/>
              </a:rPr>
              <a:t>The Financials.</a:t>
            </a:r>
          </a:p>
          <a:p>
            <a:pPr defTabSz="1219170">
              <a:buClr>
                <a:srgbClr val="000000"/>
              </a:buClr>
            </a:pPr>
            <a:endParaRPr lang="en-US" sz="4250" kern="0" dirty="0">
              <a:solidFill>
                <a:srgbClr val="282828"/>
              </a:solidFill>
              <a:latin typeface="Poppins"/>
              <a:cs typeface="Poppins"/>
            </a:endParaRPr>
          </a:p>
        </p:txBody>
      </p:sp>
      <p:sp>
        <p:nvSpPr>
          <p:cNvPr id="17" name="Rectangle 16">
            <a:extLst>
              <a:ext uri="{FF2B5EF4-FFF2-40B4-BE49-F238E27FC236}">
                <a16:creationId xmlns:a16="http://schemas.microsoft.com/office/drawing/2014/main" id="{292FF896-6919-F945-A068-01E14A9258C5}"/>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44BA01E6-2549-984C-891A-2FF8DE67E9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5">
            <a:extLst>
              <a:ext uri="{FF2B5EF4-FFF2-40B4-BE49-F238E27FC236}">
                <a16:creationId xmlns:a16="http://schemas.microsoft.com/office/drawing/2014/main" id="{4185B03C-AC4B-C04D-9E2B-DA361DA750A6}"/>
              </a:ext>
            </a:extLst>
          </p:cNvPr>
          <p:cNvGraphicFramePr>
            <a:graphicFrameLocks noGrp="1"/>
          </p:cNvGraphicFramePr>
          <p:nvPr>
            <p:extLst>
              <p:ext uri="{D42A27DB-BD31-4B8C-83A1-F6EECF244321}">
                <p14:modId xmlns:p14="http://schemas.microsoft.com/office/powerpoint/2010/main" val="2043760979"/>
              </p:ext>
            </p:extLst>
          </p:nvPr>
        </p:nvGraphicFramePr>
        <p:xfrm>
          <a:off x="-919951" y="2914673"/>
          <a:ext cx="11163300" cy="2118360"/>
        </p:xfrm>
        <a:graphic>
          <a:graphicData uri="http://schemas.openxmlformats.org/drawingml/2006/table">
            <a:tbl>
              <a:tblPr firstRow="1" bandRow="1">
                <a:tableStyleId>{5C22544A-7EE6-4342-B048-85BDC9FD1C3A}</a:tableStyleId>
              </a:tblPr>
              <a:tblGrid>
                <a:gridCol w="2603500">
                  <a:extLst>
                    <a:ext uri="{9D8B030D-6E8A-4147-A177-3AD203B41FA5}">
                      <a16:colId xmlns:a16="http://schemas.microsoft.com/office/drawing/2014/main" val="3182285700"/>
                    </a:ext>
                  </a:extLst>
                </a:gridCol>
                <a:gridCol w="1955800">
                  <a:extLst>
                    <a:ext uri="{9D8B030D-6E8A-4147-A177-3AD203B41FA5}">
                      <a16:colId xmlns:a16="http://schemas.microsoft.com/office/drawing/2014/main" val="3948557059"/>
                    </a:ext>
                  </a:extLst>
                </a:gridCol>
                <a:gridCol w="1600200">
                  <a:extLst>
                    <a:ext uri="{9D8B030D-6E8A-4147-A177-3AD203B41FA5}">
                      <a16:colId xmlns:a16="http://schemas.microsoft.com/office/drawing/2014/main" val="4284718561"/>
                    </a:ext>
                  </a:extLst>
                </a:gridCol>
                <a:gridCol w="1778000">
                  <a:extLst>
                    <a:ext uri="{9D8B030D-6E8A-4147-A177-3AD203B41FA5}">
                      <a16:colId xmlns:a16="http://schemas.microsoft.com/office/drawing/2014/main" val="3293144100"/>
                    </a:ext>
                  </a:extLst>
                </a:gridCol>
                <a:gridCol w="1365250">
                  <a:extLst>
                    <a:ext uri="{9D8B030D-6E8A-4147-A177-3AD203B41FA5}">
                      <a16:colId xmlns:a16="http://schemas.microsoft.com/office/drawing/2014/main" val="2203211740"/>
                    </a:ext>
                  </a:extLst>
                </a:gridCol>
                <a:gridCol w="1860550">
                  <a:extLst>
                    <a:ext uri="{9D8B030D-6E8A-4147-A177-3AD203B41FA5}">
                      <a16:colId xmlns:a16="http://schemas.microsoft.com/office/drawing/2014/main" val="59857695"/>
                    </a:ext>
                  </a:extLst>
                </a:gridCol>
              </a:tblGrid>
              <a:tr h="370840">
                <a:tc>
                  <a:txBody>
                    <a:bodyPr/>
                    <a:lstStyle/>
                    <a:p>
                      <a:endParaRPr lang="en-US" dirty="0">
                        <a:solidFill>
                          <a:schemeClr val="tx1"/>
                        </a:solidFill>
                        <a:latin typeface="Poppins" pitchFamily="2" charset="77"/>
                        <a:cs typeface="Poppins" pitchFamily="2" charset="77"/>
                      </a:endParaRPr>
                    </a:p>
                  </a:txBody>
                  <a:tcPr>
                    <a:noFill/>
                  </a:tcPr>
                </a:tc>
                <a:tc>
                  <a:txBody>
                    <a:bodyPr/>
                    <a:lstStyle/>
                    <a:p>
                      <a:r>
                        <a:rPr lang="en-US" dirty="0">
                          <a:solidFill>
                            <a:schemeClr val="tx1"/>
                          </a:solidFill>
                          <a:latin typeface="Poppins" pitchFamily="2" charset="77"/>
                          <a:cs typeface="Poppins" pitchFamily="2" charset="77"/>
                        </a:rPr>
                        <a:t>2022</a:t>
                      </a:r>
                    </a:p>
                  </a:txBody>
                  <a:tcPr>
                    <a:solidFill>
                      <a:schemeClr val="bg1">
                        <a:lumMod val="85000"/>
                      </a:schemeClr>
                    </a:solidFill>
                  </a:tcPr>
                </a:tc>
                <a:tc>
                  <a:txBody>
                    <a:bodyPr/>
                    <a:lstStyle/>
                    <a:p>
                      <a:r>
                        <a:rPr lang="en-US" dirty="0">
                          <a:solidFill>
                            <a:schemeClr val="tx1"/>
                          </a:solidFill>
                          <a:latin typeface="Poppins" pitchFamily="2" charset="77"/>
                          <a:cs typeface="Poppins" pitchFamily="2" charset="77"/>
                        </a:rPr>
                        <a:t>2023</a:t>
                      </a:r>
                    </a:p>
                  </a:txBody>
                  <a:tcPr>
                    <a:solidFill>
                      <a:schemeClr val="bg1">
                        <a:lumMod val="85000"/>
                      </a:schemeClr>
                    </a:solidFill>
                  </a:tcPr>
                </a:tc>
                <a:tc>
                  <a:txBody>
                    <a:bodyPr/>
                    <a:lstStyle/>
                    <a:p>
                      <a:r>
                        <a:rPr lang="en-US" dirty="0">
                          <a:solidFill>
                            <a:schemeClr val="tx1"/>
                          </a:solidFill>
                          <a:latin typeface="Poppins" pitchFamily="2" charset="77"/>
                          <a:cs typeface="Poppins" pitchFamily="2" charset="77"/>
                        </a:rPr>
                        <a:t>2024</a:t>
                      </a:r>
                    </a:p>
                  </a:txBody>
                  <a:tcPr>
                    <a:solidFill>
                      <a:schemeClr val="bg1">
                        <a:lumMod val="85000"/>
                      </a:schemeClr>
                    </a:solidFill>
                  </a:tcPr>
                </a:tc>
                <a:tc>
                  <a:txBody>
                    <a:bodyPr/>
                    <a:lstStyle/>
                    <a:p>
                      <a:r>
                        <a:rPr lang="en-US" dirty="0">
                          <a:solidFill>
                            <a:schemeClr val="bg1"/>
                          </a:solidFill>
                          <a:latin typeface="Poppins" pitchFamily="2" charset="77"/>
                          <a:cs typeface="Poppins" pitchFamily="2" charset="77"/>
                        </a:rPr>
                        <a:t>2025 as of </a:t>
                      </a:r>
                      <a:r>
                        <a:rPr lang="en-US" sz="1200" dirty="0">
                          <a:solidFill>
                            <a:schemeClr val="bg1"/>
                          </a:solidFill>
                          <a:latin typeface="Poppins" pitchFamily="2" charset="77"/>
                          <a:cs typeface="Poppins" pitchFamily="2" charset="77"/>
                        </a:rPr>
                        <a:t>May 30,2025</a:t>
                      </a:r>
                    </a:p>
                  </a:txBody>
                  <a:tcPr>
                    <a:solidFill>
                      <a:srgbClr val="82CEC4"/>
                    </a:solidFill>
                  </a:tcPr>
                </a:tc>
                <a:tc>
                  <a:txBody>
                    <a:bodyPr/>
                    <a:lstStyle/>
                    <a:p>
                      <a:r>
                        <a:rPr lang="en-US" dirty="0">
                          <a:solidFill>
                            <a:schemeClr val="bg1"/>
                          </a:solidFill>
                          <a:latin typeface="Poppins" pitchFamily="2" charset="77"/>
                          <a:cs typeface="Poppins" pitchFamily="2" charset="77"/>
                        </a:rPr>
                        <a:t>2026</a:t>
                      </a:r>
                    </a:p>
                  </a:txBody>
                  <a:tcPr>
                    <a:solidFill>
                      <a:srgbClr val="82CEC4"/>
                    </a:solidFill>
                  </a:tcPr>
                </a:tc>
                <a:extLst>
                  <a:ext uri="{0D108BD9-81ED-4DB2-BD59-A6C34878D82A}">
                    <a16:rowId xmlns:a16="http://schemas.microsoft.com/office/drawing/2014/main" val="3838372074"/>
                  </a:ext>
                </a:extLst>
              </a:tr>
              <a:tr h="37084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rPr>
                        <a:t>Revenue</a:t>
                      </a:r>
                      <a:endParaRPr lang="en-US" sz="1200" b="0" i="0" u="none" strike="noStrike" cap="none" dirty="0">
                        <a:solidFill>
                          <a:schemeClr val="tx1"/>
                        </a:solidFill>
                        <a:latin typeface="Poppins" pitchFamily="2" charset="77"/>
                        <a:ea typeface="+mn-ea"/>
                        <a:cs typeface="Poppins" pitchFamily="2" charset="77"/>
                        <a:sym typeface="Arial"/>
                      </a:endParaRP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$1,696,018</a:t>
                      </a: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$2,332,302</a:t>
                      </a: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a:t>
                      </a:r>
                      <a:r>
                        <a:rPr lang="en-US" sz="1200" b="0" i="0" u="none" strike="noStrike" cap="none" dirty="0">
                          <a:solidFill>
                            <a:schemeClr val="tx1"/>
                          </a:solidFill>
                          <a:latin typeface="Poppins" pitchFamily="2" charset="77"/>
                          <a:ea typeface="+mn-ea"/>
                          <a:cs typeface="Poppins" pitchFamily="2" charset="77"/>
                        </a:rPr>
                        <a:t>2,476,293</a:t>
                      </a:r>
                      <a:endParaRPr lang="en-US" sz="1200" b="0" i="0" u="none" strike="noStrike" cap="none" dirty="0">
                        <a:solidFill>
                          <a:schemeClr val="tx1"/>
                        </a:solidFill>
                        <a:latin typeface="Poppins" pitchFamily="2" charset="77"/>
                        <a:ea typeface="+mn-ea"/>
                        <a:cs typeface="Poppins" pitchFamily="2" charset="77"/>
                        <a:sym typeface="Arial"/>
                      </a:endParaRP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bg1"/>
                          </a:solidFill>
                          <a:latin typeface="Poppins" pitchFamily="2" charset="77"/>
                          <a:ea typeface="+mn-ea"/>
                          <a:cs typeface="Poppins" pitchFamily="2" charset="77"/>
                          <a:sym typeface="Arial"/>
                        </a:rPr>
                        <a:t>$1,054,881.09</a:t>
                      </a:r>
                    </a:p>
                  </a:txBody>
                  <a:tcPr>
                    <a:solidFill>
                      <a:srgbClr val="82CEC4"/>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bg1"/>
                          </a:solidFill>
                          <a:latin typeface="Poppins" pitchFamily="2" charset="77"/>
                          <a:ea typeface="+mn-ea"/>
                          <a:cs typeface="Poppins" pitchFamily="2" charset="77"/>
                          <a:sym typeface="Arial"/>
                        </a:rPr>
                        <a:t>$4,500,000</a:t>
                      </a:r>
                    </a:p>
                  </a:txBody>
                  <a:tcPr>
                    <a:solidFill>
                      <a:srgbClr val="82CEC4"/>
                    </a:solidFill>
                  </a:tcPr>
                </a:tc>
                <a:extLst>
                  <a:ext uri="{0D108BD9-81ED-4DB2-BD59-A6C34878D82A}">
                    <a16:rowId xmlns:a16="http://schemas.microsoft.com/office/drawing/2014/main" val="3505894684"/>
                  </a:ext>
                </a:extLst>
              </a:tr>
              <a:tr h="37084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Gross Profit</a:t>
                      </a: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$779,855</a:t>
                      </a: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$1,177,244</a:t>
                      </a: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$1,279,185.66</a:t>
                      </a: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bg1"/>
                          </a:solidFill>
                          <a:latin typeface="Poppins" pitchFamily="2" charset="77"/>
                          <a:ea typeface="+mn-ea"/>
                          <a:cs typeface="Poppins" pitchFamily="2" charset="77"/>
                          <a:sym typeface="Arial"/>
                        </a:rPr>
                        <a:t>$524,479.00</a:t>
                      </a:r>
                    </a:p>
                  </a:txBody>
                  <a:tcPr>
                    <a:solidFill>
                      <a:srgbClr val="82CEC4"/>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bg1"/>
                          </a:solidFill>
                          <a:latin typeface="Poppins" pitchFamily="2" charset="77"/>
                          <a:ea typeface="+mn-ea"/>
                          <a:cs typeface="Poppins" pitchFamily="2" charset="77"/>
                          <a:sym typeface="Arial"/>
                        </a:rPr>
                        <a:t>$2,475,000</a:t>
                      </a:r>
                    </a:p>
                  </a:txBody>
                  <a:tcPr>
                    <a:solidFill>
                      <a:srgbClr val="82CEC4"/>
                    </a:solidFill>
                  </a:tcPr>
                </a:tc>
                <a:extLst>
                  <a:ext uri="{0D108BD9-81ED-4DB2-BD59-A6C34878D82A}">
                    <a16:rowId xmlns:a16="http://schemas.microsoft.com/office/drawing/2014/main" val="831180615"/>
                  </a:ext>
                </a:extLst>
              </a:tr>
              <a:tr h="370840">
                <a:tc>
                  <a:txBody>
                    <a:bodyPr/>
                    <a:lstStyle/>
                    <a:p>
                      <a:pPr marL="0" marR="0" lvl="0" indent="0" algn="r" rtl="0" eaLnBrk="1" fontAlgn="auto" latinLnBrk="0" hangingPunct="1">
                        <a:lnSpc>
                          <a:spcPct val="100000"/>
                        </a:lnSpc>
                        <a:spcBef>
                          <a:spcPts val="0"/>
                        </a:spcBef>
                        <a:spcAft>
                          <a:spcPts val="0"/>
                        </a:spcAft>
                        <a:buClr>
                          <a:srgbClr val="000000"/>
                        </a:buClr>
                        <a:buSzTx/>
                        <a:buFont typeface="Arial"/>
                        <a:buNone/>
                      </a:pPr>
                      <a:r>
                        <a:rPr lang="en-US" sz="1200" b="0" i="0" u="none" strike="noStrike" cap="none" dirty="0">
                          <a:solidFill>
                            <a:schemeClr val="tx1"/>
                          </a:solidFill>
                          <a:latin typeface="Poppins" pitchFamily="2" charset="77"/>
                          <a:ea typeface="+mn-ea"/>
                          <a:cs typeface="Poppins" pitchFamily="2" charset="77"/>
                          <a:sym typeface="Arial"/>
                        </a:rPr>
                        <a:t>Total Expenses</a:t>
                      </a:r>
                      <a:r>
                        <a:rPr lang="en-US" sz="1200" b="0" i="0" u="none" strike="noStrike" cap="none" dirty="0">
                          <a:solidFill>
                            <a:schemeClr val="tx1"/>
                          </a:solidFill>
                          <a:latin typeface="Poppins" pitchFamily="2" charset="77"/>
                          <a:ea typeface="+mn-ea"/>
                          <a:cs typeface="Poppins" pitchFamily="2" charset="77"/>
                        </a:rPr>
                        <a:t> </a:t>
                      </a:r>
                      <a:endParaRPr lang="en-US" sz="1200" b="0" i="0" u="none" strike="noStrike" cap="none">
                        <a:solidFill>
                          <a:schemeClr val="tx1"/>
                        </a:solidFill>
                        <a:latin typeface="Poppins" pitchFamily="2" charset="77"/>
                        <a:ea typeface="+mn-ea"/>
                        <a:cs typeface="Poppins" pitchFamily="2" charset="77"/>
                        <a:sym typeface="Arial"/>
                      </a:endParaRPr>
                    </a:p>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050" b="0" i="1" u="none" strike="noStrike" cap="none" dirty="0">
                          <a:solidFill>
                            <a:schemeClr val="tx1"/>
                          </a:solidFill>
                          <a:latin typeface="Poppins" pitchFamily="2" charset="77"/>
                          <a:ea typeface="+mn-ea"/>
                          <a:cs typeface="Poppins" pitchFamily="2" charset="77"/>
                          <a:sym typeface="Arial"/>
                        </a:rPr>
                        <a:t>%Marketing</a:t>
                      </a:r>
                    </a:p>
                  </a:txBody>
                  <a:tcPr>
                    <a:noFill/>
                  </a:tcPr>
                </a:tc>
                <a:tc>
                  <a:txBody>
                    <a:bodyPr/>
                    <a:lstStyle/>
                    <a:p>
                      <a:pPr marL="0" marR="0" lvl="0" indent="0" algn="l" rtl="0" eaLnBrk="1" fontAlgn="auto" latinLnBrk="0" hangingPunct="1">
                        <a:lnSpc>
                          <a:spcPct val="100000"/>
                        </a:lnSpc>
                        <a:spcBef>
                          <a:spcPts val="0"/>
                        </a:spcBef>
                        <a:spcAft>
                          <a:spcPts val="0"/>
                        </a:spcAft>
                        <a:buClr>
                          <a:srgbClr val="000000"/>
                        </a:buClr>
                        <a:buSzTx/>
                        <a:buFont typeface="Arial"/>
                        <a:buNone/>
                      </a:pPr>
                      <a:r>
                        <a:rPr lang="en-US" sz="1200" b="0" i="0" u="none" strike="noStrike" cap="none" dirty="0">
                          <a:solidFill>
                            <a:schemeClr val="tx1"/>
                          </a:solidFill>
                          <a:latin typeface="Poppins" pitchFamily="2" charset="77"/>
                          <a:ea typeface="+mn-ea"/>
                          <a:cs typeface="Poppins" pitchFamily="2" charset="77"/>
                          <a:sym typeface="Arial"/>
                        </a:rPr>
                        <a:t>$807,849</a:t>
                      </a:r>
                      <a:r>
                        <a:rPr lang="en-US" sz="1200" b="0" i="0" u="none" strike="noStrike" cap="none" dirty="0">
                          <a:solidFill>
                            <a:schemeClr val="tx1"/>
                          </a:solidFill>
                          <a:latin typeface="Poppins" pitchFamily="2" charset="77"/>
                          <a:ea typeface="+mn-ea"/>
                          <a:cs typeface="Poppins" pitchFamily="2" charset="77"/>
                        </a:rPr>
                        <a:t> </a:t>
                      </a:r>
                      <a:endParaRPr lang="en-US" sz="1200" b="0" i="0" u="none" strike="noStrike" cap="none" dirty="0">
                        <a:solidFill>
                          <a:schemeClr val="tx1"/>
                        </a:solidFill>
                        <a:latin typeface="Poppins" pitchFamily="2" charset="77"/>
                        <a:ea typeface="+mn-ea"/>
                        <a:cs typeface="Poppins" pitchFamily="2" charset="77"/>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57%</a:t>
                      </a: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$1,699,886</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51%</a:t>
                      </a: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$1,533,458.22</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62%</a:t>
                      </a: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bg1"/>
                          </a:solidFill>
                          <a:latin typeface="Poppins" pitchFamily="2" charset="77"/>
                          <a:ea typeface="+mn-ea"/>
                          <a:cs typeface="Poppins" pitchFamily="2" charset="77"/>
                          <a:sym typeface="Arial"/>
                        </a:rPr>
                        <a:t>$523,543.51</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bg1"/>
                          </a:solidFill>
                          <a:latin typeface="Poppins" pitchFamily="2" charset="77"/>
                          <a:ea typeface="+mn-ea"/>
                          <a:cs typeface="Poppins" pitchFamily="2" charset="77"/>
                          <a:sym typeface="Arial"/>
                        </a:rPr>
                        <a:t>60%   </a:t>
                      </a:r>
                    </a:p>
                  </a:txBody>
                  <a:tcPr>
                    <a:solidFill>
                      <a:srgbClr val="82CEC4"/>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bg1"/>
                          </a:solidFill>
                          <a:latin typeface="Poppins" pitchFamily="2" charset="77"/>
                          <a:ea typeface="+mn-ea"/>
                          <a:cs typeface="Poppins" pitchFamily="2" charset="77"/>
                          <a:sym typeface="Arial"/>
                        </a:rPr>
                        <a:t>$3,275,000</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bg1"/>
                          </a:solidFill>
                          <a:latin typeface="Poppins" pitchFamily="2" charset="77"/>
                          <a:ea typeface="+mn-ea"/>
                          <a:cs typeface="Poppins" pitchFamily="2" charset="77"/>
                          <a:sym typeface="Arial"/>
                        </a:rPr>
                        <a:t>65%</a:t>
                      </a:r>
                    </a:p>
                  </a:txBody>
                  <a:tcPr>
                    <a:solidFill>
                      <a:srgbClr val="82CEC4"/>
                    </a:solidFill>
                  </a:tcPr>
                </a:tc>
                <a:extLst>
                  <a:ext uri="{0D108BD9-81ED-4DB2-BD59-A6C34878D82A}">
                    <a16:rowId xmlns:a16="http://schemas.microsoft.com/office/drawing/2014/main" val="1348575418"/>
                  </a:ext>
                </a:extLst>
              </a:tr>
              <a:tr h="370840">
                <a:tc>
                  <a:txBody>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Net Income</a:t>
                      </a:r>
                    </a:p>
                  </a:txBody>
                  <a:tcPr>
                    <a:no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($27,994)</a:t>
                      </a: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($524,585)</a:t>
                      </a: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tx1"/>
                          </a:solidFill>
                          <a:latin typeface="Poppins" pitchFamily="2" charset="77"/>
                          <a:ea typeface="+mn-ea"/>
                          <a:cs typeface="Poppins" pitchFamily="2" charset="77"/>
                          <a:sym typeface="Arial"/>
                        </a:rPr>
                        <a:t>($236,521.69)</a:t>
                      </a:r>
                    </a:p>
                  </a:txBody>
                  <a:tcPr>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bg1"/>
                          </a:solidFill>
                          <a:latin typeface="Poppins" pitchFamily="2" charset="77"/>
                          <a:ea typeface="+mn-ea"/>
                          <a:cs typeface="Poppins" pitchFamily="2" charset="77"/>
                          <a:sym typeface="Arial"/>
                        </a:rPr>
                        <a:t>$2,471.55</a:t>
                      </a:r>
                    </a:p>
                  </a:txBody>
                  <a:tcPr>
                    <a:solidFill>
                      <a:srgbClr val="82CEC4"/>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0" i="0" u="none" strike="noStrike" cap="none" dirty="0">
                          <a:solidFill>
                            <a:schemeClr val="bg1"/>
                          </a:solidFill>
                          <a:latin typeface="Poppins" pitchFamily="2" charset="77"/>
                          <a:ea typeface="+mn-ea"/>
                          <a:cs typeface="Poppins" pitchFamily="2" charset="77"/>
                          <a:sym typeface="Arial"/>
                        </a:rPr>
                        <a:t>($840,000)</a:t>
                      </a:r>
                    </a:p>
                  </a:txBody>
                  <a:tcPr>
                    <a:solidFill>
                      <a:srgbClr val="82CEC4"/>
                    </a:solidFill>
                  </a:tcPr>
                </a:tc>
                <a:extLst>
                  <a:ext uri="{0D108BD9-81ED-4DB2-BD59-A6C34878D82A}">
                    <a16:rowId xmlns:a16="http://schemas.microsoft.com/office/drawing/2014/main" val="3508656846"/>
                  </a:ext>
                </a:extLst>
              </a:tr>
            </a:tbl>
          </a:graphicData>
        </a:graphic>
      </p:graphicFrame>
      <p:sp>
        <p:nvSpPr>
          <p:cNvPr id="2" name="TextBox 1">
            <a:extLst>
              <a:ext uri="{FF2B5EF4-FFF2-40B4-BE49-F238E27FC236}">
                <a16:creationId xmlns:a16="http://schemas.microsoft.com/office/drawing/2014/main" id="{806825E7-1DFF-DB4E-B255-D8A059B2D323}"/>
              </a:ext>
            </a:extLst>
          </p:cNvPr>
          <p:cNvSpPr txBox="1"/>
          <p:nvPr/>
        </p:nvSpPr>
        <p:spPr>
          <a:xfrm>
            <a:off x="1619653" y="1760346"/>
            <a:ext cx="1680487" cy="1107996"/>
          </a:xfrm>
          <a:prstGeom prst="rect">
            <a:avLst/>
          </a:prstGeom>
          <a:noFill/>
        </p:spPr>
        <p:txBody>
          <a:bodyPr wrap="square" rtlCol="0">
            <a:spAutoFit/>
          </a:bodyPr>
          <a:lstStyle/>
          <a:p>
            <a:pPr marL="285750" indent="-285750">
              <a:buFont typeface="Arial" panose="020B0604020202020204" pitchFamily="34" charset="0"/>
              <a:buChar char="•"/>
            </a:pPr>
            <a:r>
              <a:rPr lang="en-US" sz="1100" dirty="0">
                <a:latin typeface="Poppins" pitchFamily="2" charset="77"/>
                <a:cs typeface="Poppins" pitchFamily="2" charset="77"/>
              </a:rPr>
              <a:t>No FTE’s</a:t>
            </a:r>
          </a:p>
          <a:p>
            <a:pPr marL="285750" indent="-285750">
              <a:buFont typeface="Arial" panose="020B0604020202020204" pitchFamily="34" charset="0"/>
              <a:buChar char="•"/>
            </a:pPr>
            <a:r>
              <a:rPr lang="en-US" sz="1100" dirty="0">
                <a:latin typeface="Poppins" pitchFamily="2" charset="77"/>
                <a:cs typeface="Poppins" pitchFamily="2" charset="77"/>
              </a:rPr>
              <a:t>Wholesale Lesson</a:t>
            </a:r>
          </a:p>
          <a:p>
            <a:pPr marL="285750" indent="-285750">
              <a:buFont typeface="Arial" panose="020B0604020202020204" pitchFamily="34" charset="0"/>
              <a:buChar char="•"/>
            </a:pPr>
            <a:r>
              <a:rPr lang="en-US" sz="1100" dirty="0">
                <a:latin typeface="Poppins" pitchFamily="2" charset="77"/>
                <a:cs typeface="Poppins" pitchFamily="2" charset="77"/>
              </a:rPr>
              <a:t>DTC lift</a:t>
            </a:r>
          </a:p>
          <a:p>
            <a:pPr marL="285750" indent="-285750">
              <a:buFont typeface="Arial" panose="020B0604020202020204" pitchFamily="34" charset="0"/>
              <a:buChar char="•"/>
            </a:pPr>
            <a:endParaRPr lang="en-US" sz="1100" dirty="0">
              <a:highlight>
                <a:srgbClr val="FFFF00"/>
              </a:highlight>
              <a:latin typeface="Poppins" pitchFamily="2" charset="77"/>
              <a:cs typeface="Poppins" pitchFamily="2" charset="77"/>
            </a:endParaRPr>
          </a:p>
          <a:p>
            <a:pPr marL="285750" indent="-285750">
              <a:buFont typeface="Arial" panose="020B0604020202020204" pitchFamily="34" charset="0"/>
              <a:buChar char="•"/>
            </a:pPr>
            <a:endParaRPr lang="en-US" sz="1100" dirty="0">
              <a:highlight>
                <a:srgbClr val="FFFF00"/>
              </a:highlight>
              <a:latin typeface="Poppins" pitchFamily="2" charset="77"/>
              <a:cs typeface="Poppins" pitchFamily="2" charset="77"/>
            </a:endParaRPr>
          </a:p>
        </p:txBody>
      </p:sp>
      <p:sp>
        <p:nvSpPr>
          <p:cNvPr id="8" name="TextBox 7">
            <a:extLst>
              <a:ext uri="{FF2B5EF4-FFF2-40B4-BE49-F238E27FC236}">
                <a16:creationId xmlns:a16="http://schemas.microsoft.com/office/drawing/2014/main" id="{3A0E1DE0-22B8-924C-93FF-0F8A3C961ED3}"/>
              </a:ext>
            </a:extLst>
          </p:cNvPr>
          <p:cNvSpPr txBox="1"/>
          <p:nvPr/>
        </p:nvSpPr>
        <p:spPr>
          <a:xfrm>
            <a:off x="3190757" y="1760346"/>
            <a:ext cx="1911750" cy="1107996"/>
          </a:xfrm>
          <a:prstGeom prst="rect">
            <a:avLst/>
          </a:prstGeom>
          <a:noFill/>
        </p:spPr>
        <p:txBody>
          <a:bodyPr wrap="square" rtlCol="0">
            <a:spAutoFit/>
          </a:bodyPr>
          <a:lstStyle/>
          <a:p>
            <a:pPr marL="285750" indent="-285750">
              <a:buFont typeface="Arial" panose="020B0604020202020204" pitchFamily="34" charset="0"/>
              <a:buChar char="•"/>
            </a:pPr>
            <a:r>
              <a:rPr lang="en-US" sz="1100" dirty="0">
                <a:latin typeface="Poppins" pitchFamily="2" charset="77"/>
                <a:cs typeface="Poppins" pitchFamily="2" charset="77"/>
              </a:rPr>
              <a:t>Added owners in payroll</a:t>
            </a:r>
          </a:p>
          <a:p>
            <a:pPr marL="285750" indent="-285750">
              <a:buFont typeface="Arial" panose="020B0604020202020204" pitchFamily="34" charset="0"/>
              <a:buChar char="•"/>
            </a:pPr>
            <a:r>
              <a:rPr lang="en-US" sz="1100" dirty="0">
                <a:latin typeface="Poppins" pitchFamily="2" charset="77"/>
                <a:cs typeface="Poppins" pitchFamily="2" charset="77"/>
              </a:rPr>
              <a:t>Additional setup costs</a:t>
            </a:r>
          </a:p>
          <a:p>
            <a:pPr marL="285750" indent="-285750">
              <a:buFont typeface="Arial" panose="020B0604020202020204" pitchFamily="34" charset="0"/>
              <a:buChar char="•"/>
            </a:pPr>
            <a:r>
              <a:rPr lang="en-US" sz="1100" dirty="0">
                <a:latin typeface="Poppins" pitchFamily="2" charset="77"/>
                <a:cs typeface="Poppins" pitchFamily="2" charset="77"/>
              </a:rPr>
              <a:t>Increased marketing spend </a:t>
            </a:r>
          </a:p>
        </p:txBody>
      </p:sp>
      <p:cxnSp>
        <p:nvCxnSpPr>
          <p:cNvPr id="4" name="Straight Connector 3">
            <a:extLst>
              <a:ext uri="{FF2B5EF4-FFF2-40B4-BE49-F238E27FC236}">
                <a16:creationId xmlns:a16="http://schemas.microsoft.com/office/drawing/2014/main" id="{3904B6B0-C229-9343-9962-5F97DD577F95}"/>
              </a:ext>
            </a:extLst>
          </p:cNvPr>
          <p:cNvCxnSpPr>
            <a:cxnSpLocks/>
          </p:cNvCxnSpPr>
          <p:nvPr/>
        </p:nvCxnSpPr>
        <p:spPr>
          <a:xfrm>
            <a:off x="2032620" y="2550861"/>
            <a:ext cx="0" cy="342162"/>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9F0A3C35-3946-2249-995B-A2FD9B37E8F7}"/>
              </a:ext>
            </a:extLst>
          </p:cNvPr>
          <p:cNvCxnSpPr>
            <a:cxnSpLocks/>
          </p:cNvCxnSpPr>
          <p:nvPr/>
        </p:nvCxnSpPr>
        <p:spPr>
          <a:xfrm flipH="1">
            <a:off x="3827413" y="2594161"/>
            <a:ext cx="6354" cy="298862"/>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E85636A4-003E-3149-B2E3-DD5197E80ED6}"/>
              </a:ext>
            </a:extLst>
          </p:cNvPr>
          <p:cNvSpPr txBox="1"/>
          <p:nvPr/>
        </p:nvSpPr>
        <p:spPr>
          <a:xfrm>
            <a:off x="4970414" y="1760346"/>
            <a:ext cx="2111240" cy="938719"/>
          </a:xfrm>
          <a:prstGeom prst="rect">
            <a:avLst/>
          </a:prstGeom>
          <a:noFill/>
        </p:spPr>
        <p:txBody>
          <a:bodyPr wrap="square" rtlCol="0">
            <a:spAutoFit/>
          </a:bodyPr>
          <a:lstStyle/>
          <a:p>
            <a:pPr marL="285750" indent="-285750">
              <a:buFont typeface="Arial" panose="020B0604020202020204" pitchFamily="34" charset="0"/>
              <a:buChar char="•"/>
            </a:pPr>
            <a:r>
              <a:rPr lang="en-US" sz="1100" dirty="0">
                <a:latin typeface="Poppins" pitchFamily="2" charset="77"/>
                <a:cs typeface="Poppins" pitchFamily="2" charset="77"/>
              </a:rPr>
              <a:t>Expense Management Correction</a:t>
            </a:r>
          </a:p>
          <a:p>
            <a:pPr marL="285750" indent="-285750">
              <a:buFont typeface="Arial" panose="020B0604020202020204" pitchFamily="34" charset="0"/>
              <a:buChar char="•"/>
            </a:pPr>
            <a:r>
              <a:rPr lang="en-US" sz="1100" dirty="0">
                <a:latin typeface="Poppins" pitchFamily="2" charset="77"/>
                <a:cs typeface="Poppins" pitchFamily="2" charset="77"/>
              </a:rPr>
              <a:t>Rolled back Marketing spend</a:t>
            </a:r>
          </a:p>
          <a:p>
            <a:pPr marL="285750" indent="-285750">
              <a:buFont typeface="Arial" panose="020B0604020202020204" pitchFamily="34" charset="0"/>
              <a:buChar char="•"/>
            </a:pPr>
            <a:r>
              <a:rPr lang="en-US" sz="1100" dirty="0">
                <a:latin typeface="Poppins" pitchFamily="2" charset="77"/>
                <a:cs typeface="Poppins" pitchFamily="2" charset="77"/>
              </a:rPr>
              <a:t>Cap Raise preparation</a:t>
            </a:r>
          </a:p>
        </p:txBody>
      </p:sp>
      <p:cxnSp>
        <p:nvCxnSpPr>
          <p:cNvPr id="16" name="Straight Connector 15">
            <a:extLst>
              <a:ext uri="{FF2B5EF4-FFF2-40B4-BE49-F238E27FC236}">
                <a16:creationId xmlns:a16="http://schemas.microsoft.com/office/drawing/2014/main" id="{89DE5053-FBA6-9A41-A9AF-2AC7B1B643C1}"/>
              </a:ext>
            </a:extLst>
          </p:cNvPr>
          <p:cNvCxnSpPr/>
          <p:nvPr/>
        </p:nvCxnSpPr>
        <p:spPr>
          <a:xfrm>
            <a:off x="5616469" y="2589066"/>
            <a:ext cx="0" cy="348159"/>
          </a:xfrm>
          <a:prstGeom prst="line">
            <a:avLst/>
          </a:prstGeom>
          <a:ln>
            <a:solidFill>
              <a:schemeClr val="bg2"/>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F1529D83-CFC6-A644-ADDB-4458D6DD09E7}"/>
              </a:ext>
            </a:extLst>
          </p:cNvPr>
          <p:cNvSpPr txBox="1"/>
          <p:nvPr/>
        </p:nvSpPr>
        <p:spPr>
          <a:xfrm>
            <a:off x="1619653" y="4933650"/>
            <a:ext cx="6096000" cy="369332"/>
          </a:xfrm>
          <a:prstGeom prst="rect">
            <a:avLst/>
          </a:prstGeom>
          <a:noFill/>
        </p:spPr>
        <p:txBody>
          <a:bodyPr wrap="square">
            <a:spAutoFit/>
          </a:bodyPr>
          <a:lstStyle/>
          <a:p>
            <a:r>
              <a:rPr lang="en-US" sz="1800" dirty="0">
                <a:latin typeface="Futura Medium" panose="020B0602020204020303" pitchFamily="34" charset="-79"/>
                <a:cs typeface="Futura Medium" panose="020B0602020204020303" pitchFamily="34" charset="-79"/>
              </a:rPr>
              <a:t>Bootstrapped investment</a:t>
            </a:r>
          </a:p>
        </p:txBody>
      </p:sp>
      <p:sp>
        <p:nvSpPr>
          <p:cNvPr id="20" name="TextBox 19">
            <a:extLst>
              <a:ext uri="{FF2B5EF4-FFF2-40B4-BE49-F238E27FC236}">
                <a16:creationId xmlns:a16="http://schemas.microsoft.com/office/drawing/2014/main" id="{CFECC6CC-1705-9447-B4B7-2857C8155E78}"/>
              </a:ext>
            </a:extLst>
          </p:cNvPr>
          <p:cNvSpPr txBox="1"/>
          <p:nvPr/>
        </p:nvSpPr>
        <p:spPr>
          <a:xfrm>
            <a:off x="7030849" y="4933650"/>
            <a:ext cx="6096000" cy="369332"/>
          </a:xfrm>
          <a:prstGeom prst="rect">
            <a:avLst/>
          </a:prstGeom>
          <a:noFill/>
        </p:spPr>
        <p:txBody>
          <a:bodyPr wrap="square" lIns="91440" tIns="45720" rIns="91440" bIns="45720" anchor="t">
            <a:spAutoFit/>
          </a:bodyPr>
          <a:lstStyle/>
          <a:p>
            <a:r>
              <a:rPr lang="en-US" sz="1800" dirty="0">
                <a:solidFill>
                  <a:srgbClr val="82CEC4"/>
                </a:solidFill>
                <a:latin typeface="Futura Medium" panose="020B0602020204020303" pitchFamily="34" charset="-79"/>
                <a:cs typeface="Futura Medium"/>
              </a:rPr>
              <a:t>Seed Round funding</a:t>
            </a:r>
            <a:r>
              <a:rPr lang="en-US" dirty="0">
                <a:solidFill>
                  <a:srgbClr val="82CEC4"/>
                </a:solidFill>
                <a:latin typeface="Futura Medium" panose="020B0602020204020303" pitchFamily="34" charset="-79"/>
                <a:cs typeface="Futura Medium"/>
              </a:rPr>
              <a:t> </a:t>
            </a:r>
            <a:endParaRPr lang="en-US" sz="1800" dirty="0">
              <a:solidFill>
                <a:srgbClr val="82CEC4"/>
              </a:solidFill>
              <a:latin typeface="Futura Medium" panose="020B0602020204020303" pitchFamily="34" charset="-79"/>
              <a:cs typeface="Futura Medium" panose="020B0602020204020303" pitchFamily="34" charset="-79"/>
            </a:endParaRPr>
          </a:p>
        </p:txBody>
      </p:sp>
      <p:sp>
        <p:nvSpPr>
          <p:cNvPr id="22" name="Pentagon 21">
            <a:extLst>
              <a:ext uri="{FF2B5EF4-FFF2-40B4-BE49-F238E27FC236}">
                <a16:creationId xmlns:a16="http://schemas.microsoft.com/office/drawing/2014/main" id="{15D2CB31-4436-9148-A569-11D25092B68D}"/>
              </a:ext>
            </a:extLst>
          </p:cNvPr>
          <p:cNvSpPr/>
          <p:nvPr/>
        </p:nvSpPr>
        <p:spPr>
          <a:xfrm>
            <a:off x="7081654" y="5281211"/>
            <a:ext cx="3161695" cy="93434"/>
          </a:xfrm>
          <a:prstGeom prst="homePlat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055C99D-211B-B947-92AE-1007868D00DF}"/>
              </a:ext>
            </a:extLst>
          </p:cNvPr>
          <p:cNvSpPr txBox="1"/>
          <p:nvPr/>
        </p:nvSpPr>
        <p:spPr>
          <a:xfrm>
            <a:off x="1619653" y="5536280"/>
            <a:ext cx="7148050" cy="738664"/>
          </a:xfrm>
          <a:prstGeom prst="rect">
            <a:avLst/>
          </a:prstGeom>
          <a:noFill/>
        </p:spPr>
        <p:txBody>
          <a:bodyPr wrap="square">
            <a:spAutoFit/>
          </a:bodyPr>
          <a:lstStyle/>
          <a:p>
            <a:pPr marL="171450" indent="-171450">
              <a:buFont typeface="Arial" panose="020B0604020202020204" pitchFamily="34" charset="0"/>
              <a:buChar char="•"/>
            </a:pPr>
            <a:r>
              <a:rPr lang="en-US" sz="1400" b="1" dirty="0">
                <a:solidFill>
                  <a:schemeClr val="bg1">
                    <a:lumMod val="50000"/>
                  </a:schemeClr>
                </a:solidFill>
                <a:latin typeface="Poppins" pitchFamily="2" charset="77"/>
                <a:cs typeface="Poppins" pitchFamily="2" charset="77"/>
              </a:rPr>
              <a:t>Established infrastructure to scale DTC and wholesale</a:t>
            </a:r>
          </a:p>
          <a:p>
            <a:pPr marL="171450" indent="-171450">
              <a:buFont typeface="Arial" panose="020B0604020202020204" pitchFamily="34" charset="0"/>
              <a:buChar char="•"/>
            </a:pPr>
            <a:r>
              <a:rPr lang="en-US" sz="1400" b="1" dirty="0">
                <a:solidFill>
                  <a:schemeClr val="bg1">
                    <a:lumMod val="50000"/>
                  </a:schemeClr>
                </a:solidFill>
                <a:latin typeface="Poppins" pitchFamily="2" charset="77"/>
                <a:cs typeface="Poppins" pitchFamily="2" charset="77"/>
              </a:rPr>
              <a:t>SEM and Test into Programmatic Media</a:t>
            </a:r>
          </a:p>
          <a:p>
            <a:pPr marL="171450" indent="-171450">
              <a:buFont typeface="Arial" panose="020B0604020202020204" pitchFamily="34" charset="0"/>
              <a:buChar char="•"/>
            </a:pPr>
            <a:r>
              <a:rPr lang="en-US" sz="1400" b="1" dirty="0">
                <a:solidFill>
                  <a:schemeClr val="bg1">
                    <a:lumMod val="50000"/>
                  </a:schemeClr>
                </a:solidFill>
                <a:latin typeface="Poppins" pitchFamily="2" charset="77"/>
                <a:cs typeface="Poppins" pitchFamily="2" charset="77"/>
              </a:rPr>
              <a:t>Organic PR an Initial Influencer Reach</a:t>
            </a:r>
          </a:p>
        </p:txBody>
      </p:sp>
      <p:sp>
        <p:nvSpPr>
          <p:cNvPr id="24" name="TextBox 23">
            <a:extLst>
              <a:ext uri="{FF2B5EF4-FFF2-40B4-BE49-F238E27FC236}">
                <a16:creationId xmlns:a16="http://schemas.microsoft.com/office/drawing/2014/main" id="{8FBE1D7C-F7A8-144E-B6A3-BEE53D641C90}"/>
              </a:ext>
            </a:extLst>
          </p:cNvPr>
          <p:cNvSpPr txBox="1"/>
          <p:nvPr/>
        </p:nvSpPr>
        <p:spPr>
          <a:xfrm>
            <a:off x="7030849" y="5437623"/>
            <a:ext cx="7148050" cy="1169551"/>
          </a:xfrm>
          <a:prstGeom prst="rect">
            <a:avLst/>
          </a:prstGeom>
          <a:noFill/>
        </p:spPr>
        <p:txBody>
          <a:bodyPr wrap="square" lIns="91440" tIns="45720" rIns="91440" bIns="45720" anchor="t">
            <a:spAutoFit/>
          </a:bodyPr>
          <a:lstStyle/>
          <a:p>
            <a:pPr marL="171450" indent="-171450">
              <a:buFont typeface="Arial" panose="020B0604020202020204" pitchFamily="34" charset="0"/>
              <a:buChar char="•"/>
            </a:pPr>
            <a:r>
              <a:rPr lang="en-US" sz="1400" b="1" dirty="0">
                <a:solidFill>
                  <a:srgbClr val="82CEC4"/>
                </a:solidFill>
                <a:latin typeface="Poppins" pitchFamily="2" charset="77"/>
                <a:cs typeface="Poppins" pitchFamily="2" charset="77"/>
              </a:rPr>
              <a:t>Scale omnichannel marketing</a:t>
            </a:r>
          </a:p>
          <a:p>
            <a:pPr marL="171450" indent="-171450">
              <a:buFont typeface="Arial" panose="020B0604020202020204" pitchFamily="34" charset="0"/>
              <a:buChar char="•"/>
            </a:pPr>
            <a:r>
              <a:rPr lang="en-US" sz="1400" b="1" dirty="0">
                <a:solidFill>
                  <a:srgbClr val="82CEC4"/>
                </a:solidFill>
                <a:latin typeface="Poppins" pitchFamily="2" charset="77"/>
                <a:cs typeface="Poppins" pitchFamily="2" charset="77"/>
              </a:rPr>
              <a:t>Added SME leads + Advisors</a:t>
            </a:r>
          </a:p>
          <a:p>
            <a:pPr marL="171450" indent="-171450">
              <a:buFont typeface="Arial" panose="020B0604020202020204" pitchFamily="34" charset="0"/>
              <a:buChar char="•"/>
            </a:pPr>
            <a:r>
              <a:rPr lang="en-US" sz="1400" b="1" dirty="0">
                <a:solidFill>
                  <a:srgbClr val="82CEC4"/>
                </a:solidFill>
                <a:latin typeface="Poppins" pitchFamily="2" charset="77"/>
                <a:cs typeface="Poppins" pitchFamily="2" charset="77"/>
              </a:rPr>
              <a:t>Website Optimization + Loyalty Program</a:t>
            </a:r>
          </a:p>
          <a:p>
            <a:pPr marL="171450" indent="-171450">
              <a:buFont typeface="Arial" panose="020B0604020202020204" pitchFamily="34" charset="0"/>
              <a:buChar char="•"/>
            </a:pPr>
            <a:r>
              <a:rPr lang="en-US" sz="1400" b="1" dirty="0">
                <a:solidFill>
                  <a:srgbClr val="82CEC4"/>
                </a:solidFill>
                <a:latin typeface="Poppins" pitchFamily="2" charset="77"/>
                <a:cs typeface="Poppins" pitchFamily="2" charset="77"/>
              </a:rPr>
              <a:t>Optimized Sourcing and Printing </a:t>
            </a:r>
          </a:p>
          <a:p>
            <a:pPr marL="171450" indent="-171450">
              <a:buFont typeface="Arial" panose="020B0604020202020204" pitchFamily="34" charset="0"/>
              <a:buChar char="•"/>
            </a:pPr>
            <a:r>
              <a:rPr lang="en-US" sz="1400" b="1" dirty="0">
                <a:solidFill>
                  <a:srgbClr val="82CEC4"/>
                </a:solidFill>
                <a:latin typeface="Poppins" pitchFamily="2" charset="77"/>
                <a:cs typeface="Poppins" pitchFamily="2" charset="77"/>
              </a:rPr>
              <a:t>Innovative licensing partnerships   </a:t>
            </a:r>
          </a:p>
        </p:txBody>
      </p:sp>
    </p:spTree>
    <p:extLst>
      <p:ext uri="{BB962C8B-B14F-4D97-AF65-F5344CB8AC3E}">
        <p14:creationId xmlns:p14="http://schemas.microsoft.com/office/powerpoint/2010/main" val="15304439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8FA9474C-B019-F10C-BE56-BEA96C329685}"/>
            </a:ext>
          </a:extLst>
        </p:cNvPr>
        <p:cNvGrpSpPr/>
        <p:nvPr/>
      </p:nvGrpSpPr>
      <p:grpSpPr>
        <a:xfrm>
          <a:off x="0" y="0"/>
          <a:ext cx="0" cy="0"/>
          <a:chOff x="0" y="0"/>
          <a:chExt cx="0" cy="0"/>
        </a:xfrm>
      </p:grpSpPr>
      <p:sp>
        <p:nvSpPr>
          <p:cNvPr id="7" name="Pentagon 6">
            <a:extLst>
              <a:ext uri="{FF2B5EF4-FFF2-40B4-BE49-F238E27FC236}">
                <a16:creationId xmlns:a16="http://schemas.microsoft.com/office/drawing/2014/main" id="{C1D54552-BF68-AAC8-BAFD-5F9AEC06E086}"/>
              </a:ext>
            </a:extLst>
          </p:cNvPr>
          <p:cNvSpPr/>
          <p:nvPr/>
        </p:nvSpPr>
        <p:spPr>
          <a:xfrm>
            <a:off x="1253958" y="4655420"/>
            <a:ext cx="4637490" cy="134278"/>
          </a:xfrm>
          <a:prstGeom prst="homePlat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Google Shape;62;g11b5860b61b_0_64">
            <a:extLst>
              <a:ext uri="{FF2B5EF4-FFF2-40B4-BE49-F238E27FC236}">
                <a16:creationId xmlns:a16="http://schemas.microsoft.com/office/drawing/2014/main" id="{483760E0-5E9E-2637-20EA-0C270FFCDE70}"/>
              </a:ext>
            </a:extLst>
          </p:cNvPr>
          <p:cNvSpPr txBox="1"/>
          <p:nvPr/>
        </p:nvSpPr>
        <p:spPr>
          <a:xfrm>
            <a:off x="401074" y="593871"/>
            <a:ext cx="8683932" cy="1431106"/>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4250" b="1" kern="0" dirty="0">
                <a:solidFill>
                  <a:srgbClr val="282828"/>
                </a:solidFill>
                <a:latin typeface="Poppins"/>
                <a:cs typeface="Poppins"/>
                <a:sym typeface="Century Gothic"/>
              </a:rPr>
              <a:t>The Financials – Full Horizon.</a:t>
            </a:r>
          </a:p>
          <a:p>
            <a:pPr defTabSz="1219170">
              <a:buClr>
                <a:srgbClr val="000000"/>
              </a:buClr>
            </a:pPr>
            <a:endParaRPr lang="en-US" sz="4250" kern="0" dirty="0">
              <a:solidFill>
                <a:srgbClr val="282828"/>
              </a:solidFill>
              <a:latin typeface="Poppins"/>
              <a:cs typeface="Poppins"/>
            </a:endParaRPr>
          </a:p>
        </p:txBody>
      </p:sp>
      <p:sp>
        <p:nvSpPr>
          <p:cNvPr id="17" name="Rectangle 16">
            <a:extLst>
              <a:ext uri="{FF2B5EF4-FFF2-40B4-BE49-F238E27FC236}">
                <a16:creationId xmlns:a16="http://schemas.microsoft.com/office/drawing/2014/main" id="{D8C451DA-A9E6-530D-FB56-0C7DDF1D3D22}"/>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49EC9702-5D36-524D-1A91-F17F4031E4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C47F0E66-4F9C-D84C-6F77-E74E5DCD30DE}"/>
              </a:ext>
            </a:extLst>
          </p:cNvPr>
          <p:cNvSpPr txBox="1"/>
          <p:nvPr/>
        </p:nvSpPr>
        <p:spPr>
          <a:xfrm>
            <a:off x="1458510" y="4187139"/>
            <a:ext cx="4637490" cy="369332"/>
          </a:xfrm>
          <a:prstGeom prst="rect">
            <a:avLst/>
          </a:prstGeom>
          <a:noFill/>
        </p:spPr>
        <p:txBody>
          <a:bodyPr wrap="square">
            <a:spAutoFit/>
          </a:bodyPr>
          <a:lstStyle/>
          <a:p>
            <a:r>
              <a:rPr lang="en-US" sz="1800" dirty="0">
                <a:latin typeface="Futura Medium" panose="020B0602020204020303" pitchFamily="34" charset="-79"/>
                <a:cs typeface="Futura Medium" panose="020B0602020204020303" pitchFamily="34" charset="-79"/>
              </a:rPr>
              <a:t>Branding Push &amp; Wholesale Growth</a:t>
            </a:r>
          </a:p>
        </p:txBody>
      </p:sp>
      <p:sp>
        <p:nvSpPr>
          <p:cNvPr id="20" name="TextBox 19">
            <a:extLst>
              <a:ext uri="{FF2B5EF4-FFF2-40B4-BE49-F238E27FC236}">
                <a16:creationId xmlns:a16="http://schemas.microsoft.com/office/drawing/2014/main" id="{4AA54432-8841-179F-DD74-7E728FBF93A1}"/>
              </a:ext>
            </a:extLst>
          </p:cNvPr>
          <p:cNvSpPr txBox="1"/>
          <p:nvPr/>
        </p:nvSpPr>
        <p:spPr>
          <a:xfrm>
            <a:off x="5827146" y="4184435"/>
            <a:ext cx="6096000" cy="369332"/>
          </a:xfrm>
          <a:prstGeom prst="rect">
            <a:avLst/>
          </a:prstGeom>
          <a:noFill/>
        </p:spPr>
        <p:txBody>
          <a:bodyPr wrap="square" lIns="91440" tIns="45720" rIns="91440" bIns="45720" anchor="t">
            <a:spAutoFit/>
          </a:bodyPr>
          <a:lstStyle/>
          <a:p>
            <a:r>
              <a:rPr lang="en-US" sz="1800" dirty="0">
                <a:solidFill>
                  <a:srgbClr val="82CEC4"/>
                </a:solidFill>
                <a:latin typeface="Futura Medium" panose="020B0602020204020303" pitchFamily="34" charset="-79"/>
                <a:cs typeface="Futura Medium"/>
              </a:rPr>
              <a:t>Category Expansion &amp; Operational Synergies </a:t>
            </a:r>
            <a:endParaRPr lang="en-US" sz="1800" dirty="0">
              <a:solidFill>
                <a:srgbClr val="82CEC4"/>
              </a:solidFill>
              <a:latin typeface="Futura Medium" panose="020B0602020204020303" pitchFamily="34" charset="-79"/>
              <a:cs typeface="Futura Medium" panose="020B0602020204020303" pitchFamily="34" charset="-79"/>
            </a:endParaRPr>
          </a:p>
        </p:txBody>
      </p:sp>
      <p:sp>
        <p:nvSpPr>
          <p:cNvPr id="22" name="Pentagon 21">
            <a:extLst>
              <a:ext uri="{FF2B5EF4-FFF2-40B4-BE49-F238E27FC236}">
                <a16:creationId xmlns:a16="http://schemas.microsoft.com/office/drawing/2014/main" id="{6F5DFB2A-BDDC-57B2-2739-3DA07224D488}"/>
              </a:ext>
            </a:extLst>
          </p:cNvPr>
          <p:cNvSpPr/>
          <p:nvPr/>
        </p:nvSpPr>
        <p:spPr>
          <a:xfrm>
            <a:off x="6354193" y="4675842"/>
            <a:ext cx="3161695" cy="93434"/>
          </a:xfrm>
          <a:prstGeom prst="homePlat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87E0A0BA-E7CF-3A03-964B-F82ACA9693D6}"/>
              </a:ext>
            </a:extLst>
          </p:cNvPr>
          <p:cNvSpPr txBox="1"/>
          <p:nvPr/>
        </p:nvSpPr>
        <p:spPr>
          <a:xfrm>
            <a:off x="1318260" y="4906505"/>
            <a:ext cx="4508886" cy="2031325"/>
          </a:xfrm>
          <a:prstGeom prst="rect">
            <a:avLst/>
          </a:prstGeom>
          <a:noFill/>
        </p:spPr>
        <p:txBody>
          <a:bodyPr wrap="square">
            <a:spAutoFit/>
          </a:bodyPr>
          <a:lstStyle/>
          <a:p>
            <a:pPr marL="171450" indent="-171450">
              <a:buFont typeface="Arial" panose="020B0604020202020204" pitchFamily="34" charset="0"/>
              <a:buChar char="•"/>
            </a:pPr>
            <a:r>
              <a:rPr lang="en-US" sz="1400" b="1" dirty="0">
                <a:solidFill>
                  <a:schemeClr val="bg1">
                    <a:lumMod val="50000"/>
                  </a:schemeClr>
                </a:solidFill>
                <a:latin typeface="Poppins" pitchFamily="2" charset="77"/>
                <a:cs typeface="Poppins" pitchFamily="2" charset="77"/>
              </a:rPr>
              <a:t>Broader Marketing Strategies (podcasts, event activations)</a:t>
            </a:r>
          </a:p>
          <a:p>
            <a:pPr marL="171450" indent="-171450">
              <a:buFont typeface="Arial" panose="020B0604020202020204" pitchFamily="34" charset="0"/>
              <a:buChar char="•"/>
            </a:pPr>
            <a:r>
              <a:rPr lang="en-US" sz="1400" b="1" dirty="0">
                <a:solidFill>
                  <a:schemeClr val="bg1">
                    <a:lumMod val="50000"/>
                  </a:schemeClr>
                </a:solidFill>
                <a:latin typeface="Poppins" pitchFamily="2" charset="77"/>
                <a:cs typeface="Poppins" pitchFamily="2" charset="77"/>
              </a:rPr>
              <a:t>Tour endorsement opportunities</a:t>
            </a:r>
          </a:p>
          <a:p>
            <a:pPr marL="171450" indent="-171450">
              <a:buFont typeface="Arial" panose="020B0604020202020204" pitchFamily="34" charset="0"/>
              <a:buChar char="•"/>
            </a:pPr>
            <a:r>
              <a:rPr lang="en-US" sz="1400" b="1" dirty="0">
                <a:solidFill>
                  <a:schemeClr val="bg1">
                    <a:lumMod val="50000"/>
                  </a:schemeClr>
                </a:solidFill>
                <a:latin typeface="Poppins" pitchFamily="2" charset="77"/>
                <a:cs typeface="Poppins" pitchFamily="2" charset="77"/>
              </a:rPr>
              <a:t>Cross over athlete, macro-influencers</a:t>
            </a:r>
          </a:p>
          <a:p>
            <a:pPr marL="171450" indent="-171450">
              <a:buFont typeface="Arial" panose="020B0604020202020204" pitchFamily="34" charset="0"/>
              <a:buChar char="•"/>
            </a:pPr>
            <a:r>
              <a:rPr lang="en-US" sz="1400" b="1" dirty="0">
                <a:solidFill>
                  <a:schemeClr val="bg1">
                    <a:lumMod val="50000"/>
                  </a:schemeClr>
                </a:solidFill>
                <a:latin typeface="Poppins" pitchFamily="2" charset="77"/>
                <a:cs typeface="Poppins" pitchFamily="2" charset="77"/>
              </a:rPr>
              <a:t>Merchandising licensing opportunities</a:t>
            </a:r>
          </a:p>
          <a:p>
            <a:pPr marL="171450" indent="-171450">
              <a:buFont typeface="Arial" panose="020B0604020202020204" pitchFamily="34" charset="0"/>
              <a:buChar char="•"/>
            </a:pPr>
            <a:r>
              <a:rPr lang="en-US" sz="1400" b="1" dirty="0">
                <a:solidFill>
                  <a:schemeClr val="bg1">
                    <a:lumMod val="50000"/>
                  </a:schemeClr>
                </a:solidFill>
                <a:latin typeface="Poppins" pitchFamily="2" charset="77"/>
                <a:cs typeface="Poppins" pitchFamily="2" charset="77"/>
              </a:rPr>
              <a:t>Complimentary Brand Collaboration</a:t>
            </a:r>
          </a:p>
          <a:p>
            <a:pPr marL="171450" indent="-171450">
              <a:buFont typeface="Arial" panose="020B0604020202020204" pitchFamily="34" charset="0"/>
              <a:buChar char="•"/>
            </a:pPr>
            <a:r>
              <a:rPr lang="en-US" sz="1400" b="1" dirty="0">
                <a:solidFill>
                  <a:schemeClr val="bg1">
                    <a:lumMod val="50000"/>
                  </a:schemeClr>
                </a:solidFill>
                <a:latin typeface="Poppins" pitchFamily="2" charset="77"/>
                <a:cs typeface="Poppins" pitchFamily="2" charset="77"/>
              </a:rPr>
              <a:t>Wholesale Growth – invest in established relationships</a:t>
            </a:r>
          </a:p>
          <a:p>
            <a:pPr marL="171450" indent="-171450">
              <a:buFont typeface="Arial" panose="020B0604020202020204" pitchFamily="34" charset="0"/>
              <a:buChar char="•"/>
            </a:pPr>
            <a:endParaRPr lang="en-US" sz="1400" b="1" dirty="0">
              <a:solidFill>
                <a:schemeClr val="bg1">
                  <a:lumMod val="50000"/>
                </a:schemeClr>
              </a:solidFill>
              <a:latin typeface="Poppins" pitchFamily="2" charset="77"/>
              <a:cs typeface="Poppins" pitchFamily="2" charset="77"/>
            </a:endParaRPr>
          </a:p>
        </p:txBody>
      </p:sp>
      <p:sp>
        <p:nvSpPr>
          <p:cNvPr id="24" name="TextBox 23">
            <a:extLst>
              <a:ext uri="{FF2B5EF4-FFF2-40B4-BE49-F238E27FC236}">
                <a16:creationId xmlns:a16="http://schemas.microsoft.com/office/drawing/2014/main" id="{FCF3A136-A0ED-3475-A72F-022B53AB84B1}"/>
              </a:ext>
            </a:extLst>
          </p:cNvPr>
          <p:cNvSpPr txBox="1"/>
          <p:nvPr/>
        </p:nvSpPr>
        <p:spPr>
          <a:xfrm>
            <a:off x="5891448" y="4908791"/>
            <a:ext cx="4508886" cy="1384995"/>
          </a:xfrm>
          <a:prstGeom prst="rect">
            <a:avLst/>
          </a:prstGeom>
          <a:noFill/>
        </p:spPr>
        <p:txBody>
          <a:bodyPr wrap="square" lIns="91440" tIns="45720" rIns="91440" bIns="45720" anchor="t">
            <a:spAutoFit/>
          </a:bodyPr>
          <a:lstStyle/>
          <a:p>
            <a:pPr marL="171450" indent="-171450">
              <a:buFont typeface="Arial" panose="020B0604020202020204" pitchFamily="34" charset="0"/>
              <a:buChar char="•"/>
            </a:pPr>
            <a:r>
              <a:rPr lang="en-US" sz="1400" b="1" dirty="0">
                <a:solidFill>
                  <a:srgbClr val="82CEC4"/>
                </a:solidFill>
                <a:latin typeface="Poppins" pitchFamily="2" charset="77"/>
                <a:cs typeface="Poppins" pitchFamily="2" charset="77"/>
              </a:rPr>
              <a:t>Deeper reach into Women &amp; Youth categories</a:t>
            </a:r>
          </a:p>
          <a:p>
            <a:pPr marL="171450" indent="-171450">
              <a:buFont typeface="Arial" panose="020B0604020202020204" pitchFamily="34" charset="0"/>
              <a:buChar char="•"/>
            </a:pPr>
            <a:r>
              <a:rPr lang="en-US" sz="1400" b="1" dirty="0">
                <a:solidFill>
                  <a:srgbClr val="82CEC4"/>
                </a:solidFill>
                <a:latin typeface="Poppins" pitchFamily="2" charset="77"/>
                <a:cs typeface="Poppins" pitchFamily="2" charset="77"/>
              </a:rPr>
              <a:t>Expansion in more off-course line</a:t>
            </a:r>
          </a:p>
          <a:p>
            <a:pPr marL="171450" indent="-171450">
              <a:buFont typeface="Arial" panose="020B0604020202020204" pitchFamily="34" charset="0"/>
              <a:buChar char="•"/>
            </a:pPr>
            <a:r>
              <a:rPr lang="en-US" sz="1400" b="1" dirty="0">
                <a:solidFill>
                  <a:srgbClr val="82CEC4"/>
                </a:solidFill>
                <a:latin typeface="Poppins" pitchFamily="2" charset="77"/>
                <a:cs typeface="Poppins" pitchFamily="2" charset="77"/>
              </a:rPr>
              <a:t>Equipment investments </a:t>
            </a:r>
          </a:p>
          <a:p>
            <a:pPr marL="171450" indent="-171450">
              <a:buFont typeface="Arial" panose="020B0604020202020204" pitchFamily="34" charset="0"/>
              <a:buChar char="•"/>
            </a:pPr>
            <a:r>
              <a:rPr lang="en-US" sz="1400" b="1" dirty="0">
                <a:solidFill>
                  <a:srgbClr val="82CEC4"/>
                </a:solidFill>
                <a:latin typeface="Poppins" pitchFamily="2" charset="77"/>
                <a:cs typeface="Poppins" pitchFamily="2" charset="77"/>
              </a:rPr>
              <a:t>Optimize warehousing/logistics/</a:t>
            </a:r>
            <a:r>
              <a:rPr lang="en-US" sz="1400" b="1" dirty="0" err="1">
                <a:solidFill>
                  <a:srgbClr val="82CEC4"/>
                </a:solidFill>
                <a:latin typeface="Poppins" pitchFamily="2" charset="77"/>
                <a:cs typeface="Poppins" pitchFamily="2" charset="77"/>
              </a:rPr>
              <a:t>etc</a:t>
            </a:r>
            <a:endParaRPr lang="en-US" sz="1400" b="1" dirty="0">
              <a:solidFill>
                <a:srgbClr val="82CEC4"/>
              </a:solidFill>
              <a:latin typeface="Poppins" pitchFamily="2" charset="77"/>
              <a:cs typeface="Poppins" pitchFamily="2" charset="77"/>
            </a:endParaRPr>
          </a:p>
          <a:p>
            <a:pPr marL="171450" indent="-171450">
              <a:buFont typeface="Arial" panose="020B0604020202020204" pitchFamily="34" charset="0"/>
              <a:buChar char="•"/>
            </a:pPr>
            <a:endParaRPr lang="en-US" sz="1400" b="1" dirty="0">
              <a:solidFill>
                <a:srgbClr val="82CEC4"/>
              </a:solidFill>
              <a:latin typeface="Poppins" pitchFamily="2" charset="77"/>
              <a:cs typeface="Poppins" pitchFamily="2" charset="77"/>
            </a:endParaRPr>
          </a:p>
          <a:p>
            <a:pPr marL="171450" indent="-171450">
              <a:buFont typeface="Arial" panose="020B0604020202020204" pitchFamily="34" charset="0"/>
              <a:buChar char="•"/>
            </a:pPr>
            <a:endParaRPr lang="en-US" sz="1400" b="1" dirty="0">
              <a:solidFill>
                <a:srgbClr val="82CEC4"/>
              </a:solidFill>
              <a:latin typeface="Poppins" pitchFamily="2" charset="77"/>
              <a:cs typeface="Poppins" pitchFamily="2" charset="77"/>
            </a:endParaRPr>
          </a:p>
        </p:txBody>
      </p:sp>
      <p:pic>
        <p:nvPicPr>
          <p:cNvPr id="2" name="Picture 1">
            <a:extLst>
              <a:ext uri="{FF2B5EF4-FFF2-40B4-BE49-F238E27FC236}">
                <a16:creationId xmlns:a16="http://schemas.microsoft.com/office/drawing/2014/main" id="{DB53D453-3922-DB0C-9AA5-891D19DFDECE}"/>
              </a:ext>
            </a:extLst>
          </p:cNvPr>
          <p:cNvPicPr>
            <a:picLocks noChangeAspect="1"/>
          </p:cNvPicPr>
          <p:nvPr/>
        </p:nvPicPr>
        <p:blipFill>
          <a:blip r:embed="rId4"/>
          <a:stretch>
            <a:fillRect/>
          </a:stretch>
        </p:blipFill>
        <p:spPr>
          <a:xfrm>
            <a:off x="1458510" y="1391276"/>
            <a:ext cx="8523689" cy="2785460"/>
          </a:xfrm>
          <a:prstGeom prst="rect">
            <a:avLst/>
          </a:prstGeom>
        </p:spPr>
      </p:pic>
      <p:sp>
        <p:nvSpPr>
          <p:cNvPr id="3" name="Rectangle 2">
            <a:extLst>
              <a:ext uri="{FF2B5EF4-FFF2-40B4-BE49-F238E27FC236}">
                <a16:creationId xmlns:a16="http://schemas.microsoft.com/office/drawing/2014/main" id="{CB560C77-6C83-2306-CE55-65D544E8685C}"/>
              </a:ext>
            </a:extLst>
          </p:cNvPr>
          <p:cNvSpPr/>
          <p:nvPr/>
        </p:nvSpPr>
        <p:spPr>
          <a:xfrm>
            <a:off x="10400334" y="1774371"/>
            <a:ext cx="1378009" cy="183968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What is this years </a:t>
            </a:r>
            <a:r>
              <a:rPr lang="en-US" sz="1000" dirty="0" err="1"/>
              <a:t>Mkting</a:t>
            </a:r>
            <a:r>
              <a:rPr lang="en-US" sz="1000" dirty="0"/>
              <a:t> exp allocation</a:t>
            </a:r>
          </a:p>
          <a:p>
            <a:pPr algn="ctr"/>
            <a:endParaRPr lang="en-US" sz="1000" dirty="0"/>
          </a:p>
          <a:p>
            <a:pPr algn="ctr"/>
            <a:r>
              <a:rPr lang="en-US" sz="1000" dirty="0"/>
              <a:t>GP should be steeper with Wholesale? </a:t>
            </a:r>
          </a:p>
        </p:txBody>
      </p:sp>
    </p:spTree>
    <p:extLst>
      <p:ext uri="{BB962C8B-B14F-4D97-AF65-F5344CB8AC3E}">
        <p14:creationId xmlns:p14="http://schemas.microsoft.com/office/powerpoint/2010/main" val="21458281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2" name="Google Shape;62;g11b5860b61b_0_64"/>
          <p:cNvSpPr txBox="1"/>
          <p:nvPr/>
        </p:nvSpPr>
        <p:spPr>
          <a:xfrm>
            <a:off x="316042" y="741327"/>
            <a:ext cx="11634045" cy="779711"/>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4200" b="1" kern="0" dirty="0">
                <a:solidFill>
                  <a:srgbClr val="282828"/>
                </a:solidFill>
                <a:latin typeface="Poppins"/>
                <a:cs typeface="Poppins"/>
                <a:sym typeface="Century Gothic"/>
              </a:rPr>
              <a:t>Capital Raise.</a:t>
            </a:r>
            <a:endParaRPr lang="en" sz="4200" b="1" kern="0" dirty="0">
              <a:solidFill>
                <a:srgbClr val="282828"/>
              </a:solidFill>
              <a:latin typeface="Poppins"/>
              <a:cs typeface="Poppins"/>
            </a:endParaRPr>
          </a:p>
        </p:txBody>
      </p:sp>
      <p:sp>
        <p:nvSpPr>
          <p:cNvPr id="17" name="Rectangle 16">
            <a:extLst>
              <a:ext uri="{FF2B5EF4-FFF2-40B4-BE49-F238E27FC236}">
                <a16:creationId xmlns:a16="http://schemas.microsoft.com/office/drawing/2014/main" id="{292FF896-6919-F945-A068-01E14A9258C5}"/>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44BA01E6-2549-984C-891A-2FF8DE67E9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D9FDB0CF-0BA1-E743-7727-7E221B09706E}"/>
              </a:ext>
            </a:extLst>
          </p:cNvPr>
          <p:cNvSpPr txBox="1"/>
          <p:nvPr/>
        </p:nvSpPr>
        <p:spPr>
          <a:xfrm>
            <a:off x="658607" y="2309091"/>
            <a:ext cx="11018982" cy="646331"/>
          </a:xfrm>
          <a:prstGeom prst="rect">
            <a:avLst/>
          </a:prstGeom>
          <a:noFill/>
        </p:spPr>
        <p:txBody>
          <a:bodyPr wrap="square" rtlCol="0">
            <a:spAutoFit/>
          </a:bodyPr>
          <a:lstStyle/>
          <a:p>
            <a:endParaRPr lang="en-US">
              <a:latin typeface="Poppins" pitchFamily="2" charset="77"/>
              <a:cs typeface="Poppins" pitchFamily="2" charset="77"/>
            </a:endParaRPr>
          </a:p>
          <a:p>
            <a:endParaRPr lang="en-US">
              <a:latin typeface="Poppins" pitchFamily="2" charset="77"/>
              <a:cs typeface="Poppins" pitchFamily="2" charset="77"/>
            </a:endParaRPr>
          </a:p>
        </p:txBody>
      </p:sp>
      <p:sp>
        <p:nvSpPr>
          <p:cNvPr id="3" name="TextBox 2">
            <a:extLst>
              <a:ext uri="{FF2B5EF4-FFF2-40B4-BE49-F238E27FC236}">
                <a16:creationId xmlns:a16="http://schemas.microsoft.com/office/drawing/2014/main" id="{FAAF5310-3785-0F3F-46FD-1A56A836751C}"/>
              </a:ext>
            </a:extLst>
          </p:cNvPr>
          <p:cNvSpPr txBox="1"/>
          <p:nvPr/>
        </p:nvSpPr>
        <p:spPr>
          <a:xfrm>
            <a:off x="316042" y="3536064"/>
            <a:ext cx="5108955" cy="4247317"/>
          </a:xfrm>
          <a:prstGeom prst="rect">
            <a:avLst/>
          </a:prstGeom>
          <a:noFill/>
        </p:spPr>
        <p:txBody>
          <a:bodyPr wrap="square" lIns="91440" tIns="45720" rIns="91440" bIns="45720" rtlCol="0" anchor="t">
            <a:spAutoFit/>
          </a:bodyPr>
          <a:lstStyle/>
          <a:p>
            <a:r>
              <a:rPr lang="en-US" dirty="0">
                <a:solidFill>
                  <a:srgbClr val="282828"/>
                </a:solidFill>
                <a:latin typeface="Poppins"/>
                <a:cs typeface="Poppins"/>
              </a:rPr>
              <a:t>Equity </a:t>
            </a:r>
          </a:p>
          <a:p>
            <a:pPr marL="285750" indent="-285750">
              <a:buFont typeface="Arial" panose="020B0604020202020204" pitchFamily="34" charset="0"/>
              <a:buChar char="•"/>
            </a:pPr>
            <a:r>
              <a:rPr lang="en-US" dirty="0">
                <a:solidFill>
                  <a:srgbClr val="282828"/>
                </a:solidFill>
                <a:latin typeface="Poppins"/>
                <a:cs typeface="Poppins"/>
              </a:rPr>
              <a:t>$1.5MM raise on a $6MM Valuation. </a:t>
            </a:r>
          </a:p>
          <a:p>
            <a:pPr marL="285750" indent="-285750">
              <a:buFont typeface="Arial" panose="020B0604020202020204" pitchFamily="34" charset="0"/>
              <a:buChar char="•"/>
            </a:pPr>
            <a:r>
              <a:rPr lang="en-US" dirty="0">
                <a:solidFill>
                  <a:srgbClr val="282828"/>
                </a:solidFill>
                <a:latin typeface="Poppins"/>
                <a:cs typeface="Poppins"/>
              </a:rPr>
              <a:t>Paid out over three six-month periods</a:t>
            </a:r>
          </a:p>
          <a:p>
            <a:pPr marL="285750" indent="-285750">
              <a:buFont typeface="Arial" panose="020B0604020202020204" pitchFamily="34" charset="0"/>
              <a:buChar char="•"/>
            </a:pPr>
            <a:r>
              <a:rPr lang="en-US" dirty="0">
                <a:solidFill>
                  <a:srgbClr val="282828"/>
                </a:solidFill>
                <a:latin typeface="Poppins"/>
                <a:cs typeface="Poppins"/>
              </a:rPr>
              <a:t>25% Equity Position </a:t>
            </a:r>
          </a:p>
          <a:p>
            <a:pPr marL="285750" indent="-285750">
              <a:buFont typeface="Arial" panose="020B0604020202020204" pitchFamily="34" charset="0"/>
              <a:buChar char="•"/>
            </a:pPr>
            <a:r>
              <a:rPr lang="en-US" dirty="0">
                <a:solidFill>
                  <a:srgbClr val="282828"/>
                </a:solidFill>
                <a:latin typeface="Poppins"/>
                <a:cs typeface="Poppins"/>
              </a:rPr>
              <a:t>Founders – 60%, Investors 40%.</a:t>
            </a:r>
          </a:p>
          <a:p>
            <a:pPr marL="285750" indent="-285750">
              <a:buFont typeface="Arial" panose="020B0604020202020204" pitchFamily="34" charset="0"/>
              <a:buChar char="•"/>
            </a:pPr>
            <a:r>
              <a:rPr lang="en-US" dirty="0">
                <a:solidFill>
                  <a:srgbClr val="282828"/>
                </a:solidFill>
                <a:latin typeface="Poppins"/>
                <a:cs typeface="Poppins"/>
              </a:rPr>
              <a:t>Board Seat</a:t>
            </a:r>
          </a:p>
          <a:p>
            <a:pPr marL="285750" indent="-285750">
              <a:buFont typeface="Arial" panose="020B0604020202020204" pitchFamily="34" charset="0"/>
              <a:buChar char="•"/>
            </a:pPr>
            <a:r>
              <a:rPr lang="en-US" dirty="0">
                <a:solidFill>
                  <a:srgbClr val="282828"/>
                </a:solidFill>
                <a:latin typeface="Poppins"/>
                <a:cs typeface="Poppins"/>
              </a:rPr>
              <a:t>Executive level voting rights*</a:t>
            </a:r>
          </a:p>
          <a:p>
            <a:pPr marL="285750" indent="-285750">
              <a:buFont typeface="Arial" panose="020B0604020202020204" pitchFamily="34" charset="0"/>
              <a:buChar char="•"/>
            </a:pPr>
            <a:r>
              <a:rPr lang="en-US" dirty="0">
                <a:solidFill>
                  <a:srgbClr val="282828"/>
                </a:solidFill>
                <a:latin typeface="Poppins"/>
                <a:cs typeface="Poppins"/>
              </a:rPr>
              <a:t>Quarterly performance reviews</a:t>
            </a:r>
          </a:p>
          <a:p>
            <a:endParaRPr lang="en-US" dirty="0">
              <a:latin typeface="Poppins" pitchFamily="2" charset="77"/>
              <a:cs typeface="Poppins" pitchFamily="2" charset="77"/>
            </a:endParaRPr>
          </a:p>
          <a:p>
            <a:endParaRPr lang="en-US" dirty="0">
              <a:latin typeface="Poppins" pitchFamily="2" charset="77"/>
              <a:cs typeface="Poppins" pitchFamily="2" charset="77"/>
            </a:endParaRPr>
          </a:p>
          <a:p>
            <a:endParaRPr lang="en-US" dirty="0">
              <a:latin typeface="Poppins" pitchFamily="2" charset="77"/>
              <a:cs typeface="Poppins" pitchFamily="2" charset="77"/>
            </a:endParaRPr>
          </a:p>
          <a:p>
            <a:endParaRPr lang="en-US" dirty="0">
              <a:latin typeface="Poppins" pitchFamily="2" charset="77"/>
              <a:cs typeface="Poppins" pitchFamily="2" charset="77"/>
            </a:endParaRPr>
          </a:p>
          <a:p>
            <a:endParaRPr lang="en-US" dirty="0">
              <a:latin typeface="Poppins" pitchFamily="2" charset="77"/>
              <a:cs typeface="Poppins" pitchFamily="2" charset="77"/>
            </a:endParaRPr>
          </a:p>
          <a:p>
            <a:endParaRPr lang="en-US" dirty="0">
              <a:latin typeface="Poppins" pitchFamily="2" charset="77"/>
              <a:cs typeface="Poppins" pitchFamily="2" charset="77"/>
            </a:endParaRPr>
          </a:p>
          <a:p>
            <a:endParaRPr lang="en-US" dirty="0">
              <a:latin typeface="Poppins" pitchFamily="2" charset="77"/>
              <a:cs typeface="Poppins" pitchFamily="2" charset="77"/>
            </a:endParaRPr>
          </a:p>
        </p:txBody>
      </p:sp>
      <p:graphicFrame>
        <p:nvGraphicFramePr>
          <p:cNvPr id="8" name="Table 8">
            <a:extLst>
              <a:ext uri="{FF2B5EF4-FFF2-40B4-BE49-F238E27FC236}">
                <a16:creationId xmlns:a16="http://schemas.microsoft.com/office/drawing/2014/main" id="{B0EA4790-BE95-A8A9-C846-9E6EF74624D0}"/>
              </a:ext>
            </a:extLst>
          </p:cNvPr>
          <p:cNvGraphicFramePr>
            <a:graphicFrameLocks noGrp="1"/>
          </p:cNvGraphicFramePr>
          <p:nvPr>
            <p:extLst>
              <p:ext uri="{D42A27DB-BD31-4B8C-83A1-F6EECF244321}">
                <p14:modId xmlns:p14="http://schemas.microsoft.com/office/powerpoint/2010/main" val="1477652909"/>
              </p:ext>
            </p:extLst>
          </p:nvPr>
        </p:nvGraphicFramePr>
        <p:xfrm>
          <a:off x="6551123" y="3411361"/>
          <a:ext cx="4744107" cy="1488948"/>
        </p:xfrm>
        <a:graphic>
          <a:graphicData uri="http://schemas.openxmlformats.org/drawingml/2006/table">
            <a:tbl>
              <a:tblPr firstRow="1" bandRow="1">
                <a:tableStyleId>{5C22544A-7EE6-4342-B048-85BDC9FD1C3A}</a:tableStyleId>
              </a:tblPr>
              <a:tblGrid>
                <a:gridCol w="2938209">
                  <a:extLst>
                    <a:ext uri="{9D8B030D-6E8A-4147-A177-3AD203B41FA5}">
                      <a16:colId xmlns:a16="http://schemas.microsoft.com/office/drawing/2014/main" val="2051829154"/>
                    </a:ext>
                  </a:extLst>
                </a:gridCol>
                <a:gridCol w="1805898">
                  <a:extLst>
                    <a:ext uri="{9D8B030D-6E8A-4147-A177-3AD203B41FA5}">
                      <a16:colId xmlns:a16="http://schemas.microsoft.com/office/drawing/2014/main" val="4063943306"/>
                    </a:ext>
                  </a:extLst>
                </a:gridCol>
              </a:tblGrid>
              <a:tr h="370840">
                <a:tc>
                  <a:txBody>
                    <a:bodyPr/>
                    <a:lstStyle/>
                    <a:p>
                      <a:pPr algn="ctr"/>
                      <a:r>
                        <a:rPr lang="en-US">
                          <a:latin typeface="Poppins" pitchFamily="2" charset="77"/>
                          <a:cs typeface="Poppins" pitchFamily="2" charset="77"/>
                        </a:rPr>
                        <a:t>Categories</a:t>
                      </a:r>
                    </a:p>
                  </a:txBody>
                  <a:tcPr>
                    <a:solidFill>
                      <a:schemeClr val="tx1"/>
                    </a:solidFill>
                  </a:tcPr>
                </a:tc>
                <a:tc>
                  <a:txBody>
                    <a:bodyPr/>
                    <a:lstStyle/>
                    <a:p>
                      <a:pPr algn="ctr"/>
                      <a:r>
                        <a:rPr lang="en-US">
                          <a:latin typeface="Poppins" pitchFamily="2" charset="77"/>
                          <a:cs typeface="Poppins" pitchFamily="2" charset="77"/>
                        </a:rPr>
                        <a:t>Allocation</a:t>
                      </a:r>
                    </a:p>
                  </a:txBody>
                  <a:tcPr>
                    <a:solidFill>
                      <a:schemeClr val="tx1"/>
                    </a:solidFill>
                  </a:tcPr>
                </a:tc>
                <a:extLst>
                  <a:ext uri="{0D108BD9-81ED-4DB2-BD59-A6C34878D82A}">
                    <a16:rowId xmlns:a16="http://schemas.microsoft.com/office/drawing/2014/main" val="2396508936"/>
                  </a:ext>
                </a:extLst>
              </a:tr>
              <a:tr h="370840">
                <a:tc>
                  <a:txBody>
                    <a:bodyPr/>
                    <a:lstStyle/>
                    <a:p>
                      <a:r>
                        <a:rPr lang="en-US" sz="1600">
                          <a:solidFill>
                            <a:schemeClr val="bg1"/>
                          </a:solidFill>
                          <a:latin typeface="Poppins" pitchFamily="2" charset="77"/>
                          <a:cs typeface="Poppins" pitchFamily="2" charset="77"/>
                        </a:rPr>
                        <a:t>Strategic Key Hires</a:t>
                      </a:r>
                    </a:p>
                  </a:txBody>
                  <a:tcPr>
                    <a:solidFill>
                      <a:schemeClr val="tx1">
                        <a:lumMod val="65000"/>
                        <a:lumOff val="35000"/>
                      </a:schemeClr>
                    </a:solidFill>
                  </a:tcPr>
                </a:tc>
                <a:tc>
                  <a:txBody>
                    <a:bodyPr/>
                    <a:lstStyle/>
                    <a:p>
                      <a:r>
                        <a:rPr lang="en-US" dirty="0">
                          <a:solidFill>
                            <a:schemeClr val="bg1"/>
                          </a:solidFill>
                          <a:latin typeface="Poppins" pitchFamily="2" charset="77"/>
                          <a:cs typeface="Poppins" pitchFamily="2" charset="77"/>
                        </a:rPr>
                        <a:t>$400,000</a:t>
                      </a:r>
                    </a:p>
                  </a:txBody>
                  <a:tcPr>
                    <a:solidFill>
                      <a:schemeClr val="tx1">
                        <a:lumMod val="65000"/>
                        <a:lumOff val="35000"/>
                      </a:schemeClr>
                    </a:solidFill>
                  </a:tcPr>
                </a:tc>
                <a:extLst>
                  <a:ext uri="{0D108BD9-81ED-4DB2-BD59-A6C34878D82A}">
                    <a16:rowId xmlns:a16="http://schemas.microsoft.com/office/drawing/2014/main" val="3334344328"/>
                  </a:ext>
                </a:extLst>
              </a:tr>
              <a:tr h="370840">
                <a:tc>
                  <a:txBody>
                    <a:bodyPr/>
                    <a:lstStyle/>
                    <a:p>
                      <a:r>
                        <a:rPr lang="en-US" sz="1600" dirty="0">
                          <a:latin typeface="Poppins" pitchFamily="2" charset="77"/>
                          <a:cs typeface="Poppins" pitchFamily="2" charset="77"/>
                        </a:rPr>
                        <a:t>Marketing</a:t>
                      </a:r>
                    </a:p>
                  </a:txBody>
                  <a:tcPr>
                    <a:solidFill>
                      <a:schemeClr val="bg2">
                        <a:lumMod val="20000"/>
                        <a:lumOff val="80000"/>
                      </a:schemeClr>
                    </a:solidFill>
                  </a:tcPr>
                </a:tc>
                <a:tc>
                  <a:txBody>
                    <a:bodyPr/>
                    <a:lstStyle/>
                    <a:p>
                      <a:r>
                        <a:rPr lang="en-US" dirty="0">
                          <a:latin typeface="Poppins" pitchFamily="2" charset="77"/>
                          <a:cs typeface="Poppins" pitchFamily="2" charset="77"/>
                        </a:rPr>
                        <a:t>$700,000</a:t>
                      </a:r>
                    </a:p>
                  </a:txBody>
                  <a:tcPr>
                    <a:solidFill>
                      <a:schemeClr val="bg2">
                        <a:lumMod val="20000"/>
                        <a:lumOff val="80000"/>
                      </a:schemeClr>
                    </a:solidFill>
                  </a:tcPr>
                </a:tc>
                <a:extLst>
                  <a:ext uri="{0D108BD9-81ED-4DB2-BD59-A6C34878D82A}">
                    <a16:rowId xmlns:a16="http://schemas.microsoft.com/office/drawing/2014/main" val="600079226"/>
                  </a:ext>
                </a:extLst>
              </a:tr>
              <a:tr h="370840">
                <a:tc>
                  <a:txBody>
                    <a:bodyPr/>
                    <a:lstStyle/>
                    <a:p>
                      <a:pPr marR="0" algn="l" rtl="0">
                        <a:lnSpc>
                          <a:spcPct val="100000"/>
                        </a:lnSpc>
                        <a:spcBef>
                          <a:spcPts val="0"/>
                        </a:spcBef>
                        <a:spcAft>
                          <a:spcPts val="0"/>
                        </a:spcAft>
                        <a:buClr>
                          <a:srgbClr val="000000"/>
                        </a:buClr>
                        <a:buFont typeface="Arial"/>
                      </a:pPr>
                      <a:r>
                        <a:rPr lang="en-US" sz="1600" b="0" i="0" u="none" strike="noStrike" cap="none" dirty="0">
                          <a:solidFill>
                            <a:schemeClr val="bg1"/>
                          </a:solidFill>
                          <a:latin typeface="Poppins" pitchFamily="2" charset="77"/>
                          <a:ea typeface="+mn-ea"/>
                          <a:cs typeface="Poppins" pitchFamily="2" charset="77"/>
                          <a:sym typeface="Arial"/>
                        </a:rPr>
                        <a:t>Optimizations</a:t>
                      </a:r>
                    </a:p>
                  </a:txBody>
                  <a:tcPr>
                    <a:solidFill>
                      <a:schemeClr val="tx1">
                        <a:lumMod val="65000"/>
                        <a:lumOff val="35000"/>
                      </a:schemeClr>
                    </a:solidFill>
                  </a:tcPr>
                </a:tc>
                <a:tc>
                  <a:txBody>
                    <a:bodyPr/>
                    <a:lstStyle/>
                    <a:p>
                      <a:pPr marR="0" algn="l" rtl="0">
                        <a:lnSpc>
                          <a:spcPct val="100000"/>
                        </a:lnSpc>
                        <a:spcBef>
                          <a:spcPts val="0"/>
                        </a:spcBef>
                        <a:spcAft>
                          <a:spcPts val="0"/>
                        </a:spcAft>
                        <a:buClr>
                          <a:srgbClr val="000000"/>
                        </a:buClr>
                        <a:buFont typeface="Arial"/>
                      </a:pPr>
                      <a:r>
                        <a:rPr lang="en-US" sz="1600" b="0" i="0" u="none" strike="noStrike" cap="none" dirty="0">
                          <a:solidFill>
                            <a:schemeClr val="bg1"/>
                          </a:solidFill>
                          <a:latin typeface="Poppins" pitchFamily="2" charset="77"/>
                          <a:ea typeface="+mn-ea"/>
                          <a:cs typeface="Poppins" pitchFamily="2" charset="77"/>
                          <a:sym typeface="Arial"/>
                        </a:rPr>
                        <a:t>$</a:t>
                      </a:r>
                      <a:r>
                        <a:rPr lang="en-US" sz="1870" b="0" i="0" u="none" strike="noStrike" cap="none" dirty="0">
                          <a:solidFill>
                            <a:schemeClr val="bg1"/>
                          </a:solidFill>
                          <a:latin typeface="Poppins" pitchFamily="2" charset="77"/>
                          <a:ea typeface="+mn-ea"/>
                          <a:cs typeface="Poppins" pitchFamily="2" charset="77"/>
                          <a:sym typeface="Arial"/>
                        </a:rPr>
                        <a:t>400,000</a:t>
                      </a:r>
                    </a:p>
                  </a:txBody>
                  <a:tcPr>
                    <a:solidFill>
                      <a:schemeClr val="tx1">
                        <a:lumMod val="65000"/>
                        <a:lumOff val="35000"/>
                      </a:schemeClr>
                    </a:solidFill>
                  </a:tcPr>
                </a:tc>
                <a:extLst>
                  <a:ext uri="{0D108BD9-81ED-4DB2-BD59-A6C34878D82A}">
                    <a16:rowId xmlns:a16="http://schemas.microsoft.com/office/drawing/2014/main" val="1369851552"/>
                  </a:ext>
                </a:extLst>
              </a:tr>
            </a:tbl>
          </a:graphicData>
        </a:graphic>
      </p:graphicFrame>
      <p:graphicFrame>
        <p:nvGraphicFramePr>
          <p:cNvPr id="4" name="Chart 3">
            <a:extLst>
              <a:ext uri="{FF2B5EF4-FFF2-40B4-BE49-F238E27FC236}">
                <a16:creationId xmlns:a16="http://schemas.microsoft.com/office/drawing/2014/main" id="{55C15002-5373-08D9-6AAA-C86400C626CE}"/>
              </a:ext>
            </a:extLst>
          </p:cNvPr>
          <p:cNvGraphicFramePr>
            <a:graphicFrameLocks/>
          </p:cNvGraphicFramePr>
          <p:nvPr>
            <p:extLst>
              <p:ext uri="{D42A27DB-BD31-4B8C-83A1-F6EECF244321}">
                <p14:modId xmlns:p14="http://schemas.microsoft.com/office/powerpoint/2010/main" val="2194599762"/>
              </p:ext>
            </p:extLst>
          </p:nvPr>
        </p:nvGraphicFramePr>
        <p:xfrm>
          <a:off x="6551123" y="792864"/>
          <a:ext cx="457200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Box 9">
            <a:extLst>
              <a:ext uri="{FF2B5EF4-FFF2-40B4-BE49-F238E27FC236}">
                <a16:creationId xmlns:a16="http://schemas.microsoft.com/office/drawing/2014/main" id="{900D7D06-7B89-3340-86A6-B774C0B7498A}"/>
              </a:ext>
            </a:extLst>
          </p:cNvPr>
          <p:cNvSpPr txBox="1"/>
          <p:nvPr/>
        </p:nvSpPr>
        <p:spPr>
          <a:xfrm>
            <a:off x="316042" y="1657035"/>
            <a:ext cx="5779958" cy="1754326"/>
          </a:xfrm>
          <a:prstGeom prst="rect">
            <a:avLst/>
          </a:prstGeom>
          <a:noFill/>
        </p:spPr>
        <p:txBody>
          <a:bodyPr wrap="square" lIns="91440" tIns="45720" rIns="91440" bIns="45720" anchor="t">
            <a:spAutoFit/>
          </a:bodyPr>
          <a:lstStyle/>
          <a:p>
            <a:pPr defTabSz="1219170">
              <a:buClr>
                <a:srgbClr val="000000"/>
              </a:buClr>
            </a:pPr>
            <a:r>
              <a:rPr lang="en-US" kern="0" dirty="0">
                <a:solidFill>
                  <a:srgbClr val="282828"/>
                </a:solidFill>
                <a:latin typeface="Poppins"/>
                <a:cs typeface="Poppins"/>
                <a:sym typeface="Century Gothic"/>
              </a:rPr>
              <a:t>To strategically recognize our growth opportunity, we must invest accordingly. This seed round will enable Palm to scale marketing while brand relevance is growing, engage the necessary talent, and ensure proper inventory availability.  </a:t>
            </a:r>
            <a:endParaRPr lang="en-US" sz="1000" kern="0" dirty="0">
              <a:solidFill>
                <a:srgbClr val="282828"/>
              </a:solidFill>
              <a:latin typeface="Poppins" pitchFamily="2" charset="77"/>
              <a:cs typeface="Poppins" pitchFamily="2" charset="77"/>
            </a:endParaRPr>
          </a:p>
        </p:txBody>
      </p:sp>
      <p:sp>
        <p:nvSpPr>
          <p:cNvPr id="6" name="Rectangle 5">
            <a:extLst>
              <a:ext uri="{FF2B5EF4-FFF2-40B4-BE49-F238E27FC236}">
                <a16:creationId xmlns:a16="http://schemas.microsoft.com/office/drawing/2014/main" id="{672C11C0-F543-EA40-B3F9-8BE03CA232EC}"/>
              </a:ext>
            </a:extLst>
          </p:cNvPr>
          <p:cNvSpPr/>
          <p:nvPr/>
        </p:nvSpPr>
        <p:spPr>
          <a:xfrm>
            <a:off x="6215063" y="741327"/>
            <a:ext cx="5244121" cy="560568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1A5C2C0-D6AC-72EF-B7AF-5E6E70E19AE3}"/>
              </a:ext>
            </a:extLst>
          </p:cNvPr>
          <p:cNvSpPr txBox="1"/>
          <p:nvPr/>
        </p:nvSpPr>
        <p:spPr>
          <a:xfrm>
            <a:off x="6551123" y="5077609"/>
            <a:ext cx="4744107" cy="1600438"/>
          </a:xfrm>
          <a:prstGeom prst="rect">
            <a:avLst/>
          </a:prstGeom>
          <a:noFill/>
        </p:spPr>
        <p:txBody>
          <a:bodyPr wrap="square" rtlCol="0">
            <a:spAutoFit/>
          </a:bodyPr>
          <a:lstStyle/>
          <a:p>
            <a:r>
              <a:rPr lang="en-US" sz="1600" dirty="0"/>
              <a:t>Note: $1M in losses over year 2025 &amp; 2026, $200k-$500k in asset acquisitions, equipment, licensing, inventory, </a:t>
            </a:r>
            <a:r>
              <a:rPr lang="en-US" sz="1600" dirty="0" err="1"/>
              <a:t>etc</a:t>
            </a:r>
            <a:r>
              <a:rPr lang="en-US" sz="1600" dirty="0"/>
              <a:t> </a:t>
            </a:r>
          </a:p>
          <a:p>
            <a:r>
              <a:rPr lang="en-US" sz="1600" dirty="0"/>
              <a:t>Palm currently has a $500k line for production costs with a commitment to $1M from minority owner</a:t>
            </a:r>
          </a:p>
          <a:p>
            <a:endParaRPr lang="en-US" dirty="0"/>
          </a:p>
        </p:txBody>
      </p:sp>
    </p:spTree>
    <p:extLst>
      <p:ext uri="{BB962C8B-B14F-4D97-AF65-F5344CB8AC3E}">
        <p14:creationId xmlns:p14="http://schemas.microsoft.com/office/powerpoint/2010/main" val="36771150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62" name="Google Shape;62;g11b5860b61b_0_64"/>
          <p:cNvSpPr txBox="1"/>
          <p:nvPr/>
        </p:nvSpPr>
        <p:spPr>
          <a:xfrm>
            <a:off x="177583" y="1958571"/>
            <a:ext cx="3465846" cy="553943"/>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800" b="1" kern="0" dirty="0">
                <a:solidFill>
                  <a:srgbClr val="282828"/>
                </a:solidFill>
                <a:latin typeface="Poppins"/>
                <a:cs typeface="Poppins"/>
                <a:sym typeface="Century Gothic"/>
              </a:rPr>
              <a:t>Strategic Hires</a:t>
            </a:r>
            <a:endParaRPr lang="en-US" sz="2800" kern="0" dirty="0">
              <a:solidFill>
                <a:srgbClr val="282828"/>
              </a:solidFill>
              <a:latin typeface="Poppins"/>
              <a:cs typeface="Poppins"/>
            </a:endParaRPr>
          </a:p>
        </p:txBody>
      </p:sp>
      <p:sp>
        <p:nvSpPr>
          <p:cNvPr id="17" name="Rectangle 16">
            <a:extLst>
              <a:ext uri="{FF2B5EF4-FFF2-40B4-BE49-F238E27FC236}">
                <a16:creationId xmlns:a16="http://schemas.microsoft.com/office/drawing/2014/main" id="{292FF896-6919-F945-A068-01E14A9258C5}"/>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44BA01E6-2549-984C-891A-2FF8DE67E9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AAF5310-3785-0F3F-46FD-1A56A836751C}"/>
              </a:ext>
            </a:extLst>
          </p:cNvPr>
          <p:cNvSpPr txBox="1"/>
          <p:nvPr/>
        </p:nvSpPr>
        <p:spPr>
          <a:xfrm>
            <a:off x="4172755" y="1533905"/>
            <a:ext cx="7678973" cy="1938992"/>
          </a:xfrm>
          <a:prstGeom prst="rect">
            <a:avLst/>
          </a:prstGeom>
          <a:noFill/>
        </p:spPr>
        <p:txBody>
          <a:bodyPr wrap="square" lIns="91440" tIns="45720" rIns="91440" bIns="45720" rtlCol="0" anchor="t">
            <a:spAutoFit/>
          </a:bodyPr>
          <a:lstStyle/>
          <a:p>
            <a:endParaRPr lang="en-US" sz="1200" dirty="0">
              <a:latin typeface="Poppins" pitchFamily="2" charset="77"/>
              <a:cs typeface="Poppins" pitchFamily="2" charset="77"/>
            </a:endParaRPr>
          </a:p>
          <a:p>
            <a:r>
              <a:rPr lang="en-US" sz="1200" dirty="0">
                <a:solidFill>
                  <a:srgbClr val="282828"/>
                </a:solidFill>
                <a:latin typeface="Poppins"/>
                <a:cs typeface="Poppins"/>
              </a:rPr>
              <a:t>Until now, Palm is run by one full-time and two part-time founders along with a full-time photographer and Warehouse associate. Palm recognizes the need to add resources in key areas while refocusing the founders’ energy toward strategic growth. Some of the areas of need is within product design, social media, operations, and most importantly a Sales team. The new team members will have a proven track record of growing revenue with emerging and mainstream brands across multiple industries and product types. New additions will be primarily focused on Wholesale growth, both will play a major role in contributing to end-to-end product lifecycle management, assortment planning, seasonal launches and transitions. </a:t>
            </a:r>
            <a:endParaRPr lang="en-US" sz="1200" dirty="0">
              <a:solidFill>
                <a:srgbClr val="282828"/>
              </a:solidFill>
              <a:latin typeface="Poppins" pitchFamily="2" charset="77"/>
              <a:cs typeface="Poppins" pitchFamily="2" charset="77"/>
            </a:endParaRPr>
          </a:p>
          <a:p>
            <a:endParaRPr lang="en-US" sz="1200" dirty="0">
              <a:solidFill>
                <a:srgbClr val="282828"/>
              </a:solidFill>
              <a:latin typeface="Poppins" pitchFamily="2" charset="77"/>
              <a:cs typeface="Poppins" pitchFamily="2" charset="77"/>
            </a:endParaRPr>
          </a:p>
        </p:txBody>
      </p:sp>
      <p:sp>
        <p:nvSpPr>
          <p:cNvPr id="7" name="Google Shape;62;g11b5860b61b_0_64">
            <a:extLst>
              <a:ext uri="{FF2B5EF4-FFF2-40B4-BE49-F238E27FC236}">
                <a16:creationId xmlns:a16="http://schemas.microsoft.com/office/drawing/2014/main" id="{CB92E58A-FD7B-7B4C-B1EB-8279173484A5}"/>
              </a:ext>
            </a:extLst>
          </p:cNvPr>
          <p:cNvSpPr txBox="1"/>
          <p:nvPr/>
        </p:nvSpPr>
        <p:spPr>
          <a:xfrm>
            <a:off x="177583" y="668299"/>
            <a:ext cx="9133990" cy="779711"/>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4200" b="1" kern="0" dirty="0">
                <a:solidFill>
                  <a:srgbClr val="282828"/>
                </a:solidFill>
                <a:latin typeface="Poppins"/>
                <a:cs typeface="Poppins"/>
                <a:sym typeface="Century Gothic"/>
              </a:rPr>
              <a:t>Capital Allocation Detail. </a:t>
            </a:r>
            <a:endParaRPr lang="en-US" sz="4200" kern="0" dirty="0">
              <a:solidFill>
                <a:srgbClr val="282828"/>
              </a:solidFill>
              <a:latin typeface="Poppins" pitchFamily="2" charset="77"/>
              <a:cs typeface="Poppins" pitchFamily="2" charset="77"/>
            </a:endParaRPr>
          </a:p>
        </p:txBody>
      </p:sp>
      <p:sp>
        <p:nvSpPr>
          <p:cNvPr id="14" name="Google Shape;62;g11b5860b61b_0_64">
            <a:extLst>
              <a:ext uri="{FF2B5EF4-FFF2-40B4-BE49-F238E27FC236}">
                <a16:creationId xmlns:a16="http://schemas.microsoft.com/office/drawing/2014/main" id="{171C2030-2966-D745-A6B6-15F35B26BFDF}"/>
              </a:ext>
            </a:extLst>
          </p:cNvPr>
          <p:cNvSpPr txBox="1"/>
          <p:nvPr/>
        </p:nvSpPr>
        <p:spPr>
          <a:xfrm>
            <a:off x="116645" y="3644890"/>
            <a:ext cx="4133383" cy="984830"/>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800" b="1" kern="0" dirty="0">
                <a:solidFill>
                  <a:srgbClr val="282828"/>
                </a:solidFill>
                <a:latin typeface="Poppins"/>
                <a:cs typeface="Poppins"/>
                <a:sym typeface="Century Gothic"/>
              </a:rPr>
              <a:t>Omnichannel Marketing/Branding</a:t>
            </a:r>
            <a:endParaRPr lang="en-US" sz="1200" kern="0" dirty="0">
              <a:solidFill>
                <a:srgbClr val="282828"/>
              </a:solidFill>
              <a:latin typeface="Poppins"/>
              <a:cs typeface="Poppins"/>
            </a:endParaRPr>
          </a:p>
        </p:txBody>
      </p:sp>
      <p:sp>
        <p:nvSpPr>
          <p:cNvPr id="15" name="TextBox 14">
            <a:extLst>
              <a:ext uri="{FF2B5EF4-FFF2-40B4-BE49-F238E27FC236}">
                <a16:creationId xmlns:a16="http://schemas.microsoft.com/office/drawing/2014/main" id="{3884381F-6FF9-DD41-9EEA-B2DCDF2DF348}"/>
              </a:ext>
            </a:extLst>
          </p:cNvPr>
          <p:cNvSpPr txBox="1"/>
          <p:nvPr/>
        </p:nvSpPr>
        <p:spPr>
          <a:xfrm>
            <a:off x="4095482" y="3429000"/>
            <a:ext cx="7805504" cy="1554272"/>
          </a:xfrm>
          <a:prstGeom prst="rect">
            <a:avLst/>
          </a:prstGeom>
          <a:noFill/>
        </p:spPr>
        <p:txBody>
          <a:bodyPr wrap="square" lIns="91440" tIns="45720" rIns="91440" bIns="45720" rtlCol="0" anchor="t">
            <a:spAutoFit/>
          </a:bodyPr>
          <a:lstStyle/>
          <a:p>
            <a:endParaRPr lang="en-US" sz="1100" dirty="0">
              <a:latin typeface="Poppins" pitchFamily="2" charset="77"/>
              <a:cs typeface="Poppins" pitchFamily="2" charset="77"/>
            </a:endParaRPr>
          </a:p>
          <a:p>
            <a:r>
              <a:rPr lang="en-US" sz="1200" dirty="0">
                <a:solidFill>
                  <a:srgbClr val="282828"/>
                </a:solidFill>
                <a:latin typeface="Poppins"/>
                <a:cs typeface="Poppins"/>
              </a:rPr>
              <a:t>Palm’s existing growth has come primarily from Paid Search and Social. Our growing email database continues to serve as a large portion of revenue, 2024 estimate $1M but both sources can be optimized with complimentary forms of media marketing. Palm has served over 80k customers to date but to more effectively reach the 6.2 million 18-34 male golfer, Palm plans to expand marketing efforts to the following channels: OTT, Audio, PPC/SEM, Direct Mail, and Print. Lastly, Palm has an opportunity to expand its Experimental efforts through existing relationships with credible partners like: St. Jude, Sierra Co, SCGA, Anaheim Ducks, Pepsi, Gensis, Reef, PGA and more!  </a:t>
            </a:r>
            <a:endParaRPr lang="en-US" sz="1200" dirty="0">
              <a:solidFill>
                <a:srgbClr val="282828"/>
              </a:solidFill>
              <a:latin typeface="Poppins" pitchFamily="2" charset="77"/>
              <a:cs typeface="Poppins" pitchFamily="2" charset="77"/>
            </a:endParaRPr>
          </a:p>
        </p:txBody>
      </p:sp>
      <p:sp>
        <p:nvSpPr>
          <p:cNvPr id="16" name="Google Shape;62;g11b5860b61b_0_64">
            <a:extLst>
              <a:ext uri="{FF2B5EF4-FFF2-40B4-BE49-F238E27FC236}">
                <a16:creationId xmlns:a16="http://schemas.microsoft.com/office/drawing/2014/main" id="{2C1CB274-695E-DC41-9B06-A2F01EDEE6CE}"/>
              </a:ext>
            </a:extLst>
          </p:cNvPr>
          <p:cNvSpPr txBox="1"/>
          <p:nvPr/>
        </p:nvSpPr>
        <p:spPr>
          <a:xfrm>
            <a:off x="177583" y="5423568"/>
            <a:ext cx="3581593" cy="984830"/>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2800" b="1" kern="0" dirty="0">
                <a:solidFill>
                  <a:srgbClr val="282828"/>
                </a:solidFill>
                <a:latin typeface="Poppins"/>
                <a:cs typeface="Poppins"/>
                <a:sym typeface="Century Gothic"/>
              </a:rPr>
              <a:t>Operational Optimizations</a:t>
            </a:r>
            <a:endParaRPr lang="en-US" sz="2800" kern="0" dirty="0">
              <a:solidFill>
                <a:srgbClr val="282828"/>
              </a:solidFill>
              <a:latin typeface="Poppins"/>
              <a:cs typeface="Poppins"/>
            </a:endParaRPr>
          </a:p>
        </p:txBody>
      </p:sp>
      <p:sp>
        <p:nvSpPr>
          <p:cNvPr id="19" name="TextBox 18">
            <a:extLst>
              <a:ext uri="{FF2B5EF4-FFF2-40B4-BE49-F238E27FC236}">
                <a16:creationId xmlns:a16="http://schemas.microsoft.com/office/drawing/2014/main" id="{8861180E-5938-B949-94C0-F6F36BCF4D23}"/>
              </a:ext>
            </a:extLst>
          </p:cNvPr>
          <p:cNvSpPr txBox="1"/>
          <p:nvPr/>
        </p:nvSpPr>
        <p:spPr>
          <a:xfrm>
            <a:off x="4172755" y="5485111"/>
            <a:ext cx="7468540" cy="646331"/>
          </a:xfrm>
          <a:prstGeom prst="rect">
            <a:avLst/>
          </a:prstGeom>
          <a:noFill/>
        </p:spPr>
        <p:txBody>
          <a:bodyPr wrap="square" lIns="91440" tIns="45720" rIns="91440" bIns="45720" rtlCol="0" anchor="t">
            <a:spAutoFit/>
          </a:bodyPr>
          <a:lstStyle/>
          <a:p>
            <a:r>
              <a:rPr lang="en-US" sz="1200" dirty="0">
                <a:solidFill>
                  <a:srgbClr val="282828"/>
                </a:solidFill>
                <a:latin typeface="Poppins"/>
                <a:cs typeface="Poppins"/>
              </a:rPr>
              <a:t>There are key operational areas that need dedicated resource and focus. These include website optimization, IP protection, bigger warehouse, on-premise screen printing, mobile shop, loyalty program and more. </a:t>
            </a:r>
            <a:endParaRPr lang="en-US" sz="1200" dirty="0">
              <a:solidFill>
                <a:srgbClr val="282828"/>
              </a:solidFill>
              <a:latin typeface="Poppins" pitchFamily="2" charset="77"/>
              <a:cs typeface="Poppins" pitchFamily="2" charset="77"/>
            </a:endParaRPr>
          </a:p>
        </p:txBody>
      </p:sp>
    </p:spTree>
    <p:extLst>
      <p:ext uri="{BB962C8B-B14F-4D97-AF65-F5344CB8AC3E}">
        <p14:creationId xmlns:p14="http://schemas.microsoft.com/office/powerpoint/2010/main" val="235638692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5FA7E1A-139D-CBBC-32A1-54A260DAAB07}"/>
            </a:ext>
          </a:extLst>
        </p:cNvPr>
        <p:cNvGrpSpPr/>
        <p:nvPr/>
      </p:nvGrpSpPr>
      <p:grpSpPr>
        <a:xfrm>
          <a:off x="0" y="0"/>
          <a:ext cx="0" cy="0"/>
          <a:chOff x="0" y="0"/>
          <a:chExt cx="0" cy="0"/>
        </a:xfrm>
      </p:grpSpPr>
      <p:sp>
        <p:nvSpPr>
          <p:cNvPr id="62" name="Google Shape;62;g11b5860b61b_0_64">
            <a:extLst>
              <a:ext uri="{FF2B5EF4-FFF2-40B4-BE49-F238E27FC236}">
                <a16:creationId xmlns:a16="http://schemas.microsoft.com/office/drawing/2014/main" id="{6ADFC74F-D743-4BAC-078F-A16F6D85D917}"/>
              </a:ext>
            </a:extLst>
          </p:cNvPr>
          <p:cNvSpPr txBox="1"/>
          <p:nvPr/>
        </p:nvSpPr>
        <p:spPr>
          <a:xfrm>
            <a:off x="618836" y="717484"/>
            <a:ext cx="9133990" cy="2636693"/>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4267" b="1" kern="0" dirty="0">
                <a:latin typeface="Poppins" pitchFamily="2" charset="77"/>
                <a:ea typeface="Century Gothic"/>
                <a:cs typeface="Poppins" pitchFamily="2" charset="77"/>
                <a:sym typeface="Century Gothic"/>
              </a:rPr>
              <a:t>Strategic Hires</a:t>
            </a:r>
          </a:p>
          <a:p>
            <a:pPr defTabSz="1219170">
              <a:buClr>
                <a:srgbClr val="000000"/>
              </a:buClr>
            </a:pPr>
            <a:endParaRPr lang="en-US" b="1" u="sng" kern="0" dirty="0">
              <a:latin typeface="Poppins" pitchFamily="2" charset="77"/>
              <a:cs typeface="Poppins" pitchFamily="2" charset="77"/>
              <a:sym typeface="Century Gothic"/>
            </a:endParaRPr>
          </a:p>
          <a:p>
            <a:pPr defTabSz="1219170">
              <a:buClr>
                <a:srgbClr val="000000"/>
              </a:buClr>
            </a:pPr>
            <a:endParaRPr lang="en-US" b="1" u="sng" kern="0" dirty="0">
              <a:latin typeface="Poppins" pitchFamily="2" charset="77"/>
              <a:cs typeface="Poppins" pitchFamily="2" charset="77"/>
              <a:sym typeface="Century Gothic"/>
            </a:endParaRPr>
          </a:p>
          <a:p>
            <a:pPr defTabSz="1219170">
              <a:buClr>
                <a:srgbClr val="000000"/>
              </a:buClr>
            </a:pPr>
            <a:endParaRPr lang="en" b="1" kern="0" dirty="0">
              <a:latin typeface="Poppins" pitchFamily="2" charset="77"/>
              <a:cs typeface="Poppins" pitchFamily="2" charset="77"/>
              <a:sym typeface="Century Gothic"/>
            </a:endParaRPr>
          </a:p>
          <a:p>
            <a:pPr defTabSz="1219170">
              <a:buClr>
                <a:srgbClr val="000000"/>
              </a:buClr>
            </a:pPr>
            <a:endParaRPr lang="en" sz="4267" b="1" kern="0" dirty="0">
              <a:latin typeface="Poppins" pitchFamily="2" charset="77"/>
              <a:cs typeface="Poppins" pitchFamily="2" charset="77"/>
              <a:sym typeface="Century Gothic"/>
            </a:endParaRPr>
          </a:p>
          <a:p>
            <a:pPr defTabSz="1219170">
              <a:buClr>
                <a:srgbClr val="000000"/>
              </a:buClr>
            </a:pPr>
            <a:endParaRPr sz="2400" kern="0" dirty="0">
              <a:latin typeface="Poppins" pitchFamily="2" charset="77"/>
              <a:cs typeface="Poppins" pitchFamily="2" charset="77"/>
              <a:sym typeface="Arial"/>
            </a:endParaRPr>
          </a:p>
        </p:txBody>
      </p:sp>
      <p:sp>
        <p:nvSpPr>
          <p:cNvPr id="17" name="Rectangle 16">
            <a:extLst>
              <a:ext uri="{FF2B5EF4-FFF2-40B4-BE49-F238E27FC236}">
                <a16:creationId xmlns:a16="http://schemas.microsoft.com/office/drawing/2014/main" id="{3DB08C90-495C-0F04-0CB8-DEC424968EE6}"/>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ED3BFF2B-F096-FDBE-944A-85E70BA353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8A27D69-FFB8-9102-B833-30CE0C82FA43}"/>
              </a:ext>
            </a:extLst>
          </p:cNvPr>
          <p:cNvSpPr txBox="1"/>
          <p:nvPr/>
        </p:nvSpPr>
        <p:spPr>
          <a:xfrm>
            <a:off x="618836" y="2309091"/>
            <a:ext cx="11018982" cy="646331"/>
          </a:xfrm>
          <a:prstGeom prst="rect">
            <a:avLst/>
          </a:prstGeom>
          <a:noFill/>
        </p:spPr>
        <p:txBody>
          <a:bodyPr wrap="square" rtlCol="0">
            <a:spAutoFit/>
          </a:bodyPr>
          <a:lstStyle/>
          <a:p>
            <a:endParaRPr lang="en-US"/>
          </a:p>
          <a:p>
            <a:endParaRPr lang="en-US"/>
          </a:p>
        </p:txBody>
      </p:sp>
      <p:sp>
        <p:nvSpPr>
          <p:cNvPr id="8" name="TextBox 7">
            <a:extLst>
              <a:ext uri="{FF2B5EF4-FFF2-40B4-BE49-F238E27FC236}">
                <a16:creationId xmlns:a16="http://schemas.microsoft.com/office/drawing/2014/main" id="{AB75BE0C-691F-6383-4FC0-BE0B2C1A2060}"/>
              </a:ext>
            </a:extLst>
          </p:cNvPr>
          <p:cNvSpPr txBox="1"/>
          <p:nvPr/>
        </p:nvSpPr>
        <p:spPr>
          <a:xfrm>
            <a:off x="554182" y="1690561"/>
            <a:ext cx="10375900" cy="5632311"/>
          </a:xfrm>
          <a:prstGeom prst="rect">
            <a:avLst/>
          </a:prstGeom>
          <a:noFill/>
        </p:spPr>
        <p:txBody>
          <a:bodyPr wrap="square" rtlCol="0">
            <a:spAutoFit/>
          </a:bodyPr>
          <a:lstStyle/>
          <a:p>
            <a:r>
              <a:rPr lang="en-US" sz="1600" b="1" u="sng" dirty="0"/>
              <a:t>Day 1-90: Operational Buildout </a:t>
            </a:r>
            <a:endParaRPr lang="en-US" sz="1600" dirty="0"/>
          </a:p>
          <a:p>
            <a:pPr marL="285750" indent="-285750">
              <a:buFontTx/>
              <a:buChar char="-"/>
            </a:pPr>
            <a:r>
              <a:rPr lang="en-US" sz="1600" dirty="0"/>
              <a:t>Creative Support: Graphic Designer, Editor </a:t>
            </a:r>
          </a:p>
          <a:p>
            <a:pPr marL="285750" indent="-285750">
              <a:buFontTx/>
              <a:buChar char="-"/>
            </a:pPr>
            <a:r>
              <a:rPr lang="en-US" sz="1600" dirty="0"/>
              <a:t>Marketing: Social Media Manager, SMS &amp; Email Marketing</a:t>
            </a:r>
          </a:p>
          <a:p>
            <a:pPr marL="285750" indent="-285750">
              <a:buFontTx/>
              <a:buChar char="-"/>
            </a:pPr>
            <a:r>
              <a:rPr lang="en-US" sz="1600" dirty="0"/>
              <a:t>Product Development: Line Planner,  Tech Designer</a:t>
            </a:r>
          </a:p>
          <a:p>
            <a:pPr marL="285750" indent="-285750">
              <a:buFontTx/>
              <a:buChar char="-"/>
            </a:pPr>
            <a:r>
              <a:rPr lang="en-US" sz="1600" dirty="0"/>
              <a:t>Other: Web Developer, Warehouse Associate</a:t>
            </a:r>
            <a:endParaRPr lang="en-US" sz="1600" u="sng" dirty="0"/>
          </a:p>
          <a:p>
            <a:endParaRPr lang="en-US" sz="1600" b="1" u="sng" dirty="0"/>
          </a:p>
          <a:p>
            <a:r>
              <a:rPr lang="en-US" sz="1600" b="1" u="sng" dirty="0"/>
              <a:t>Day 90-120: Wholesale sales leader + small inside sales team </a:t>
            </a:r>
          </a:p>
          <a:p>
            <a:pPr marL="285750" indent="-285750">
              <a:buFontTx/>
              <a:buChar char="-"/>
            </a:pPr>
            <a:r>
              <a:rPr lang="en-US" sz="1600" dirty="0"/>
              <a:t>Commissions will be factored in the Wholesale Gross Profit calculation</a:t>
            </a:r>
          </a:p>
          <a:p>
            <a:pPr marL="285750" indent="-285750">
              <a:buFontTx/>
              <a:buChar char="-"/>
            </a:pPr>
            <a:r>
              <a:rPr lang="en-US" sz="1600" dirty="0"/>
              <a:t>Need to front 6-9 months of salaries to build pipeline and realize revenue above current levels</a:t>
            </a:r>
          </a:p>
          <a:p>
            <a:pPr marL="285750" indent="-285750">
              <a:buFontTx/>
              <a:buChar char="-"/>
            </a:pPr>
            <a:r>
              <a:rPr lang="en-US" sz="1600" dirty="0"/>
              <a:t>Wholesale Leader - $75k-$100k base + 2-5% commission</a:t>
            </a:r>
          </a:p>
          <a:p>
            <a:pPr marL="285750" indent="-285750">
              <a:buFontTx/>
              <a:buChar char="-"/>
            </a:pPr>
            <a:r>
              <a:rPr lang="en-US" sz="1600" dirty="0"/>
              <a:t>Inside Sales team 3-4, $30k-40k base + 5-15% commission</a:t>
            </a:r>
          </a:p>
          <a:p>
            <a:pPr marL="285750" indent="-285750">
              <a:buFontTx/>
              <a:buChar char="-"/>
            </a:pPr>
            <a:r>
              <a:rPr lang="en-US" sz="1600" dirty="0"/>
              <a:t>$15k-$18k per month fixed expense to generate  </a:t>
            </a:r>
          </a:p>
          <a:p>
            <a:endParaRPr lang="en-US" sz="1600" dirty="0"/>
          </a:p>
          <a:p>
            <a:r>
              <a:rPr lang="en-US" sz="1600" b="1" u="sng" dirty="0"/>
              <a:t>Year 2: Full-Time CMO</a:t>
            </a:r>
          </a:p>
          <a:p>
            <a:r>
              <a:rPr lang="en-US" sz="1600" dirty="0"/>
              <a:t>- Timeline is estimate, triggering event is financial performance based.</a:t>
            </a:r>
          </a:p>
          <a:p>
            <a:endParaRPr lang="en-US" sz="1600" dirty="0"/>
          </a:p>
          <a:p>
            <a:r>
              <a:rPr lang="en-US" sz="1600" b="1" u="sng" dirty="0"/>
              <a:t>Year 2-3: Full-Time Production Manager</a:t>
            </a:r>
          </a:p>
          <a:p>
            <a:r>
              <a:rPr lang="en-US" sz="1600" dirty="0"/>
              <a:t>- Timeline is estimate, triggering event is financial performance based.</a:t>
            </a:r>
          </a:p>
          <a:p>
            <a:endParaRPr lang="en-US" b="1" u="sng" dirty="0"/>
          </a:p>
          <a:p>
            <a:r>
              <a:rPr lang="en-US" dirty="0"/>
              <a:t>Note: All Expenses are accounted for in proforma.</a:t>
            </a:r>
          </a:p>
          <a:p>
            <a:pPr marL="285750" indent="-285750">
              <a:buFontTx/>
              <a:buChar char="-"/>
            </a:pPr>
            <a:endParaRPr lang="en-US" dirty="0"/>
          </a:p>
          <a:p>
            <a:r>
              <a:rPr lang="en-US" dirty="0"/>
              <a:t> </a:t>
            </a:r>
          </a:p>
        </p:txBody>
      </p:sp>
    </p:spTree>
    <p:extLst>
      <p:ext uri="{BB962C8B-B14F-4D97-AF65-F5344CB8AC3E}">
        <p14:creationId xmlns:p14="http://schemas.microsoft.com/office/powerpoint/2010/main" val="12022753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0D9402BC-CBE4-67C7-A216-2999706AC91A}"/>
            </a:ext>
          </a:extLst>
        </p:cNvPr>
        <p:cNvGrpSpPr/>
        <p:nvPr/>
      </p:nvGrpSpPr>
      <p:grpSpPr>
        <a:xfrm>
          <a:off x="0" y="0"/>
          <a:ext cx="0" cy="0"/>
          <a:chOff x="0" y="0"/>
          <a:chExt cx="0" cy="0"/>
        </a:xfrm>
      </p:grpSpPr>
      <p:sp>
        <p:nvSpPr>
          <p:cNvPr id="62" name="Google Shape;62;g11b5860b61b_0_64">
            <a:extLst>
              <a:ext uri="{FF2B5EF4-FFF2-40B4-BE49-F238E27FC236}">
                <a16:creationId xmlns:a16="http://schemas.microsoft.com/office/drawing/2014/main" id="{B57ABC93-2A45-F9CD-3296-4EB9A416C48C}"/>
              </a:ext>
            </a:extLst>
          </p:cNvPr>
          <p:cNvSpPr txBox="1"/>
          <p:nvPr/>
        </p:nvSpPr>
        <p:spPr>
          <a:xfrm>
            <a:off x="618836" y="717484"/>
            <a:ext cx="11018982" cy="2636693"/>
          </a:xfrm>
          <a:prstGeom prst="rect">
            <a:avLst/>
          </a:prstGeom>
          <a:noFill/>
          <a:ln>
            <a:noFill/>
          </a:ln>
        </p:spPr>
        <p:txBody>
          <a:bodyPr spcFirstLastPara="1" wrap="square" lIns="121900" tIns="60933" rIns="121900" bIns="60933" anchor="t" anchorCtr="0">
            <a:spAutoFit/>
          </a:bodyPr>
          <a:lstStyle/>
          <a:p>
            <a:pPr algn="ctr" defTabSz="1219170">
              <a:buClr>
                <a:srgbClr val="000000"/>
              </a:buClr>
            </a:pPr>
            <a:r>
              <a:rPr lang="en" sz="4267" b="1" kern="0" dirty="0">
                <a:latin typeface="Poppins" pitchFamily="2" charset="77"/>
                <a:ea typeface="Century Gothic"/>
                <a:cs typeface="Poppins" pitchFamily="2" charset="77"/>
                <a:sym typeface="Century Gothic"/>
              </a:rPr>
              <a:t>Strategic Hires &amp; Wholesale Build Out</a:t>
            </a:r>
          </a:p>
          <a:p>
            <a:pPr algn="ctr" defTabSz="1219170">
              <a:buClr>
                <a:srgbClr val="000000"/>
              </a:buClr>
            </a:pPr>
            <a:endParaRPr lang="en-US" b="1" u="sng" kern="0" dirty="0">
              <a:latin typeface="Poppins" pitchFamily="2" charset="77"/>
              <a:cs typeface="Poppins" pitchFamily="2" charset="77"/>
              <a:sym typeface="Century Gothic"/>
            </a:endParaRPr>
          </a:p>
          <a:p>
            <a:pPr algn="ctr" defTabSz="1219170">
              <a:buClr>
                <a:srgbClr val="000000"/>
              </a:buClr>
            </a:pPr>
            <a:endParaRPr lang="en-US" b="1" u="sng" kern="0" dirty="0">
              <a:latin typeface="Poppins" pitchFamily="2" charset="77"/>
              <a:cs typeface="Poppins" pitchFamily="2" charset="77"/>
              <a:sym typeface="Century Gothic"/>
            </a:endParaRPr>
          </a:p>
          <a:p>
            <a:pPr algn="ctr" defTabSz="1219170">
              <a:buClr>
                <a:srgbClr val="000000"/>
              </a:buClr>
            </a:pPr>
            <a:endParaRPr lang="en" b="1" kern="0" dirty="0">
              <a:latin typeface="Poppins" pitchFamily="2" charset="77"/>
              <a:cs typeface="Poppins" pitchFamily="2" charset="77"/>
              <a:sym typeface="Century Gothic"/>
            </a:endParaRPr>
          </a:p>
          <a:p>
            <a:pPr algn="ctr" defTabSz="1219170">
              <a:buClr>
                <a:srgbClr val="000000"/>
              </a:buClr>
            </a:pPr>
            <a:endParaRPr lang="en" sz="4267" b="1" kern="0" dirty="0">
              <a:latin typeface="Poppins" pitchFamily="2" charset="77"/>
              <a:cs typeface="Poppins" pitchFamily="2" charset="77"/>
              <a:sym typeface="Century Gothic"/>
            </a:endParaRPr>
          </a:p>
          <a:p>
            <a:pPr algn="ctr" defTabSz="1219170">
              <a:buClr>
                <a:srgbClr val="000000"/>
              </a:buClr>
            </a:pPr>
            <a:endParaRPr sz="2400" kern="0" dirty="0">
              <a:latin typeface="Poppins" pitchFamily="2" charset="77"/>
              <a:cs typeface="Poppins" pitchFamily="2" charset="77"/>
              <a:sym typeface="Arial"/>
            </a:endParaRPr>
          </a:p>
        </p:txBody>
      </p:sp>
      <p:sp>
        <p:nvSpPr>
          <p:cNvPr id="17" name="Rectangle 16">
            <a:extLst>
              <a:ext uri="{FF2B5EF4-FFF2-40B4-BE49-F238E27FC236}">
                <a16:creationId xmlns:a16="http://schemas.microsoft.com/office/drawing/2014/main" id="{B4575571-C2FF-CF2E-B1B0-FDF2CD5CBA66}"/>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1C965A61-36A5-A7F7-1105-BDB54F5E93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B2CCD40-894A-5E5E-4528-567BFC1364D1}"/>
              </a:ext>
            </a:extLst>
          </p:cNvPr>
          <p:cNvSpPr txBox="1"/>
          <p:nvPr/>
        </p:nvSpPr>
        <p:spPr>
          <a:xfrm>
            <a:off x="618836" y="2309091"/>
            <a:ext cx="11018982" cy="646331"/>
          </a:xfrm>
          <a:prstGeom prst="rect">
            <a:avLst/>
          </a:prstGeom>
          <a:noFill/>
        </p:spPr>
        <p:txBody>
          <a:bodyPr wrap="square" rtlCol="0">
            <a:spAutoFit/>
          </a:bodyPr>
          <a:lstStyle/>
          <a:p>
            <a:endParaRPr lang="en-US"/>
          </a:p>
          <a:p>
            <a:endParaRPr lang="en-US"/>
          </a:p>
        </p:txBody>
      </p:sp>
      <p:sp>
        <p:nvSpPr>
          <p:cNvPr id="8" name="TextBox 7">
            <a:extLst>
              <a:ext uri="{FF2B5EF4-FFF2-40B4-BE49-F238E27FC236}">
                <a16:creationId xmlns:a16="http://schemas.microsoft.com/office/drawing/2014/main" id="{B76CDEA3-35D5-3622-76D3-DD154DE58832}"/>
              </a:ext>
            </a:extLst>
          </p:cNvPr>
          <p:cNvSpPr txBox="1"/>
          <p:nvPr/>
        </p:nvSpPr>
        <p:spPr>
          <a:xfrm>
            <a:off x="774700" y="1831826"/>
            <a:ext cx="10375900" cy="1477328"/>
          </a:xfrm>
          <a:prstGeom prst="rect">
            <a:avLst/>
          </a:prstGeom>
          <a:noFill/>
        </p:spPr>
        <p:txBody>
          <a:bodyPr wrap="square" rtlCol="0">
            <a:spAutoFit/>
          </a:bodyPr>
          <a:lstStyle/>
          <a:p>
            <a:endParaRPr lang="en-US" dirty="0"/>
          </a:p>
          <a:p>
            <a:endParaRPr lang="en-US" dirty="0"/>
          </a:p>
          <a:p>
            <a:endParaRPr lang="en-US" dirty="0"/>
          </a:p>
          <a:p>
            <a:pPr marL="285750" indent="-285750">
              <a:buFontTx/>
              <a:buChar char="-"/>
            </a:pPr>
            <a:endParaRPr lang="en-US" dirty="0"/>
          </a:p>
          <a:p>
            <a:r>
              <a:rPr lang="en-US" dirty="0"/>
              <a:t> </a:t>
            </a:r>
          </a:p>
        </p:txBody>
      </p:sp>
      <p:pic>
        <p:nvPicPr>
          <p:cNvPr id="2" name="Picture 1">
            <a:extLst>
              <a:ext uri="{FF2B5EF4-FFF2-40B4-BE49-F238E27FC236}">
                <a16:creationId xmlns:a16="http://schemas.microsoft.com/office/drawing/2014/main" id="{2A0D40A6-A181-EBC0-E04F-7D15DC624ECA}"/>
              </a:ext>
            </a:extLst>
          </p:cNvPr>
          <p:cNvPicPr>
            <a:picLocks noChangeAspect="1"/>
          </p:cNvPicPr>
          <p:nvPr/>
        </p:nvPicPr>
        <p:blipFill>
          <a:blip r:embed="rId4"/>
          <a:stretch>
            <a:fillRect/>
          </a:stretch>
        </p:blipFill>
        <p:spPr>
          <a:xfrm>
            <a:off x="3740312" y="2035830"/>
            <a:ext cx="7124540" cy="3294354"/>
          </a:xfrm>
          <a:prstGeom prst="rect">
            <a:avLst/>
          </a:prstGeom>
        </p:spPr>
      </p:pic>
      <p:sp>
        <p:nvSpPr>
          <p:cNvPr id="4" name="TextBox 3">
            <a:extLst>
              <a:ext uri="{FF2B5EF4-FFF2-40B4-BE49-F238E27FC236}">
                <a16:creationId xmlns:a16="http://schemas.microsoft.com/office/drawing/2014/main" id="{3933D968-3291-FE57-6C13-6FE3271DAA7F}"/>
              </a:ext>
            </a:extLst>
          </p:cNvPr>
          <p:cNvSpPr txBox="1"/>
          <p:nvPr/>
        </p:nvSpPr>
        <p:spPr>
          <a:xfrm>
            <a:off x="538018" y="1549401"/>
            <a:ext cx="2951018" cy="5047536"/>
          </a:xfrm>
          <a:prstGeom prst="rect">
            <a:avLst/>
          </a:prstGeom>
          <a:noFill/>
        </p:spPr>
        <p:txBody>
          <a:bodyPr wrap="square" rtlCol="0">
            <a:spAutoFit/>
          </a:bodyPr>
          <a:lstStyle/>
          <a:p>
            <a:r>
              <a:rPr lang="en-US" sz="1400" dirty="0"/>
              <a:t>With fractional focus, Palm will exceed $500k in 2024 in wholesale business. </a:t>
            </a:r>
          </a:p>
          <a:p>
            <a:endParaRPr lang="en-US" sz="1400" dirty="0"/>
          </a:p>
          <a:p>
            <a:r>
              <a:rPr lang="en-US" sz="1400" dirty="0"/>
              <a:t>Palm is serving 32 green grass golf courses, 8 Retailers and 6 other types of brick and mortar.  </a:t>
            </a:r>
          </a:p>
          <a:p>
            <a:endParaRPr lang="en-US" sz="1400" dirty="0"/>
          </a:p>
          <a:p>
            <a:r>
              <a:rPr lang="en-US" sz="1400" dirty="0"/>
              <a:t>Green Grass – 22 of 32 are in California.</a:t>
            </a:r>
          </a:p>
          <a:p>
            <a:endParaRPr lang="en-US" sz="1400" dirty="0"/>
          </a:p>
          <a:p>
            <a:r>
              <a:rPr lang="en-US" sz="1400" dirty="0"/>
              <a:t>Major Retailers include Sierra, World Wide Golf, TJMAXX, Sierra Company, Dicks Sporting Goods, Golf Galaxy</a:t>
            </a:r>
          </a:p>
          <a:p>
            <a:endParaRPr lang="en-US" sz="1400" dirty="0"/>
          </a:p>
          <a:p>
            <a:r>
              <a:rPr lang="en-US" sz="1400" dirty="0"/>
              <a:t>Other Types include Drive Shack, </a:t>
            </a:r>
            <a:r>
              <a:rPr lang="en-US" sz="1400" dirty="0" err="1"/>
              <a:t>MullyBox</a:t>
            </a:r>
            <a:r>
              <a:rPr lang="en-US" sz="1400" dirty="0"/>
              <a:t>, Gimme Golf Studio. </a:t>
            </a:r>
          </a:p>
          <a:p>
            <a:endParaRPr lang="en-US" sz="1400" dirty="0"/>
          </a:p>
          <a:p>
            <a:r>
              <a:rPr lang="en-US" sz="1400" dirty="0"/>
              <a:t>This doesn’t include partnerships like the following: Anaheim Ducks, Philadelphia Eagles, Genesis, Pepsi, LA Galaxy, etc.</a:t>
            </a:r>
          </a:p>
          <a:p>
            <a:endParaRPr lang="en-US" sz="1400" dirty="0"/>
          </a:p>
        </p:txBody>
      </p:sp>
    </p:spTree>
    <p:extLst>
      <p:ext uri="{BB962C8B-B14F-4D97-AF65-F5344CB8AC3E}">
        <p14:creationId xmlns:p14="http://schemas.microsoft.com/office/powerpoint/2010/main" val="56745896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3D6C47BE-9195-4E5C-6799-4336E198D07B}"/>
            </a:ext>
          </a:extLst>
        </p:cNvPr>
        <p:cNvGrpSpPr/>
        <p:nvPr/>
      </p:nvGrpSpPr>
      <p:grpSpPr>
        <a:xfrm>
          <a:off x="0" y="0"/>
          <a:ext cx="0" cy="0"/>
          <a:chOff x="0" y="0"/>
          <a:chExt cx="0" cy="0"/>
        </a:xfrm>
      </p:grpSpPr>
      <p:sp>
        <p:nvSpPr>
          <p:cNvPr id="62" name="Google Shape;62;g11b5860b61b_0_64">
            <a:extLst>
              <a:ext uri="{FF2B5EF4-FFF2-40B4-BE49-F238E27FC236}">
                <a16:creationId xmlns:a16="http://schemas.microsoft.com/office/drawing/2014/main" id="{04C32115-D0B6-4EAA-0F70-7DE0622629C4}"/>
              </a:ext>
            </a:extLst>
          </p:cNvPr>
          <p:cNvSpPr txBox="1"/>
          <p:nvPr/>
        </p:nvSpPr>
        <p:spPr>
          <a:xfrm>
            <a:off x="501500" y="653984"/>
            <a:ext cx="9133990" cy="7243019"/>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3600" b="1" kern="0" dirty="0">
                <a:latin typeface="Poppins" pitchFamily="2" charset="77"/>
                <a:ea typeface="Century Gothic"/>
                <a:cs typeface="Poppins" pitchFamily="2" charset="77"/>
                <a:sym typeface="Century Gothic"/>
              </a:rPr>
              <a:t>Omni-Channel Marketing - Branding</a:t>
            </a:r>
          </a:p>
          <a:p>
            <a:pPr defTabSz="1219170">
              <a:buClr>
                <a:srgbClr val="000000"/>
              </a:buClr>
            </a:pPr>
            <a:r>
              <a:rPr lang="en" b="1" u="sng" kern="0" dirty="0">
                <a:latin typeface="Poppins" pitchFamily="2" charset="77"/>
                <a:cs typeface="Poppins" pitchFamily="2" charset="77"/>
                <a:sym typeface="Century Gothic"/>
              </a:rPr>
              <a:t>Why</a:t>
            </a:r>
            <a:r>
              <a:rPr lang="en" b="1" kern="0" dirty="0">
                <a:latin typeface="Poppins" pitchFamily="2" charset="77"/>
                <a:cs typeface="Poppins" pitchFamily="2" charset="77"/>
                <a:sym typeface="Century Gothic"/>
              </a:rPr>
              <a:t>:</a:t>
            </a:r>
          </a:p>
          <a:p>
            <a:pPr defTabSz="1219170">
              <a:buClr>
                <a:srgbClr val="000000"/>
              </a:buClr>
            </a:pPr>
            <a:r>
              <a:rPr lang="en" b="1" kern="0" dirty="0">
                <a:latin typeface="Poppins" pitchFamily="2" charset="77"/>
                <a:cs typeface="Poppins" pitchFamily="2" charset="77"/>
                <a:sym typeface="Century Gothic"/>
              </a:rPr>
              <a:t>Improve Advertising performance </a:t>
            </a:r>
          </a:p>
          <a:p>
            <a:pPr defTabSz="1219170">
              <a:buClr>
                <a:srgbClr val="000000"/>
              </a:buClr>
            </a:pPr>
            <a:r>
              <a:rPr lang="en" b="1" kern="0" dirty="0">
                <a:latin typeface="Poppins" pitchFamily="2" charset="77"/>
                <a:cs typeface="Poppins" pitchFamily="2" charset="77"/>
                <a:sym typeface="Century Gothic"/>
              </a:rPr>
              <a:t>Assist with Wholesale sales</a:t>
            </a:r>
          </a:p>
          <a:p>
            <a:pPr defTabSz="1219170">
              <a:buClr>
                <a:srgbClr val="000000"/>
              </a:buClr>
            </a:pPr>
            <a:r>
              <a:rPr lang="en" b="1" kern="0" dirty="0">
                <a:latin typeface="Poppins" pitchFamily="2" charset="77"/>
                <a:cs typeface="Poppins" pitchFamily="2" charset="77"/>
                <a:sym typeface="Century Gothic"/>
              </a:rPr>
              <a:t>Protect Palm tree mark</a:t>
            </a:r>
          </a:p>
          <a:p>
            <a:pPr defTabSz="1219170">
              <a:buClr>
                <a:srgbClr val="000000"/>
              </a:buClr>
            </a:pPr>
            <a:r>
              <a:rPr lang="en" b="1" kern="0" dirty="0">
                <a:latin typeface="Poppins" pitchFamily="2" charset="77"/>
                <a:cs typeface="Poppins" pitchFamily="2" charset="77"/>
                <a:sym typeface="Century Gothic"/>
              </a:rPr>
              <a:t>Reduce new customer acquisition costs</a:t>
            </a:r>
          </a:p>
          <a:p>
            <a:pPr defTabSz="1219170">
              <a:buClr>
                <a:srgbClr val="000000"/>
              </a:buClr>
            </a:pPr>
            <a:r>
              <a:rPr lang="en" b="1" kern="0" dirty="0">
                <a:latin typeface="Poppins" pitchFamily="2" charset="77"/>
                <a:cs typeface="Poppins" pitchFamily="2" charset="77"/>
                <a:sym typeface="Century Gothic"/>
              </a:rPr>
              <a:t>Build earned media</a:t>
            </a:r>
          </a:p>
          <a:p>
            <a:pPr defTabSz="1219170">
              <a:buClr>
                <a:srgbClr val="000000"/>
              </a:buClr>
            </a:pPr>
            <a:endParaRPr lang="en" b="1" kern="0" dirty="0">
              <a:latin typeface="Poppins" pitchFamily="2" charset="77"/>
              <a:cs typeface="Poppins" pitchFamily="2" charset="77"/>
              <a:sym typeface="Century Gothic"/>
            </a:endParaRPr>
          </a:p>
          <a:p>
            <a:pPr defTabSz="1219170">
              <a:buClr>
                <a:srgbClr val="000000"/>
              </a:buClr>
            </a:pPr>
            <a:r>
              <a:rPr lang="en" b="1" u="sng" kern="0" dirty="0">
                <a:latin typeface="Poppins" pitchFamily="2" charset="77"/>
                <a:cs typeface="Poppins" pitchFamily="2" charset="77"/>
                <a:sym typeface="Century Gothic"/>
              </a:rPr>
              <a:t>Approach:</a:t>
            </a:r>
          </a:p>
          <a:p>
            <a:pPr defTabSz="1219170">
              <a:buClr>
                <a:srgbClr val="000000"/>
              </a:buClr>
            </a:pPr>
            <a:r>
              <a:rPr lang="en" b="1" kern="0" dirty="0">
                <a:latin typeface="Poppins" pitchFamily="2" charset="77"/>
                <a:cs typeface="Poppins" pitchFamily="2" charset="77"/>
                <a:sym typeface="Century Gothic"/>
              </a:rPr>
              <a:t>Omni channel Marketing</a:t>
            </a:r>
          </a:p>
          <a:p>
            <a:pPr marL="285750" indent="-285750" defTabSz="1219170">
              <a:buClr>
                <a:srgbClr val="000000"/>
              </a:buClr>
              <a:buFontTx/>
              <a:buChar char="-"/>
            </a:pPr>
            <a:r>
              <a:rPr lang="en" b="1" kern="0" dirty="0">
                <a:latin typeface="Poppins" pitchFamily="2" charset="77"/>
                <a:cs typeface="Poppins" pitchFamily="2" charset="77"/>
                <a:sym typeface="Century Gothic"/>
              </a:rPr>
              <a:t>Podcast advertising</a:t>
            </a:r>
          </a:p>
          <a:p>
            <a:pPr marL="285750" indent="-285750" defTabSz="1219170">
              <a:buClr>
                <a:srgbClr val="000000"/>
              </a:buClr>
              <a:buFontTx/>
              <a:buChar char="-"/>
            </a:pPr>
            <a:r>
              <a:rPr lang="en" b="1" kern="0" dirty="0">
                <a:latin typeface="Poppins" pitchFamily="2" charset="77"/>
                <a:cs typeface="Poppins" pitchFamily="2" charset="77"/>
                <a:sym typeface="Century Gothic"/>
              </a:rPr>
              <a:t>OTT</a:t>
            </a:r>
          </a:p>
          <a:p>
            <a:pPr marL="285750" indent="-285750" defTabSz="1219170">
              <a:buClr>
                <a:srgbClr val="000000"/>
              </a:buClr>
              <a:buFontTx/>
              <a:buChar char="-"/>
            </a:pPr>
            <a:r>
              <a:rPr lang="en" b="1" kern="0" dirty="0">
                <a:latin typeface="Poppins" pitchFamily="2" charset="77"/>
                <a:cs typeface="Poppins" pitchFamily="2" charset="77"/>
                <a:sym typeface="Century Gothic"/>
              </a:rPr>
              <a:t>Direct Mail</a:t>
            </a:r>
          </a:p>
          <a:p>
            <a:pPr marL="285750" indent="-285750" defTabSz="1219170">
              <a:buClr>
                <a:srgbClr val="000000"/>
              </a:buClr>
              <a:buFontTx/>
              <a:buChar char="-"/>
            </a:pPr>
            <a:r>
              <a:rPr lang="en" b="1" kern="0" dirty="0">
                <a:latin typeface="Poppins" pitchFamily="2" charset="77"/>
                <a:cs typeface="Poppins" pitchFamily="2" charset="77"/>
                <a:sym typeface="Century Gothic"/>
              </a:rPr>
              <a:t>Email aka 1</a:t>
            </a:r>
            <a:r>
              <a:rPr lang="en" b="1" kern="0" baseline="30000" dirty="0">
                <a:latin typeface="Poppins" pitchFamily="2" charset="77"/>
                <a:cs typeface="Poppins" pitchFamily="2" charset="77"/>
                <a:sym typeface="Century Gothic"/>
              </a:rPr>
              <a:t>st</a:t>
            </a:r>
            <a:r>
              <a:rPr lang="en" b="1" kern="0" dirty="0">
                <a:latin typeface="Poppins" pitchFamily="2" charset="77"/>
                <a:cs typeface="Poppins" pitchFamily="2" charset="77"/>
                <a:sym typeface="Century Gothic"/>
              </a:rPr>
              <a:t> party or earned media (ongoing)</a:t>
            </a:r>
          </a:p>
          <a:p>
            <a:pPr marL="742950" lvl="1" indent="-285750" defTabSz="1219170">
              <a:buClr>
                <a:srgbClr val="000000"/>
              </a:buClr>
              <a:buFontTx/>
              <a:buChar char="-"/>
            </a:pPr>
            <a:r>
              <a:rPr lang="en" b="1" kern="0" dirty="0">
                <a:latin typeface="Poppins" pitchFamily="2" charset="77"/>
                <a:cs typeface="Poppins" pitchFamily="2" charset="77"/>
                <a:sym typeface="Century Gothic"/>
              </a:rPr>
              <a:t>Performance – 15 to 1 ROAS – build earned media</a:t>
            </a:r>
          </a:p>
          <a:p>
            <a:pPr marL="285750" indent="-285750" defTabSz="1219170">
              <a:buClr>
                <a:srgbClr val="000000"/>
              </a:buClr>
              <a:buFontTx/>
              <a:buChar char="-"/>
            </a:pPr>
            <a:r>
              <a:rPr lang="en" b="1" kern="0" dirty="0">
                <a:latin typeface="Poppins" pitchFamily="2" charset="77"/>
                <a:cs typeface="Poppins" pitchFamily="2" charset="77"/>
                <a:sym typeface="Century Gothic"/>
              </a:rPr>
              <a:t>Direct aka Branded Search (ongoing)</a:t>
            </a:r>
          </a:p>
          <a:p>
            <a:pPr marL="742950" lvl="1" indent="-285750" defTabSz="1219170">
              <a:buClr>
                <a:srgbClr val="000000"/>
              </a:buClr>
              <a:buFontTx/>
              <a:buChar char="-"/>
            </a:pPr>
            <a:r>
              <a:rPr lang="en" b="1" kern="0" dirty="0">
                <a:latin typeface="Poppins" pitchFamily="2" charset="77"/>
                <a:cs typeface="Poppins" pitchFamily="2" charset="77"/>
                <a:sym typeface="Century Gothic"/>
              </a:rPr>
              <a:t>Performance – 9 to 1 ROAS – can only scale via branding</a:t>
            </a:r>
          </a:p>
          <a:p>
            <a:pPr defTabSz="1219170">
              <a:buClr>
                <a:srgbClr val="000000"/>
              </a:buClr>
            </a:pPr>
            <a:r>
              <a:rPr lang="en" b="1" kern="0" dirty="0">
                <a:latin typeface="Poppins" pitchFamily="2" charset="77"/>
                <a:cs typeface="Poppins" pitchFamily="2" charset="77"/>
                <a:sym typeface="Century Gothic"/>
              </a:rPr>
              <a:t>Ambassador – i.e. tour players</a:t>
            </a:r>
          </a:p>
          <a:p>
            <a:pPr defTabSz="1219170">
              <a:buClr>
                <a:srgbClr val="000000"/>
              </a:buClr>
            </a:pPr>
            <a:r>
              <a:rPr lang="en" b="1" kern="0" dirty="0">
                <a:latin typeface="Poppins" pitchFamily="2" charset="77"/>
                <a:cs typeface="Poppins" pitchFamily="2" charset="77"/>
                <a:sym typeface="Century Gothic"/>
              </a:rPr>
              <a:t>Event activations </a:t>
            </a:r>
          </a:p>
          <a:p>
            <a:pPr defTabSz="1219170">
              <a:buClr>
                <a:srgbClr val="000000"/>
              </a:buClr>
            </a:pPr>
            <a:r>
              <a:rPr lang="en" b="1" kern="0" dirty="0">
                <a:latin typeface="Poppins" pitchFamily="2" charset="77"/>
                <a:cs typeface="Poppins" pitchFamily="2" charset="77"/>
                <a:sym typeface="Century Gothic"/>
              </a:rPr>
              <a:t>Physical Pop-Up Store (see equipment)</a:t>
            </a:r>
          </a:p>
          <a:p>
            <a:pPr defTabSz="1219170">
              <a:buClr>
                <a:srgbClr val="000000"/>
              </a:buClr>
            </a:pPr>
            <a:endParaRPr lang="en" sz="4267" b="1" kern="0" dirty="0">
              <a:latin typeface="Poppins" pitchFamily="2" charset="77"/>
              <a:cs typeface="Poppins" pitchFamily="2" charset="77"/>
              <a:sym typeface="Century Gothic"/>
            </a:endParaRPr>
          </a:p>
          <a:p>
            <a:pPr defTabSz="1219170">
              <a:buClr>
                <a:srgbClr val="000000"/>
              </a:buClr>
            </a:pPr>
            <a:endParaRPr sz="2400" kern="0" dirty="0">
              <a:latin typeface="Poppins" pitchFamily="2" charset="77"/>
              <a:cs typeface="Poppins" pitchFamily="2" charset="77"/>
              <a:sym typeface="Arial"/>
            </a:endParaRPr>
          </a:p>
        </p:txBody>
      </p:sp>
      <p:sp>
        <p:nvSpPr>
          <p:cNvPr id="17" name="Rectangle 16">
            <a:extLst>
              <a:ext uri="{FF2B5EF4-FFF2-40B4-BE49-F238E27FC236}">
                <a16:creationId xmlns:a16="http://schemas.microsoft.com/office/drawing/2014/main" id="{11B585EF-634A-1EF6-1EF4-07746D7A3B14}"/>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5C051AD8-D060-8B75-B052-3B12B9DE208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F3BFC20-B7B1-FA11-9421-9D915949EEBE}"/>
              </a:ext>
            </a:extLst>
          </p:cNvPr>
          <p:cNvSpPr txBox="1"/>
          <p:nvPr/>
        </p:nvSpPr>
        <p:spPr>
          <a:xfrm>
            <a:off x="586509" y="2275224"/>
            <a:ext cx="11018982" cy="646331"/>
          </a:xfrm>
          <a:prstGeom prst="rect">
            <a:avLst/>
          </a:prstGeom>
          <a:noFill/>
        </p:spPr>
        <p:txBody>
          <a:bodyPr wrap="square" rtlCol="0">
            <a:spAutoFit/>
          </a:bodyPr>
          <a:lstStyle/>
          <a:p>
            <a:endParaRPr lang="en-US"/>
          </a:p>
          <a:p>
            <a:endParaRPr lang="en-US"/>
          </a:p>
        </p:txBody>
      </p:sp>
    </p:spTree>
    <p:extLst>
      <p:ext uri="{BB962C8B-B14F-4D97-AF65-F5344CB8AC3E}">
        <p14:creationId xmlns:p14="http://schemas.microsoft.com/office/powerpoint/2010/main" val="34814609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D109C02F-CB5F-E55D-73D2-F9DBC84654BB}"/>
            </a:ext>
          </a:extLst>
        </p:cNvPr>
        <p:cNvGrpSpPr/>
        <p:nvPr/>
      </p:nvGrpSpPr>
      <p:grpSpPr>
        <a:xfrm>
          <a:off x="0" y="0"/>
          <a:ext cx="0" cy="0"/>
          <a:chOff x="0" y="0"/>
          <a:chExt cx="0" cy="0"/>
        </a:xfrm>
      </p:grpSpPr>
      <p:sp>
        <p:nvSpPr>
          <p:cNvPr id="62" name="Google Shape;62;g11b5860b61b_0_64">
            <a:extLst>
              <a:ext uri="{FF2B5EF4-FFF2-40B4-BE49-F238E27FC236}">
                <a16:creationId xmlns:a16="http://schemas.microsoft.com/office/drawing/2014/main" id="{E5B99521-3859-F288-84E9-A829B0E17D60}"/>
              </a:ext>
            </a:extLst>
          </p:cNvPr>
          <p:cNvSpPr txBox="1"/>
          <p:nvPr/>
        </p:nvSpPr>
        <p:spPr>
          <a:xfrm>
            <a:off x="618836" y="717484"/>
            <a:ext cx="9133990" cy="7345674"/>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4267" b="1" kern="0" dirty="0">
                <a:latin typeface="Poppins" pitchFamily="2" charset="77"/>
                <a:ea typeface="Century Gothic"/>
                <a:cs typeface="Poppins" pitchFamily="2" charset="77"/>
                <a:sym typeface="Century Gothic"/>
              </a:rPr>
              <a:t>Licensing</a:t>
            </a:r>
          </a:p>
          <a:p>
            <a:pPr defTabSz="1219170">
              <a:buClr>
                <a:srgbClr val="000000"/>
              </a:buClr>
            </a:pPr>
            <a:r>
              <a:rPr lang="en" b="1" u="sng" kern="0" dirty="0">
                <a:latin typeface="Poppins" pitchFamily="2" charset="77"/>
                <a:cs typeface="Poppins" pitchFamily="2" charset="77"/>
                <a:sym typeface="Century Gothic"/>
              </a:rPr>
              <a:t>Examples: </a:t>
            </a:r>
          </a:p>
          <a:p>
            <a:pPr defTabSz="1219170">
              <a:buClr>
                <a:srgbClr val="000000"/>
              </a:buClr>
            </a:pPr>
            <a:r>
              <a:rPr lang="en" kern="0" dirty="0">
                <a:latin typeface="Poppins" pitchFamily="2" charset="77"/>
                <a:cs typeface="Poppins" pitchFamily="2" charset="77"/>
                <a:sym typeface="Century Gothic"/>
              </a:rPr>
              <a:t>Brand Collaboration – </a:t>
            </a:r>
            <a:r>
              <a:rPr lang="en" kern="0" dirty="0" err="1">
                <a:latin typeface="Poppins" pitchFamily="2" charset="77"/>
                <a:cs typeface="Poppins" pitchFamily="2" charset="77"/>
                <a:sym typeface="Century Gothic"/>
              </a:rPr>
              <a:t>Malbon</a:t>
            </a:r>
            <a:r>
              <a:rPr lang="en" kern="0" dirty="0">
                <a:latin typeface="Poppins" pitchFamily="2" charset="77"/>
                <a:cs typeface="Poppins" pitchFamily="2" charset="77"/>
                <a:sym typeface="Century Gothic"/>
              </a:rPr>
              <a:t> &amp; everyone, Lululemon and Bauer, TM and Bauer, TM and High Noon. Palm and Reef. </a:t>
            </a:r>
          </a:p>
          <a:p>
            <a:pPr defTabSz="1219170">
              <a:buClr>
                <a:srgbClr val="000000"/>
              </a:buClr>
            </a:pPr>
            <a:endParaRPr lang="en" b="1" u="sng" kern="0" dirty="0">
              <a:latin typeface="Poppins" pitchFamily="2" charset="77"/>
              <a:cs typeface="Poppins" pitchFamily="2" charset="77"/>
              <a:sym typeface="Century Gothic"/>
            </a:endParaRPr>
          </a:p>
          <a:p>
            <a:pPr defTabSz="1219170">
              <a:buClr>
                <a:srgbClr val="000000"/>
              </a:buClr>
            </a:pPr>
            <a:r>
              <a:rPr lang="en" kern="0" dirty="0">
                <a:latin typeface="Poppins" pitchFamily="2" charset="77"/>
                <a:cs typeface="Poppins" pitchFamily="2" charset="77"/>
                <a:sym typeface="Century Gothic"/>
              </a:rPr>
              <a:t>Major Sports Organizations - NCAA, NFL, MLB, NHL</a:t>
            </a:r>
          </a:p>
          <a:p>
            <a:pPr defTabSz="1219170">
              <a:buClr>
                <a:srgbClr val="000000"/>
              </a:buClr>
            </a:pPr>
            <a:endParaRPr lang="en" kern="0" dirty="0">
              <a:latin typeface="Poppins" pitchFamily="2" charset="77"/>
              <a:cs typeface="Poppins" pitchFamily="2" charset="77"/>
              <a:sym typeface="Century Gothic"/>
            </a:endParaRPr>
          </a:p>
          <a:p>
            <a:pPr defTabSz="1219170">
              <a:buClr>
                <a:srgbClr val="000000"/>
              </a:buClr>
            </a:pPr>
            <a:r>
              <a:rPr lang="en" kern="0" dirty="0">
                <a:latin typeface="Poppins" pitchFamily="2" charset="77"/>
                <a:cs typeface="Poppins" pitchFamily="2" charset="77"/>
                <a:sym typeface="Century Gothic"/>
              </a:rPr>
              <a:t>PGA Events – Waste Management, Genesis, Pebble Beach Pro-Am, Farmers Open, American Century Classic.  </a:t>
            </a:r>
          </a:p>
          <a:p>
            <a:pPr defTabSz="1219170">
              <a:buClr>
                <a:srgbClr val="000000"/>
              </a:buClr>
            </a:pPr>
            <a:endParaRPr lang="en" b="1" u="sng" kern="0" dirty="0">
              <a:latin typeface="Poppins" pitchFamily="2" charset="77"/>
              <a:cs typeface="Poppins" pitchFamily="2" charset="77"/>
              <a:sym typeface="Century Gothic"/>
            </a:endParaRPr>
          </a:p>
          <a:p>
            <a:pPr defTabSz="1219170">
              <a:buClr>
                <a:srgbClr val="000000"/>
              </a:buClr>
            </a:pPr>
            <a:r>
              <a:rPr lang="en" b="1" u="sng" kern="0" dirty="0">
                <a:latin typeface="Poppins" pitchFamily="2" charset="77"/>
                <a:cs typeface="Poppins" pitchFamily="2" charset="77"/>
                <a:sym typeface="Century Gothic"/>
              </a:rPr>
              <a:t>Why</a:t>
            </a:r>
            <a:r>
              <a:rPr lang="en" b="1" kern="0" dirty="0">
                <a:latin typeface="Poppins" pitchFamily="2" charset="77"/>
                <a:cs typeface="Poppins" pitchFamily="2" charset="77"/>
                <a:sym typeface="Century Gothic"/>
              </a:rPr>
              <a:t>:</a:t>
            </a:r>
          </a:p>
          <a:p>
            <a:pPr defTabSz="1219170">
              <a:buClr>
                <a:srgbClr val="000000"/>
              </a:buClr>
            </a:pPr>
            <a:r>
              <a:rPr lang="en" kern="0" dirty="0">
                <a:latin typeface="Poppins" pitchFamily="2" charset="77"/>
                <a:cs typeface="Poppins" pitchFamily="2" charset="77"/>
                <a:sym typeface="Century Gothic"/>
              </a:rPr>
              <a:t>- Brand Collaboration provides product diversification opportunity (i.e. </a:t>
            </a:r>
            <a:r>
              <a:rPr lang="en" kern="0" dirty="0" err="1">
                <a:latin typeface="Poppins" pitchFamily="2" charset="77"/>
                <a:cs typeface="Poppins" pitchFamily="2" charset="77"/>
                <a:sym typeface="Century Gothic"/>
              </a:rPr>
              <a:t>Womens</a:t>
            </a:r>
            <a:r>
              <a:rPr lang="en" kern="0" dirty="0">
                <a:latin typeface="Poppins" pitchFamily="2" charset="77"/>
                <a:cs typeface="Poppins" pitchFamily="2" charset="77"/>
                <a:sym typeface="Century Gothic"/>
              </a:rPr>
              <a:t>, Kids, footwear) without experimenting. </a:t>
            </a:r>
          </a:p>
          <a:p>
            <a:pPr defTabSz="1219170">
              <a:buClr>
                <a:srgbClr val="000000"/>
              </a:buClr>
            </a:pPr>
            <a:r>
              <a:rPr lang="en" kern="0" dirty="0">
                <a:latin typeface="Poppins" pitchFamily="2" charset="77"/>
                <a:cs typeface="Poppins" pitchFamily="2" charset="77"/>
                <a:sym typeface="Century Gothic"/>
              </a:rPr>
              <a:t>- Brand Collaboration also provides direct access to an expanded customer base with a trusted partner in the eyes of the consumer. </a:t>
            </a:r>
          </a:p>
          <a:p>
            <a:pPr marL="285750" indent="-285750" defTabSz="1219170">
              <a:buClr>
                <a:srgbClr val="000000"/>
              </a:buClr>
              <a:buFontTx/>
              <a:buChar char="-"/>
            </a:pPr>
            <a:r>
              <a:rPr lang="en" kern="0" dirty="0">
                <a:latin typeface="Poppins" pitchFamily="2" charset="77"/>
                <a:cs typeface="Poppins" pitchFamily="2" charset="77"/>
                <a:sym typeface="Century Gothic"/>
              </a:rPr>
              <a:t>Sports Organizations – allows for a regional targeted play (i.e. SEC Campus collection) during slow season. </a:t>
            </a:r>
          </a:p>
          <a:p>
            <a:pPr marL="285750" indent="-285750" defTabSz="1219170">
              <a:buClr>
                <a:srgbClr val="000000"/>
              </a:buClr>
              <a:buFontTx/>
              <a:buChar char="-"/>
            </a:pPr>
            <a:r>
              <a:rPr lang="en" kern="0" dirty="0">
                <a:latin typeface="Poppins" pitchFamily="2" charset="77"/>
                <a:cs typeface="Poppins" pitchFamily="2" charset="77"/>
                <a:sym typeface="Century Gothic"/>
              </a:rPr>
              <a:t>Sports Organizations –  </a:t>
            </a:r>
            <a:r>
              <a:rPr lang="en-US" kern="0" dirty="0">
                <a:latin typeface="Poppins" pitchFamily="2" charset="77"/>
                <a:cs typeface="Poppins" pitchFamily="2" charset="77"/>
                <a:sym typeface="Century Gothic"/>
              </a:rPr>
              <a:t>introduce Palm into specific markets through licensing effort</a:t>
            </a:r>
          </a:p>
          <a:p>
            <a:pPr marL="285750" indent="-285750" defTabSz="1219170">
              <a:buClr>
                <a:srgbClr val="000000"/>
              </a:buClr>
              <a:buFontTx/>
              <a:buChar char="-"/>
            </a:pPr>
            <a:r>
              <a:rPr lang="en-US" kern="0" dirty="0">
                <a:latin typeface="Poppins" pitchFamily="2" charset="77"/>
                <a:cs typeface="Poppins" pitchFamily="2" charset="77"/>
                <a:sym typeface="Century Gothic"/>
              </a:rPr>
              <a:t>PGA Events – align to high-energy fun events and/or local ones to Palm.</a:t>
            </a:r>
            <a:endParaRPr lang="en" kern="0" dirty="0">
              <a:latin typeface="Poppins" pitchFamily="2" charset="77"/>
              <a:cs typeface="Poppins" pitchFamily="2" charset="77"/>
              <a:sym typeface="Century Gothic"/>
            </a:endParaRPr>
          </a:p>
          <a:p>
            <a:pPr defTabSz="1219170">
              <a:buClr>
                <a:srgbClr val="000000"/>
              </a:buClr>
            </a:pPr>
            <a:endParaRPr lang="en" b="1" kern="0" dirty="0">
              <a:latin typeface="Poppins" pitchFamily="2" charset="77"/>
              <a:cs typeface="Poppins" pitchFamily="2" charset="77"/>
              <a:sym typeface="Century Gothic"/>
            </a:endParaRPr>
          </a:p>
          <a:p>
            <a:pPr defTabSz="1219170">
              <a:buClr>
                <a:srgbClr val="000000"/>
              </a:buClr>
            </a:pPr>
            <a:endParaRPr lang="en" sz="4267" b="1" kern="0" dirty="0">
              <a:latin typeface="Poppins" pitchFamily="2" charset="77"/>
              <a:cs typeface="Poppins" pitchFamily="2" charset="77"/>
              <a:sym typeface="Century Gothic"/>
            </a:endParaRPr>
          </a:p>
          <a:p>
            <a:pPr defTabSz="1219170">
              <a:buClr>
                <a:srgbClr val="000000"/>
              </a:buClr>
            </a:pPr>
            <a:endParaRPr sz="2400" kern="0" dirty="0">
              <a:latin typeface="Poppins" pitchFamily="2" charset="77"/>
              <a:cs typeface="Poppins" pitchFamily="2" charset="77"/>
              <a:sym typeface="Arial"/>
            </a:endParaRPr>
          </a:p>
        </p:txBody>
      </p:sp>
      <p:sp>
        <p:nvSpPr>
          <p:cNvPr id="17" name="Rectangle 16">
            <a:extLst>
              <a:ext uri="{FF2B5EF4-FFF2-40B4-BE49-F238E27FC236}">
                <a16:creationId xmlns:a16="http://schemas.microsoft.com/office/drawing/2014/main" id="{85A1E600-9AED-74D1-88FD-29D234423BAD}"/>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5EA47C6B-47D3-F886-86B2-DB7D3C9D8F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7B9194C-766F-44CF-BB32-17E098E82BAA}"/>
              </a:ext>
            </a:extLst>
          </p:cNvPr>
          <p:cNvSpPr txBox="1"/>
          <p:nvPr/>
        </p:nvSpPr>
        <p:spPr>
          <a:xfrm>
            <a:off x="618836" y="2309091"/>
            <a:ext cx="11018982" cy="646331"/>
          </a:xfrm>
          <a:prstGeom prst="rect">
            <a:avLst/>
          </a:prstGeom>
          <a:noFill/>
        </p:spPr>
        <p:txBody>
          <a:bodyPr wrap="square" rtlCol="0">
            <a:spAutoFit/>
          </a:bodyPr>
          <a:lstStyle/>
          <a:p>
            <a:endParaRPr lang="en-US"/>
          </a:p>
          <a:p>
            <a:endParaRPr lang="en-US"/>
          </a:p>
        </p:txBody>
      </p:sp>
    </p:spTree>
    <p:extLst>
      <p:ext uri="{BB962C8B-B14F-4D97-AF65-F5344CB8AC3E}">
        <p14:creationId xmlns:p14="http://schemas.microsoft.com/office/powerpoint/2010/main" val="8526039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1D0CD5E0-143A-CDFB-6331-8CAB79CBBA3D}"/>
            </a:ext>
          </a:extLst>
        </p:cNvPr>
        <p:cNvGrpSpPr/>
        <p:nvPr/>
      </p:nvGrpSpPr>
      <p:grpSpPr>
        <a:xfrm>
          <a:off x="0" y="0"/>
          <a:ext cx="0" cy="0"/>
          <a:chOff x="0" y="0"/>
          <a:chExt cx="0" cy="0"/>
        </a:xfrm>
      </p:grpSpPr>
      <p:sp>
        <p:nvSpPr>
          <p:cNvPr id="62" name="Google Shape;62;g11b5860b61b_0_64">
            <a:extLst>
              <a:ext uri="{FF2B5EF4-FFF2-40B4-BE49-F238E27FC236}">
                <a16:creationId xmlns:a16="http://schemas.microsoft.com/office/drawing/2014/main" id="{D40FBC9A-62BF-2164-2135-1003669A0DB0}"/>
              </a:ext>
            </a:extLst>
          </p:cNvPr>
          <p:cNvSpPr txBox="1"/>
          <p:nvPr/>
        </p:nvSpPr>
        <p:spPr>
          <a:xfrm>
            <a:off x="618836" y="717484"/>
            <a:ext cx="10651676" cy="4298686"/>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4267" b="1" kern="0" dirty="0">
                <a:latin typeface="Poppins" pitchFamily="2" charset="77"/>
                <a:ea typeface="Century Gothic"/>
                <a:cs typeface="Poppins" pitchFamily="2" charset="77"/>
                <a:sym typeface="Century Gothic"/>
              </a:rPr>
              <a:t>Operational Optimization</a:t>
            </a:r>
          </a:p>
          <a:p>
            <a:pPr defTabSz="1219170">
              <a:buClr>
                <a:srgbClr val="000000"/>
              </a:buClr>
            </a:pPr>
            <a:endParaRPr lang="en-US" b="1" u="sng" kern="0" dirty="0">
              <a:latin typeface="Poppins" pitchFamily="2" charset="77"/>
              <a:cs typeface="Poppins" pitchFamily="2" charset="77"/>
              <a:sym typeface="Century Gothic"/>
            </a:endParaRPr>
          </a:p>
          <a:p>
            <a:pPr defTabSz="1219170">
              <a:buClr>
                <a:srgbClr val="000000"/>
              </a:buClr>
            </a:pPr>
            <a:r>
              <a:rPr lang="en-US" b="1" u="sng" kern="0" dirty="0">
                <a:latin typeface="Poppins" pitchFamily="2" charset="77"/>
                <a:cs typeface="Poppins" pitchFamily="2" charset="77"/>
                <a:sym typeface="Century Gothic"/>
              </a:rPr>
              <a:t>Loyalty Program &amp; Website Optimization</a:t>
            </a:r>
          </a:p>
          <a:p>
            <a:pPr defTabSz="1219170">
              <a:buClr>
                <a:srgbClr val="000000"/>
              </a:buClr>
            </a:pPr>
            <a:endParaRPr lang="en-US" b="1" u="sng" kern="0" dirty="0">
              <a:latin typeface="Poppins" pitchFamily="2" charset="77"/>
              <a:cs typeface="Poppins" pitchFamily="2" charset="77"/>
              <a:sym typeface="Century Gothic"/>
            </a:endParaRPr>
          </a:p>
          <a:p>
            <a:pPr defTabSz="1219170">
              <a:buClr>
                <a:srgbClr val="000000"/>
              </a:buClr>
            </a:pPr>
            <a:r>
              <a:rPr lang="en-US" kern="0" dirty="0">
                <a:latin typeface="Poppins" pitchFamily="2" charset="77"/>
                <a:cs typeface="Poppins" pitchFamily="2" charset="77"/>
                <a:sym typeface="Century Gothic"/>
              </a:rPr>
              <a:t>While customer acquisition is critical to scalability, customer retention and increased AOV is the ripest opportunity for Palm in the short term. Of the 89k unique Palm less than 2% have done 5 or more orders. Below is a ‘From-To’ chart showing the expected output of a strong loyalty program which would be launched in 2025.</a:t>
            </a:r>
          </a:p>
          <a:p>
            <a:pPr defTabSz="1219170">
              <a:buClr>
                <a:srgbClr val="000000"/>
              </a:buClr>
            </a:pPr>
            <a:endParaRPr lang="en-US" b="1" u="sng" kern="0" dirty="0">
              <a:latin typeface="Poppins" pitchFamily="2" charset="77"/>
              <a:cs typeface="Poppins" pitchFamily="2" charset="77"/>
              <a:sym typeface="Century Gothic"/>
            </a:endParaRPr>
          </a:p>
          <a:p>
            <a:pPr defTabSz="1219170">
              <a:buClr>
                <a:srgbClr val="000000"/>
              </a:buClr>
            </a:pPr>
            <a:endParaRPr lang="en" b="1" kern="0" dirty="0">
              <a:latin typeface="Poppins" pitchFamily="2" charset="77"/>
              <a:cs typeface="Poppins" pitchFamily="2" charset="77"/>
              <a:sym typeface="Century Gothic"/>
            </a:endParaRPr>
          </a:p>
          <a:p>
            <a:pPr defTabSz="1219170">
              <a:buClr>
                <a:srgbClr val="000000"/>
              </a:buClr>
            </a:pPr>
            <a:endParaRPr lang="en" sz="4267" b="1" kern="0" dirty="0">
              <a:latin typeface="Poppins" pitchFamily="2" charset="77"/>
              <a:cs typeface="Poppins" pitchFamily="2" charset="77"/>
              <a:sym typeface="Century Gothic"/>
            </a:endParaRPr>
          </a:p>
          <a:p>
            <a:pPr defTabSz="1219170">
              <a:buClr>
                <a:srgbClr val="000000"/>
              </a:buClr>
            </a:pPr>
            <a:endParaRPr sz="2400" kern="0" dirty="0">
              <a:latin typeface="Poppins" pitchFamily="2" charset="77"/>
              <a:cs typeface="Poppins" pitchFamily="2" charset="77"/>
              <a:sym typeface="Arial"/>
            </a:endParaRPr>
          </a:p>
        </p:txBody>
      </p:sp>
      <p:sp>
        <p:nvSpPr>
          <p:cNvPr id="17" name="Rectangle 16">
            <a:extLst>
              <a:ext uri="{FF2B5EF4-FFF2-40B4-BE49-F238E27FC236}">
                <a16:creationId xmlns:a16="http://schemas.microsoft.com/office/drawing/2014/main" id="{D44C6FF0-3AC7-E70C-7C3C-AA593A3A0F44}"/>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D7E3B39A-0C0D-B811-28FB-CB4BEBE0EB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B4ED234-7A39-2BDB-667A-43FEC4AB1264}"/>
              </a:ext>
            </a:extLst>
          </p:cNvPr>
          <p:cNvPicPr>
            <a:picLocks noChangeAspect="1"/>
          </p:cNvPicPr>
          <p:nvPr/>
        </p:nvPicPr>
        <p:blipFill>
          <a:blip r:embed="rId4"/>
          <a:stretch>
            <a:fillRect/>
          </a:stretch>
        </p:blipFill>
        <p:spPr>
          <a:xfrm>
            <a:off x="618836" y="4270614"/>
            <a:ext cx="2781300" cy="2171700"/>
          </a:xfrm>
          <a:prstGeom prst="rect">
            <a:avLst/>
          </a:prstGeom>
        </p:spPr>
      </p:pic>
      <p:sp>
        <p:nvSpPr>
          <p:cNvPr id="11" name="TextBox 10">
            <a:extLst>
              <a:ext uri="{FF2B5EF4-FFF2-40B4-BE49-F238E27FC236}">
                <a16:creationId xmlns:a16="http://schemas.microsoft.com/office/drawing/2014/main" id="{CF11FF2B-D34B-678D-CD04-01932C7DAA1D}"/>
              </a:ext>
            </a:extLst>
          </p:cNvPr>
          <p:cNvSpPr txBox="1"/>
          <p:nvPr/>
        </p:nvSpPr>
        <p:spPr>
          <a:xfrm>
            <a:off x="618836" y="3636085"/>
            <a:ext cx="2737550" cy="646331"/>
          </a:xfrm>
          <a:prstGeom prst="rect">
            <a:avLst/>
          </a:prstGeom>
          <a:noFill/>
        </p:spPr>
        <p:txBody>
          <a:bodyPr wrap="square" rtlCol="0">
            <a:spAutoFit/>
          </a:bodyPr>
          <a:lstStyle/>
          <a:p>
            <a:r>
              <a:rPr lang="en-US" sz="3600" b="1" u="sng" dirty="0"/>
              <a:t>FROM</a:t>
            </a:r>
          </a:p>
        </p:txBody>
      </p:sp>
      <p:pic>
        <p:nvPicPr>
          <p:cNvPr id="12" name="Picture 11">
            <a:extLst>
              <a:ext uri="{FF2B5EF4-FFF2-40B4-BE49-F238E27FC236}">
                <a16:creationId xmlns:a16="http://schemas.microsoft.com/office/drawing/2014/main" id="{58533B74-4666-E93B-E4C8-15A64D414E10}"/>
              </a:ext>
            </a:extLst>
          </p:cNvPr>
          <p:cNvPicPr>
            <a:picLocks noChangeAspect="1"/>
          </p:cNvPicPr>
          <p:nvPr/>
        </p:nvPicPr>
        <p:blipFill>
          <a:blip r:embed="rId5"/>
          <a:stretch>
            <a:fillRect/>
          </a:stretch>
        </p:blipFill>
        <p:spPr>
          <a:xfrm>
            <a:off x="5605130" y="4241965"/>
            <a:ext cx="2895600" cy="2184400"/>
          </a:xfrm>
          <a:prstGeom prst="rect">
            <a:avLst/>
          </a:prstGeom>
        </p:spPr>
      </p:pic>
      <p:sp>
        <p:nvSpPr>
          <p:cNvPr id="14" name="TextBox 13">
            <a:extLst>
              <a:ext uri="{FF2B5EF4-FFF2-40B4-BE49-F238E27FC236}">
                <a16:creationId xmlns:a16="http://schemas.microsoft.com/office/drawing/2014/main" id="{B448D4DE-FF1F-7DAC-4190-B8B18B4369CC}"/>
              </a:ext>
            </a:extLst>
          </p:cNvPr>
          <p:cNvSpPr txBox="1"/>
          <p:nvPr/>
        </p:nvSpPr>
        <p:spPr>
          <a:xfrm>
            <a:off x="5561380" y="3613961"/>
            <a:ext cx="2737550" cy="646331"/>
          </a:xfrm>
          <a:prstGeom prst="rect">
            <a:avLst/>
          </a:prstGeom>
          <a:noFill/>
        </p:spPr>
        <p:txBody>
          <a:bodyPr wrap="square" rtlCol="0">
            <a:spAutoFit/>
          </a:bodyPr>
          <a:lstStyle/>
          <a:p>
            <a:r>
              <a:rPr lang="en-US" sz="3600" b="1" u="sng" dirty="0"/>
              <a:t>TO</a:t>
            </a:r>
          </a:p>
        </p:txBody>
      </p:sp>
      <p:sp>
        <p:nvSpPr>
          <p:cNvPr id="15" name="Right Arrow 14">
            <a:extLst>
              <a:ext uri="{FF2B5EF4-FFF2-40B4-BE49-F238E27FC236}">
                <a16:creationId xmlns:a16="http://schemas.microsoft.com/office/drawing/2014/main" id="{6A1ADA9C-394F-C19C-D156-CBAF217F2876}"/>
              </a:ext>
            </a:extLst>
          </p:cNvPr>
          <p:cNvSpPr/>
          <p:nvPr/>
        </p:nvSpPr>
        <p:spPr>
          <a:xfrm>
            <a:off x="3506992" y="3769393"/>
            <a:ext cx="1852587" cy="472572"/>
          </a:xfrm>
          <a:prstGeom prst="rightArrow">
            <a:avLst/>
          </a:prstGeom>
          <a:ln/>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36DB6DDF-2364-C953-1AA1-7B10C29D5FA2}"/>
              </a:ext>
            </a:extLst>
          </p:cNvPr>
          <p:cNvSpPr/>
          <p:nvPr/>
        </p:nvSpPr>
        <p:spPr>
          <a:xfrm>
            <a:off x="7358231" y="6142616"/>
            <a:ext cx="1142499" cy="387276"/>
          </a:xfrm>
          <a:prstGeom prst="ellipse">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180669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6B69EB76-3CA6-078D-9CD0-69A7BA169C1D}"/>
            </a:ext>
          </a:extLst>
        </p:cNvPr>
        <p:cNvGrpSpPr/>
        <p:nvPr/>
      </p:nvGrpSpPr>
      <p:grpSpPr>
        <a:xfrm>
          <a:off x="0" y="0"/>
          <a:ext cx="0" cy="0"/>
          <a:chOff x="0" y="0"/>
          <a:chExt cx="0" cy="0"/>
        </a:xfrm>
      </p:grpSpPr>
      <p:sp>
        <p:nvSpPr>
          <p:cNvPr id="62" name="Google Shape;62;g11b5860b61b_0_64">
            <a:extLst>
              <a:ext uri="{FF2B5EF4-FFF2-40B4-BE49-F238E27FC236}">
                <a16:creationId xmlns:a16="http://schemas.microsoft.com/office/drawing/2014/main" id="{32741D10-D651-4CC7-CB2A-A7615A21486F}"/>
              </a:ext>
            </a:extLst>
          </p:cNvPr>
          <p:cNvSpPr txBox="1"/>
          <p:nvPr/>
        </p:nvSpPr>
        <p:spPr>
          <a:xfrm>
            <a:off x="726464" y="637646"/>
            <a:ext cx="9133990" cy="2913692"/>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4267" b="1" kern="0" dirty="0">
                <a:latin typeface="Poppins" pitchFamily="2" charset="77"/>
                <a:ea typeface="Century Gothic"/>
                <a:cs typeface="Poppins" pitchFamily="2" charset="77"/>
                <a:sym typeface="Century Gothic"/>
              </a:rPr>
              <a:t>Equipment</a:t>
            </a:r>
          </a:p>
          <a:p>
            <a:pPr defTabSz="1219170">
              <a:buClr>
                <a:srgbClr val="000000"/>
              </a:buClr>
            </a:pPr>
            <a:endParaRPr lang="en-US" b="1" u="sng" kern="0" dirty="0">
              <a:latin typeface="Poppins" pitchFamily="2" charset="77"/>
              <a:cs typeface="Poppins" pitchFamily="2" charset="77"/>
              <a:sym typeface="Century Gothic"/>
            </a:endParaRPr>
          </a:p>
          <a:p>
            <a:pPr defTabSz="1219170">
              <a:buClr>
                <a:srgbClr val="000000"/>
              </a:buClr>
            </a:pPr>
            <a:endParaRPr lang="en-US" b="1" u="sng" kern="0" dirty="0">
              <a:latin typeface="Poppins" pitchFamily="2" charset="77"/>
              <a:cs typeface="Poppins" pitchFamily="2" charset="77"/>
              <a:sym typeface="Century Gothic"/>
            </a:endParaRPr>
          </a:p>
          <a:p>
            <a:pPr defTabSz="1219170">
              <a:buClr>
                <a:srgbClr val="000000"/>
              </a:buClr>
            </a:pPr>
            <a:endParaRPr lang="en-US" b="1" u="sng" kern="0" dirty="0">
              <a:latin typeface="Poppins" pitchFamily="2" charset="77"/>
              <a:cs typeface="Poppins" pitchFamily="2" charset="77"/>
              <a:sym typeface="Century Gothic"/>
            </a:endParaRPr>
          </a:p>
          <a:p>
            <a:pPr defTabSz="1219170">
              <a:buClr>
                <a:srgbClr val="000000"/>
              </a:buClr>
            </a:pPr>
            <a:endParaRPr lang="en" b="1" kern="0" dirty="0">
              <a:latin typeface="Poppins" pitchFamily="2" charset="77"/>
              <a:cs typeface="Poppins" pitchFamily="2" charset="77"/>
              <a:sym typeface="Century Gothic"/>
            </a:endParaRPr>
          </a:p>
          <a:p>
            <a:pPr defTabSz="1219170">
              <a:buClr>
                <a:srgbClr val="000000"/>
              </a:buClr>
            </a:pPr>
            <a:endParaRPr lang="en" sz="4267" b="1" kern="0" dirty="0">
              <a:latin typeface="Poppins" pitchFamily="2" charset="77"/>
              <a:cs typeface="Poppins" pitchFamily="2" charset="77"/>
              <a:sym typeface="Century Gothic"/>
            </a:endParaRPr>
          </a:p>
          <a:p>
            <a:pPr defTabSz="1219170">
              <a:buClr>
                <a:srgbClr val="000000"/>
              </a:buClr>
            </a:pPr>
            <a:endParaRPr sz="2400" kern="0" dirty="0">
              <a:latin typeface="Poppins" pitchFamily="2" charset="77"/>
              <a:cs typeface="Poppins" pitchFamily="2" charset="77"/>
              <a:sym typeface="Arial"/>
            </a:endParaRPr>
          </a:p>
        </p:txBody>
      </p:sp>
      <p:sp>
        <p:nvSpPr>
          <p:cNvPr id="17" name="Rectangle 16">
            <a:extLst>
              <a:ext uri="{FF2B5EF4-FFF2-40B4-BE49-F238E27FC236}">
                <a16:creationId xmlns:a16="http://schemas.microsoft.com/office/drawing/2014/main" id="{B790FF29-1CF2-EA9E-33C9-CE0200C06CF9}"/>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04F4E682-2360-D8E0-43C6-4CBB74EBDB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C1FD4FE-A3CB-591B-372B-7425D492087F}"/>
              </a:ext>
            </a:extLst>
          </p:cNvPr>
          <p:cNvSpPr txBox="1"/>
          <p:nvPr/>
        </p:nvSpPr>
        <p:spPr>
          <a:xfrm>
            <a:off x="0" y="2320123"/>
            <a:ext cx="11018982" cy="646331"/>
          </a:xfrm>
          <a:prstGeom prst="rect">
            <a:avLst/>
          </a:prstGeom>
          <a:noFill/>
        </p:spPr>
        <p:txBody>
          <a:bodyPr wrap="square" rtlCol="0">
            <a:spAutoFit/>
          </a:bodyPr>
          <a:lstStyle/>
          <a:p>
            <a:endParaRPr lang="en-US"/>
          </a:p>
          <a:p>
            <a:endParaRPr lang="en-US"/>
          </a:p>
        </p:txBody>
      </p:sp>
      <p:sp>
        <p:nvSpPr>
          <p:cNvPr id="8" name="TextBox 7">
            <a:extLst>
              <a:ext uri="{FF2B5EF4-FFF2-40B4-BE49-F238E27FC236}">
                <a16:creationId xmlns:a16="http://schemas.microsoft.com/office/drawing/2014/main" id="{505FFE63-11AF-AEA0-D2B1-F5D6B6C21217}"/>
              </a:ext>
            </a:extLst>
          </p:cNvPr>
          <p:cNvSpPr txBox="1"/>
          <p:nvPr/>
        </p:nvSpPr>
        <p:spPr>
          <a:xfrm>
            <a:off x="7824656" y="1617462"/>
            <a:ext cx="3640880" cy="3416320"/>
          </a:xfrm>
          <a:prstGeom prst="rect">
            <a:avLst/>
          </a:prstGeom>
          <a:noFill/>
        </p:spPr>
        <p:txBody>
          <a:bodyPr wrap="square" rtlCol="0">
            <a:spAutoFit/>
          </a:bodyPr>
          <a:lstStyle/>
          <a:p>
            <a:r>
              <a:rPr lang="en-US" dirty="0"/>
              <a:t>Opportunity for Palm to turn orders around quickly in the wholesale space. </a:t>
            </a:r>
          </a:p>
          <a:p>
            <a:endParaRPr lang="en-US" dirty="0"/>
          </a:p>
          <a:p>
            <a:r>
              <a:rPr lang="en-US" dirty="0"/>
              <a:t>Provide limited drops based on current events or trends. </a:t>
            </a:r>
          </a:p>
          <a:p>
            <a:endParaRPr lang="en-US" dirty="0"/>
          </a:p>
          <a:p>
            <a:r>
              <a:rPr lang="en-US" dirty="0"/>
              <a:t>Quick replenishments based on fast selling items. Order blanks in bulk and only reprint fast selling designs, sizes, rather than guessing which one will do best. </a:t>
            </a:r>
          </a:p>
        </p:txBody>
      </p:sp>
      <p:pic>
        <p:nvPicPr>
          <p:cNvPr id="9" name="Picture 8">
            <a:extLst>
              <a:ext uri="{FF2B5EF4-FFF2-40B4-BE49-F238E27FC236}">
                <a16:creationId xmlns:a16="http://schemas.microsoft.com/office/drawing/2014/main" id="{360173B0-CF95-ED44-81D7-5FC6429D1518}"/>
              </a:ext>
            </a:extLst>
          </p:cNvPr>
          <p:cNvPicPr>
            <a:picLocks noChangeAspect="1"/>
          </p:cNvPicPr>
          <p:nvPr/>
        </p:nvPicPr>
        <p:blipFill>
          <a:blip r:embed="rId4"/>
          <a:stretch>
            <a:fillRect/>
          </a:stretch>
        </p:blipFill>
        <p:spPr>
          <a:xfrm>
            <a:off x="6111891" y="2452895"/>
            <a:ext cx="1567839" cy="1610710"/>
          </a:xfrm>
          <a:prstGeom prst="rect">
            <a:avLst/>
          </a:prstGeom>
        </p:spPr>
      </p:pic>
      <p:sp>
        <p:nvSpPr>
          <p:cNvPr id="3" name="TextBox 2">
            <a:extLst>
              <a:ext uri="{FF2B5EF4-FFF2-40B4-BE49-F238E27FC236}">
                <a16:creationId xmlns:a16="http://schemas.microsoft.com/office/drawing/2014/main" id="{CD6A0595-F890-64DD-A52C-194F4F45A07A}"/>
              </a:ext>
            </a:extLst>
          </p:cNvPr>
          <p:cNvSpPr txBox="1"/>
          <p:nvPr/>
        </p:nvSpPr>
        <p:spPr>
          <a:xfrm>
            <a:off x="6128327" y="1617462"/>
            <a:ext cx="1948165" cy="646331"/>
          </a:xfrm>
          <a:prstGeom prst="rect">
            <a:avLst/>
          </a:prstGeom>
          <a:noFill/>
        </p:spPr>
        <p:txBody>
          <a:bodyPr wrap="square">
            <a:spAutoFit/>
          </a:bodyPr>
          <a:lstStyle/>
          <a:p>
            <a:r>
              <a:rPr lang="en-US" b="1" u="sng" kern="0" dirty="0">
                <a:latin typeface="Poppins" pitchFamily="2" charset="77"/>
                <a:cs typeface="Poppins" pitchFamily="2" charset="77"/>
                <a:sym typeface="Century Gothic"/>
              </a:rPr>
              <a:t>Embroidery Machine(s)</a:t>
            </a:r>
            <a:endParaRPr lang="en-US" dirty="0"/>
          </a:p>
        </p:txBody>
      </p:sp>
      <p:sp>
        <p:nvSpPr>
          <p:cNvPr id="6" name="TextBox 5">
            <a:extLst>
              <a:ext uri="{FF2B5EF4-FFF2-40B4-BE49-F238E27FC236}">
                <a16:creationId xmlns:a16="http://schemas.microsoft.com/office/drawing/2014/main" id="{A5D5EFED-7C42-4FEB-EFFD-BE33C193EC6D}"/>
              </a:ext>
            </a:extLst>
          </p:cNvPr>
          <p:cNvSpPr txBox="1"/>
          <p:nvPr/>
        </p:nvSpPr>
        <p:spPr>
          <a:xfrm>
            <a:off x="956932" y="1540517"/>
            <a:ext cx="4336328" cy="3231654"/>
          </a:xfrm>
          <a:prstGeom prst="rect">
            <a:avLst/>
          </a:prstGeom>
          <a:noFill/>
        </p:spPr>
        <p:txBody>
          <a:bodyPr wrap="square" rtlCol="0">
            <a:spAutoFit/>
          </a:bodyPr>
          <a:lstStyle/>
          <a:p>
            <a:r>
              <a:rPr lang="en-US" sz="2400" b="1" u="sng" dirty="0"/>
              <a:t>Warehouse</a:t>
            </a:r>
          </a:p>
          <a:p>
            <a:r>
              <a:rPr lang="en-US" dirty="0"/>
              <a:t>Palm is in it’s second warehouse and had to add some additional storage on the same property in 2023. Lease expires in April 2026 and at capacity. Consolidating spaces and expanding for future growth will be part of 2026 plan.</a:t>
            </a:r>
          </a:p>
          <a:p>
            <a:endParaRPr lang="en-US" dirty="0"/>
          </a:p>
          <a:p>
            <a:r>
              <a:rPr lang="en-US" dirty="0"/>
              <a:t>Current space is approximately 2000 </a:t>
            </a:r>
            <a:r>
              <a:rPr lang="en-US" dirty="0" err="1"/>
              <a:t>sqft</a:t>
            </a:r>
            <a:r>
              <a:rPr lang="en-US" dirty="0"/>
              <a:t>, new space will be around 7000-10,000k </a:t>
            </a:r>
            <a:r>
              <a:rPr lang="en-US" dirty="0" err="1"/>
              <a:t>sqft</a:t>
            </a:r>
            <a:r>
              <a:rPr lang="en-US" dirty="0"/>
              <a:t> along with warehouse equipment. </a:t>
            </a:r>
          </a:p>
        </p:txBody>
      </p:sp>
    </p:spTree>
    <p:extLst>
      <p:ext uri="{BB962C8B-B14F-4D97-AF65-F5344CB8AC3E}">
        <p14:creationId xmlns:p14="http://schemas.microsoft.com/office/powerpoint/2010/main" val="14583002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0">
          <a:extLst>
            <a:ext uri="{FF2B5EF4-FFF2-40B4-BE49-F238E27FC236}">
              <a16:creationId xmlns:a16="http://schemas.microsoft.com/office/drawing/2014/main" id="{92115147-1CC4-F289-C84E-8E06061CE917}"/>
            </a:ext>
          </a:extLst>
        </p:cNvPr>
        <p:cNvGrpSpPr/>
        <p:nvPr/>
      </p:nvGrpSpPr>
      <p:grpSpPr>
        <a:xfrm>
          <a:off x="0" y="0"/>
          <a:ext cx="0" cy="0"/>
          <a:chOff x="0" y="0"/>
          <a:chExt cx="0" cy="0"/>
        </a:xfrm>
      </p:grpSpPr>
      <p:sp>
        <p:nvSpPr>
          <p:cNvPr id="62" name="Google Shape;62;g11b5860b61b_0_64">
            <a:extLst>
              <a:ext uri="{FF2B5EF4-FFF2-40B4-BE49-F238E27FC236}">
                <a16:creationId xmlns:a16="http://schemas.microsoft.com/office/drawing/2014/main" id="{2A1B5C57-D852-EA77-43B6-C38C5E65BB5A}"/>
              </a:ext>
            </a:extLst>
          </p:cNvPr>
          <p:cNvSpPr txBox="1"/>
          <p:nvPr/>
        </p:nvSpPr>
        <p:spPr>
          <a:xfrm>
            <a:off x="618836" y="717484"/>
            <a:ext cx="9133990" cy="2913692"/>
          </a:xfrm>
          <a:prstGeom prst="rect">
            <a:avLst/>
          </a:prstGeom>
          <a:noFill/>
          <a:ln>
            <a:noFill/>
          </a:ln>
        </p:spPr>
        <p:txBody>
          <a:bodyPr spcFirstLastPara="1" wrap="square" lIns="121900" tIns="60933" rIns="121900" bIns="60933" anchor="t" anchorCtr="0">
            <a:spAutoFit/>
          </a:bodyPr>
          <a:lstStyle/>
          <a:p>
            <a:pPr defTabSz="1219170">
              <a:buClr>
                <a:srgbClr val="000000"/>
              </a:buClr>
            </a:pPr>
            <a:r>
              <a:rPr lang="en" sz="4267" b="1" kern="0" dirty="0">
                <a:latin typeface="Poppins" pitchFamily="2" charset="77"/>
                <a:ea typeface="Century Gothic"/>
                <a:cs typeface="Poppins" pitchFamily="2" charset="77"/>
                <a:sym typeface="Century Gothic"/>
              </a:rPr>
              <a:t>Equipment</a:t>
            </a:r>
          </a:p>
          <a:p>
            <a:pPr defTabSz="1219170">
              <a:buClr>
                <a:srgbClr val="000000"/>
              </a:buClr>
            </a:pPr>
            <a:endParaRPr lang="en-US" b="1" u="sng" kern="0" dirty="0">
              <a:latin typeface="Poppins" pitchFamily="2" charset="77"/>
              <a:cs typeface="Poppins" pitchFamily="2" charset="77"/>
              <a:sym typeface="Century Gothic"/>
            </a:endParaRPr>
          </a:p>
          <a:p>
            <a:pPr defTabSz="1219170">
              <a:buClr>
                <a:srgbClr val="000000"/>
              </a:buClr>
            </a:pPr>
            <a:r>
              <a:rPr lang="en-US" b="1" u="sng" kern="0" dirty="0">
                <a:latin typeface="Poppins" pitchFamily="2" charset="77"/>
                <a:cs typeface="Poppins" pitchFamily="2" charset="77"/>
                <a:sym typeface="Century Gothic"/>
              </a:rPr>
              <a:t>Pop-up Palm Shop</a:t>
            </a:r>
          </a:p>
          <a:p>
            <a:pPr defTabSz="1219170">
              <a:buClr>
                <a:srgbClr val="000000"/>
              </a:buClr>
            </a:pPr>
            <a:endParaRPr lang="en-US" b="1" u="sng" kern="0" dirty="0">
              <a:latin typeface="Poppins" pitchFamily="2" charset="77"/>
              <a:cs typeface="Poppins" pitchFamily="2" charset="77"/>
              <a:sym typeface="Century Gothic"/>
            </a:endParaRPr>
          </a:p>
          <a:p>
            <a:pPr defTabSz="1219170">
              <a:buClr>
                <a:srgbClr val="000000"/>
              </a:buClr>
            </a:pPr>
            <a:endParaRPr lang="en" b="1" kern="0" dirty="0">
              <a:latin typeface="Poppins" pitchFamily="2" charset="77"/>
              <a:cs typeface="Poppins" pitchFamily="2" charset="77"/>
              <a:sym typeface="Century Gothic"/>
            </a:endParaRPr>
          </a:p>
          <a:p>
            <a:pPr defTabSz="1219170">
              <a:buClr>
                <a:srgbClr val="000000"/>
              </a:buClr>
            </a:pPr>
            <a:endParaRPr lang="en" sz="4267" b="1" kern="0" dirty="0">
              <a:latin typeface="Poppins" pitchFamily="2" charset="77"/>
              <a:cs typeface="Poppins" pitchFamily="2" charset="77"/>
              <a:sym typeface="Century Gothic"/>
            </a:endParaRPr>
          </a:p>
          <a:p>
            <a:pPr defTabSz="1219170">
              <a:buClr>
                <a:srgbClr val="000000"/>
              </a:buClr>
            </a:pPr>
            <a:endParaRPr sz="2400" kern="0" dirty="0">
              <a:latin typeface="Poppins" pitchFamily="2" charset="77"/>
              <a:cs typeface="Poppins" pitchFamily="2" charset="77"/>
              <a:sym typeface="Arial"/>
            </a:endParaRPr>
          </a:p>
        </p:txBody>
      </p:sp>
      <p:sp>
        <p:nvSpPr>
          <p:cNvPr id="17" name="Rectangle 16">
            <a:extLst>
              <a:ext uri="{FF2B5EF4-FFF2-40B4-BE49-F238E27FC236}">
                <a16:creationId xmlns:a16="http://schemas.microsoft.com/office/drawing/2014/main" id="{15F3EED6-9F28-A25A-9755-011FDB5B19EA}"/>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DE6F53E9-0AC9-5595-94F5-58EEA71B66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40BE437E-31B5-FC92-8CC5-AA1BA7E343CB}"/>
              </a:ext>
            </a:extLst>
          </p:cNvPr>
          <p:cNvSpPr txBox="1"/>
          <p:nvPr/>
        </p:nvSpPr>
        <p:spPr>
          <a:xfrm>
            <a:off x="618836" y="2309091"/>
            <a:ext cx="11018982" cy="646331"/>
          </a:xfrm>
          <a:prstGeom prst="rect">
            <a:avLst/>
          </a:prstGeom>
          <a:noFill/>
        </p:spPr>
        <p:txBody>
          <a:bodyPr wrap="square" rtlCol="0">
            <a:spAutoFit/>
          </a:bodyPr>
          <a:lstStyle/>
          <a:p>
            <a:endParaRPr lang="en-US"/>
          </a:p>
          <a:p>
            <a:endParaRPr lang="en-US"/>
          </a:p>
        </p:txBody>
      </p:sp>
      <p:pic>
        <p:nvPicPr>
          <p:cNvPr id="2" name="Picture 1">
            <a:extLst>
              <a:ext uri="{FF2B5EF4-FFF2-40B4-BE49-F238E27FC236}">
                <a16:creationId xmlns:a16="http://schemas.microsoft.com/office/drawing/2014/main" id="{112F4E60-AD85-6EA2-6E61-6D9530F84832}"/>
              </a:ext>
            </a:extLst>
          </p:cNvPr>
          <p:cNvPicPr>
            <a:picLocks noChangeAspect="1"/>
          </p:cNvPicPr>
          <p:nvPr/>
        </p:nvPicPr>
        <p:blipFill>
          <a:blip r:embed="rId4"/>
          <a:stretch>
            <a:fillRect/>
          </a:stretch>
        </p:blipFill>
        <p:spPr>
          <a:xfrm>
            <a:off x="985024" y="2160606"/>
            <a:ext cx="2908300" cy="1993900"/>
          </a:xfrm>
          <a:prstGeom prst="rect">
            <a:avLst/>
          </a:prstGeom>
        </p:spPr>
      </p:pic>
      <p:pic>
        <p:nvPicPr>
          <p:cNvPr id="3" name="Picture 2">
            <a:extLst>
              <a:ext uri="{FF2B5EF4-FFF2-40B4-BE49-F238E27FC236}">
                <a16:creationId xmlns:a16="http://schemas.microsoft.com/office/drawing/2014/main" id="{467C35FA-7556-F419-D1D9-9E6056FC7ED5}"/>
              </a:ext>
            </a:extLst>
          </p:cNvPr>
          <p:cNvPicPr>
            <a:picLocks noChangeAspect="1"/>
          </p:cNvPicPr>
          <p:nvPr/>
        </p:nvPicPr>
        <p:blipFill>
          <a:blip r:embed="rId5"/>
          <a:stretch>
            <a:fillRect/>
          </a:stretch>
        </p:blipFill>
        <p:spPr>
          <a:xfrm>
            <a:off x="5570872" y="1908356"/>
            <a:ext cx="3416300" cy="2777944"/>
          </a:xfrm>
          <a:prstGeom prst="rect">
            <a:avLst/>
          </a:prstGeom>
        </p:spPr>
      </p:pic>
      <p:sp>
        <p:nvSpPr>
          <p:cNvPr id="4" name="TextBox 3">
            <a:extLst>
              <a:ext uri="{FF2B5EF4-FFF2-40B4-BE49-F238E27FC236}">
                <a16:creationId xmlns:a16="http://schemas.microsoft.com/office/drawing/2014/main" id="{6DBD3974-00D8-D355-6EE3-9A1B4F39AF32}"/>
              </a:ext>
            </a:extLst>
          </p:cNvPr>
          <p:cNvSpPr txBox="1"/>
          <p:nvPr/>
        </p:nvSpPr>
        <p:spPr>
          <a:xfrm>
            <a:off x="1104900" y="4597400"/>
            <a:ext cx="4356100" cy="1477328"/>
          </a:xfrm>
          <a:prstGeom prst="rect">
            <a:avLst/>
          </a:prstGeom>
          <a:noFill/>
        </p:spPr>
        <p:txBody>
          <a:bodyPr wrap="square" rtlCol="0">
            <a:spAutoFit/>
          </a:bodyPr>
          <a:lstStyle/>
          <a:p>
            <a:r>
              <a:rPr lang="en-US" dirty="0"/>
              <a:t>There are 30-40 in-person opportunities within driving distance every year for us to provide presence. Annual opportunity is between $150k-$200k per year in retail revenue within first 2 years.</a:t>
            </a:r>
          </a:p>
        </p:txBody>
      </p:sp>
      <p:sp>
        <p:nvSpPr>
          <p:cNvPr id="6" name="TextBox 5">
            <a:extLst>
              <a:ext uri="{FF2B5EF4-FFF2-40B4-BE49-F238E27FC236}">
                <a16:creationId xmlns:a16="http://schemas.microsoft.com/office/drawing/2014/main" id="{56F4DBF9-A79B-6E97-92A5-AF83ADED9A97}"/>
              </a:ext>
            </a:extLst>
          </p:cNvPr>
          <p:cNvSpPr txBox="1"/>
          <p:nvPr/>
        </p:nvSpPr>
        <p:spPr>
          <a:xfrm>
            <a:off x="6291118" y="5087035"/>
            <a:ext cx="4356100" cy="1200329"/>
          </a:xfrm>
          <a:prstGeom prst="rect">
            <a:avLst/>
          </a:prstGeom>
          <a:noFill/>
        </p:spPr>
        <p:txBody>
          <a:bodyPr wrap="square" rtlCol="0">
            <a:spAutoFit/>
          </a:bodyPr>
          <a:lstStyle/>
          <a:p>
            <a:r>
              <a:rPr lang="en-US" dirty="0"/>
              <a:t>Roughly $100k investment which will be recouped within first 18 months in gross profit not including branding value. See </a:t>
            </a:r>
            <a:r>
              <a:rPr lang="en-US" b="1" dirty="0"/>
              <a:t>Retail</a:t>
            </a:r>
            <a:r>
              <a:rPr lang="en-US" dirty="0"/>
              <a:t> plan for specifics. </a:t>
            </a:r>
          </a:p>
        </p:txBody>
      </p:sp>
    </p:spTree>
    <p:extLst>
      <p:ext uri="{BB962C8B-B14F-4D97-AF65-F5344CB8AC3E}">
        <p14:creationId xmlns:p14="http://schemas.microsoft.com/office/powerpoint/2010/main" val="40854503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0"/>
        <p:cNvGrpSpPr/>
        <p:nvPr/>
      </p:nvGrpSpPr>
      <p:grpSpPr>
        <a:xfrm>
          <a:off x="0" y="0"/>
          <a:ext cx="0" cy="0"/>
          <a:chOff x="0" y="0"/>
          <a:chExt cx="0" cy="0"/>
        </a:xfrm>
      </p:grpSpPr>
      <p:sp>
        <p:nvSpPr>
          <p:cNvPr id="17" name="Rectangle 16">
            <a:extLst>
              <a:ext uri="{FF2B5EF4-FFF2-40B4-BE49-F238E27FC236}">
                <a16:creationId xmlns:a16="http://schemas.microsoft.com/office/drawing/2014/main" id="{292FF896-6919-F945-A068-01E14A9258C5}"/>
              </a:ext>
            </a:extLst>
          </p:cNvPr>
          <p:cNvSpPr/>
          <p:nvPr/>
        </p:nvSpPr>
        <p:spPr>
          <a:xfrm>
            <a:off x="0" y="-11430"/>
            <a:ext cx="12192000" cy="388620"/>
          </a:xfrm>
          <a:prstGeom prst="rect">
            <a:avLst/>
          </a:prstGeom>
          <a:solidFill>
            <a:srgbClr val="28282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Poppins" pitchFamily="2" charset="77"/>
              <a:cs typeface="Poppins" pitchFamily="2" charset="77"/>
            </a:endParaRPr>
          </a:p>
        </p:txBody>
      </p:sp>
      <p:pic>
        <p:nvPicPr>
          <p:cNvPr id="18" name="Picture 2" descr="Palm Golf Co. Logo">
            <a:extLst>
              <a:ext uri="{FF2B5EF4-FFF2-40B4-BE49-F238E27FC236}">
                <a16:creationId xmlns:a16="http://schemas.microsoft.com/office/drawing/2014/main" id="{44BA01E6-2549-984C-891A-2FF8DE67E9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64852" y="34290"/>
            <a:ext cx="1097072" cy="331887"/>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ABFD0B65-59DD-7748-8AAC-428F4C39A6F4}"/>
              </a:ext>
            </a:extLst>
          </p:cNvPr>
          <p:cNvSpPr txBox="1"/>
          <p:nvPr/>
        </p:nvSpPr>
        <p:spPr>
          <a:xfrm>
            <a:off x="1077471" y="3067165"/>
            <a:ext cx="4068020" cy="830997"/>
          </a:xfrm>
          <a:prstGeom prst="rect">
            <a:avLst/>
          </a:prstGeom>
          <a:noFill/>
        </p:spPr>
        <p:txBody>
          <a:bodyPr wrap="square" lIns="91440" tIns="45720" rIns="91440" bIns="45720" rtlCol="0" anchor="t">
            <a:spAutoFit/>
          </a:bodyPr>
          <a:lstStyle/>
          <a:p>
            <a:r>
              <a:rPr lang="en-US" sz="4800" b="1" dirty="0">
                <a:solidFill>
                  <a:srgbClr val="282828"/>
                </a:solidFill>
                <a:latin typeface="Montserrat" pitchFamily="2" charset="77"/>
                <a:cs typeface="Poppins"/>
              </a:rPr>
              <a:t>Next steps. </a:t>
            </a:r>
            <a:endParaRPr lang="en-US" sz="4800" b="1" dirty="0">
              <a:solidFill>
                <a:srgbClr val="282828"/>
              </a:solidFill>
              <a:latin typeface="Montserrat" pitchFamily="2" charset="77"/>
              <a:cs typeface="Poppins" pitchFamily="2" charset="77"/>
            </a:endParaRPr>
          </a:p>
        </p:txBody>
      </p:sp>
      <p:sp>
        <p:nvSpPr>
          <p:cNvPr id="4" name="TextBox 3">
            <a:extLst>
              <a:ext uri="{FF2B5EF4-FFF2-40B4-BE49-F238E27FC236}">
                <a16:creationId xmlns:a16="http://schemas.microsoft.com/office/drawing/2014/main" id="{628D33FE-A84A-B94E-8BFB-89135390B974}"/>
              </a:ext>
            </a:extLst>
          </p:cNvPr>
          <p:cNvSpPr txBox="1"/>
          <p:nvPr/>
        </p:nvSpPr>
        <p:spPr>
          <a:xfrm>
            <a:off x="5898124" y="3067165"/>
            <a:ext cx="5216406" cy="1477328"/>
          </a:xfrm>
          <a:prstGeom prst="rect">
            <a:avLst/>
          </a:prstGeom>
          <a:noFill/>
        </p:spPr>
        <p:txBody>
          <a:bodyPr wrap="square" lIns="91440" tIns="45720" rIns="91440" bIns="45720" rtlCol="0" anchor="t">
            <a:spAutoFit/>
          </a:bodyPr>
          <a:lstStyle/>
          <a:p>
            <a:r>
              <a:rPr lang="en-US" dirty="0">
                <a:solidFill>
                  <a:srgbClr val="282828"/>
                </a:solidFill>
                <a:latin typeface="Poppins" pitchFamily="2" charset="77"/>
                <a:cs typeface="Poppins" pitchFamily="2" charset="77"/>
              </a:rPr>
              <a:t>Additional Information by request</a:t>
            </a:r>
          </a:p>
          <a:p>
            <a:r>
              <a:rPr lang="en-US" dirty="0">
                <a:solidFill>
                  <a:srgbClr val="282828"/>
                </a:solidFill>
                <a:latin typeface="Poppins" pitchFamily="2" charset="77"/>
                <a:cs typeface="Poppins" pitchFamily="2" charset="77"/>
              </a:rPr>
              <a:t>Meeting with stakeholders</a:t>
            </a:r>
          </a:p>
          <a:p>
            <a:r>
              <a:rPr lang="en-US" dirty="0">
                <a:solidFill>
                  <a:srgbClr val="282828"/>
                </a:solidFill>
                <a:latin typeface="Poppins" pitchFamily="2" charset="77"/>
                <a:cs typeface="Poppins" pitchFamily="2" charset="77"/>
              </a:rPr>
              <a:t>Decision point 11/30 (estimate).</a:t>
            </a:r>
          </a:p>
          <a:p>
            <a:endParaRPr lang="en-US" dirty="0">
              <a:solidFill>
                <a:srgbClr val="282828"/>
              </a:solidFill>
              <a:latin typeface="Poppins" pitchFamily="2" charset="77"/>
              <a:cs typeface="Poppins" pitchFamily="2" charset="77"/>
            </a:endParaRPr>
          </a:p>
          <a:p>
            <a:endParaRPr lang="en-US" dirty="0">
              <a:solidFill>
                <a:srgbClr val="282828"/>
              </a:solidFill>
              <a:latin typeface="Poppins" pitchFamily="2" charset="77"/>
              <a:cs typeface="Poppins" pitchFamily="2" charset="77"/>
            </a:endParaRPr>
          </a:p>
        </p:txBody>
      </p:sp>
    </p:spTree>
    <p:extLst>
      <p:ext uri="{BB962C8B-B14F-4D97-AF65-F5344CB8AC3E}">
        <p14:creationId xmlns:p14="http://schemas.microsoft.com/office/powerpoint/2010/main" val="12066382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8"/>
          <p:cNvSpPr/>
          <p:nvPr/>
        </p:nvSpPr>
        <p:spPr>
          <a:xfrm>
            <a:off x="0" y="5058136"/>
            <a:ext cx="12192000" cy="1799863"/>
          </a:xfrm>
          <a:prstGeom prst="rect">
            <a:avLst/>
          </a:prstGeom>
          <a:solidFill>
            <a:srgbClr val="282828"/>
          </a:solidFill>
          <a:ln w="12700" cap="flat" cmpd="sng">
            <a:solidFill>
              <a:srgbClr val="054165"/>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FFFFFF"/>
              </a:buClr>
              <a:buSzPts val="1800"/>
              <a:buFont typeface="Century Gothic"/>
              <a:buNone/>
              <a:tabLst/>
              <a:defRPr/>
            </a:pPr>
            <a:endParaRPr kumimoji="0" sz="1800" b="0" i="0" u="none" strike="noStrike" kern="0" cap="none" spc="0" normalizeH="0" baseline="0" noProof="0">
              <a:ln>
                <a:noFill/>
              </a:ln>
              <a:solidFill>
                <a:srgbClr val="FFFFFF"/>
              </a:solidFill>
              <a:effectLst/>
              <a:uLnTx/>
              <a:uFillTx/>
              <a:latin typeface="Poppins" pitchFamily="2" charset="77"/>
              <a:ea typeface="Century Gothic"/>
              <a:cs typeface="Poppins" pitchFamily="2" charset="77"/>
              <a:sym typeface="Century Gothic"/>
            </a:endParaRPr>
          </a:p>
        </p:txBody>
      </p:sp>
      <p:pic>
        <p:nvPicPr>
          <p:cNvPr id="8" name="Picture 2" descr="Palm Golf Co. Logo">
            <a:extLst>
              <a:ext uri="{FF2B5EF4-FFF2-40B4-BE49-F238E27FC236}">
                <a16:creationId xmlns:a16="http://schemas.microsoft.com/office/drawing/2014/main" id="{A8B8DA77-991E-3C44-AF0F-A970738181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5547" y="5560742"/>
            <a:ext cx="2720905" cy="82313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DDB5498-29F1-7547-AD2A-ED19C731E583}"/>
              </a:ext>
            </a:extLst>
          </p:cNvPr>
          <p:cNvSpPr txBox="1"/>
          <p:nvPr/>
        </p:nvSpPr>
        <p:spPr>
          <a:xfrm>
            <a:off x="2172302" y="1998447"/>
            <a:ext cx="7847394" cy="1569660"/>
          </a:xfrm>
          <a:prstGeom prst="rect">
            <a:avLst/>
          </a:prstGeom>
          <a:noFill/>
        </p:spPr>
        <p:txBody>
          <a:bodyPr wrap="square" lIns="91440" tIns="45720" rIns="91440" bIns="45720" rtlCol="0" anchor="t">
            <a:spAutoFit/>
          </a:bodyPr>
          <a:lstStyle/>
          <a:p>
            <a:pPr algn="ctr"/>
            <a:r>
              <a:rPr lang="en-US" sz="9600" b="1" dirty="0">
                <a:solidFill>
                  <a:srgbClr val="282828"/>
                </a:solidFill>
                <a:latin typeface="Montserrat" pitchFamily="2" charset="77"/>
                <a:cs typeface="Poppins"/>
              </a:rPr>
              <a:t>Thank you. </a:t>
            </a:r>
            <a:endParaRPr lang="en-US" sz="9600" b="1" dirty="0">
              <a:solidFill>
                <a:srgbClr val="282828"/>
              </a:solidFill>
              <a:latin typeface="Montserrat" pitchFamily="2" charset="77"/>
              <a:cs typeface="Poppins" pitchFamily="2" charset="77"/>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25299</TotalTime>
  <Words>3320</Words>
  <Application>Microsoft Macintosh PowerPoint</Application>
  <PresentationFormat>Widescreen</PresentationFormat>
  <Paragraphs>422</Paragraphs>
  <Slides>31</Slides>
  <Notes>23</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31</vt:i4>
      </vt:variant>
    </vt:vector>
  </HeadingPairs>
  <TitlesOfParts>
    <vt:vector size="43" baseType="lpstr">
      <vt:lpstr>Aptos</vt:lpstr>
      <vt:lpstr>Arial</vt:lpstr>
      <vt:lpstr>Calibri</vt:lpstr>
      <vt:lpstr>Calibri Light</vt:lpstr>
      <vt:lpstr>Century Gothic</vt:lpstr>
      <vt:lpstr>Courier New</vt:lpstr>
      <vt:lpstr>Futura Medium</vt:lpstr>
      <vt:lpstr>Helvetica Neue</vt:lpstr>
      <vt:lpstr>Montserrat</vt:lpstr>
      <vt:lpstr>Poppins</vt:lpstr>
      <vt:lpstr>Times New Roman</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Craig Ungaro</dc:creator>
  <cp:lastModifiedBy>Craig Ungaro</cp:lastModifiedBy>
  <cp:revision>8</cp:revision>
  <dcterms:created xsi:type="dcterms:W3CDTF">2024-10-24T17:09:23Z</dcterms:created>
  <dcterms:modified xsi:type="dcterms:W3CDTF">2025-07-23T14:13:08Z</dcterms:modified>
</cp:coreProperties>
</file>