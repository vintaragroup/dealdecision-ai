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35"/>
  </p:notesMasterIdLst>
  <p:sldIdLst>
    <p:sldId id="302" r:id="rId3"/>
    <p:sldId id="435" r:id="rId4"/>
    <p:sldId id="424" r:id="rId5"/>
    <p:sldId id="425" r:id="rId6"/>
    <p:sldId id="266" r:id="rId7"/>
    <p:sldId id="264" r:id="rId8"/>
    <p:sldId id="412" r:id="rId9"/>
    <p:sldId id="414" r:id="rId10"/>
    <p:sldId id="431" r:id="rId11"/>
    <p:sldId id="430" r:id="rId12"/>
    <p:sldId id="432" r:id="rId13"/>
    <p:sldId id="434" r:id="rId14"/>
    <p:sldId id="433" r:id="rId15"/>
    <p:sldId id="375" r:id="rId16"/>
    <p:sldId id="415" r:id="rId17"/>
    <p:sldId id="377" r:id="rId18"/>
    <p:sldId id="426" r:id="rId19"/>
    <p:sldId id="405" r:id="rId20"/>
    <p:sldId id="408" r:id="rId21"/>
    <p:sldId id="427" r:id="rId22"/>
    <p:sldId id="423" r:id="rId23"/>
    <p:sldId id="411" r:id="rId24"/>
    <p:sldId id="410" r:id="rId25"/>
    <p:sldId id="409" r:id="rId26"/>
    <p:sldId id="385" r:id="rId27"/>
    <p:sldId id="406" r:id="rId28"/>
    <p:sldId id="287" r:id="rId29"/>
    <p:sldId id="428" r:id="rId30"/>
    <p:sldId id="429" r:id="rId31"/>
    <p:sldId id="365" r:id="rId32"/>
    <p:sldId id="436" r:id="rId33"/>
    <p:sldId id="43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7E810D-31E6-48ED-AE4D-FE72A7AA7254}" v="18" dt="2021-11-16T19:37:50.6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16" autoAdjust="0"/>
    <p:restoredTop sz="94660"/>
  </p:normalViewPr>
  <p:slideViewPr>
    <p:cSldViewPr snapToGrid="0">
      <p:cViewPr varScale="1">
        <p:scale>
          <a:sx n="70" d="100"/>
          <a:sy n="70" d="100"/>
        </p:scale>
        <p:origin x="1286" y="422"/>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C1A641-0CCA-43D2-8151-2048BD70B762}" type="datetimeFigureOut">
              <a:rPr lang="en-US" smtClean="0"/>
              <a:t>8/14/2025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73760A-C281-45A6-B279-ED8D8797D6A3}" type="slidenum">
              <a:rPr lang="en-US" smtClean="0"/>
              <a:t>‹#›</a:t>
            </a:fld>
            <a:endParaRPr lang="en-US"/>
          </a:p>
        </p:txBody>
      </p:sp>
    </p:spTree>
    <p:extLst>
      <p:ext uri="{BB962C8B-B14F-4D97-AF65-F5344CB8AC3E}">
        <p14:creationId xmlns:p14="http://schemas.microsoft.com/office/powerpoint/2010/main" val="103613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F2C5391D-423E-49FB-9123-BD7AA2B9C2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E3AAB16-99A3-431A-898D-9A2D34EDE76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19" name="Rectangle 2">
            <a:extLst>
              <a:ext uri="{FF2B5EF4-FFF2-40B4-BE49-F238E27FC236}">
                <a16:creationId xmlns:a16="http://schemas.microsoft.com/office/drawing/2014/main" id="{A468E719-CAA1-49AB-AF35-2AB7D6AE9C2A}"/>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C573B845-38B7-4D8A-9E14-C759FE5DC5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OPENING SLIDE </a:t>
            </a:r>
          </a:p>
        </p:txBody>
      </p:sp>
    </p:spTree>
    <p:extLst>
      <p:ext uri="{BB962C8B-B14F-4D97-AF65-F5344CB8AC3E}">
        <p14:creationId xmlns:p14="http://schemas.microsoft.com/office/powerpoint/2010/main" val="941875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FC71106A-894E-419D-8D57-AF9FD248B6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62D2352-33A8-450F-B4C5-A6AF7E54A52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267" name="Rectangle 2">
            <a:extLst>
              <a:ext uri="{FF2B5EF4-FFF2-40B4-BE49-F238E27FC236}">
                <a16:creationId xmlns:a16="http://schemas.microsoft.com/office/drawing/2014/main" id="{F845C45E-97CD-420D-AEE1-CA0F88D9266B}"/>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39C736F5-121E-4CB9-8BDD-D70789ADCE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066117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AB1B7749-CB6C-4785-AA18-8284394B5F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3D20E9-35A0-4E8A-80DC-F8CBB8A9E50E}"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4339" name="Rectangle 2">
            <a:extLst>
              <a:ext uri="{FF2B5EF4-FFF2-40B4-BE49-F238E27FC236}">
                <a16:creationId xmlns:a16="http://schemas.microsoft.com/office/drawing/2014/main" id="{AF38D9F1-0E0F-4E51-A41D-5BC738BB21B2}"/>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E5C32C77-D224-469C-AF1B-25FB7C5E91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678960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3ABAF342-C654-4A0D-BDDE-03BD80569E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13B5D3F-9864-4F94-8DC5-360F0C38019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459" name="Rectangle 2">
            <a:extLst>
              <a:ext uri="{FF2B5EF4-FFF2-40B4-BE49-F238E27FC236}">
                <a16:creationId xmlns:a16="http://schemas.microsoft.com/office/drawing/2014/main" id="{B81AF54F-DF36-497A-9474-F82B3427D45C}"/>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129A3EAB-2CF8-46E1-8636-C9D43DECF8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059619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47C66659-E358-4419-91BB-F020665824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7EE71EC-3662-44F9-BE35-C18B6219AB2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6387" name="Rectangle 2">
            <a:extLst>
              <a:ext uri="{FF2B5EF4-FFF2-40B4-BE49-F238E27FC236}">
                <a16:creationId xmlns:a16="http://schemas.microsoft.com/office/drawing/2014/main" id="{FB1731D7-032E-4FF8-A871-2C394D944C9B}"/>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762AF6B5-ADD3-4C1E-BA30-9BAF0AA3DB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738599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F2C5391D-423E-49FB-9123-BD7AA2B9C2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E3AAB16-99A3-431A-898D-9A2D34EDE76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19" name="Rectangle 2">
            <a:extLst>
              <a:ext uri="{FF2B5EF4-FFF2-40B4-BE49-F238E27FC236}">
                <a16:creationId xmlns:a16="http://schemas.microsoft.com/office/drawing/2014/main" id="{A468E719-CAA1-49AB-AF35-2AB7D6AE9C2A}"/>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C573B845-38B7-4D8A-9E14-C759FE5DC5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OPENING SLIDE </a:t>
            </a:r>
          </a:p>
        </p:txBody>
      </p:sp>
    </p:spTree>
    <p:extLst>
      <p:ext uri="{BB962C8B-B14F-4D97-AF65-F5344CB8AC3E}">
        <p14:creationId xmlns:p14="http://schemas.microsoft.com/office/powerpoint/2010/main" val="3567438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FC71106A-894E-419D-8D57-AF9FD248B6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62D2352-33A8-450F-B4C5-A6AF7E54A52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267" name="Rectangle 2">
            <a:extLst>
              <a:ext uri="{FF2B5EF4-FFF2-40B4-BE49-F238E27FC236}">
                <a16:creationId xmlns:a16="http://schemas.microsoft.com/office/drawing/2014/main" id="{F845C45E-97CD-420D-AEE1-CA0F88D9266B}"/>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39C736F5-121E-4CB9-8BDD-D70789ADCE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819491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FC71106A-894E-419D-8D57-AF9FD248B6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62D2352-33A8-450F-B4C5-A6AF7E54A52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267" name="Rectangle 2">
            <a:extLst>
              <a:ext uri="{FF2B5EF4-FFF2-40B4-BE49-F238E27FC236}">
                <a16:creationId xmlns:a16="http://schemas.microsoft.com/office/drawing/2014/main" id="{F845C45E-97CD-420D-AEE1-CA0F88D9266B}"/>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39C736F5-121E-4CB9-8BDD-D70789ADCE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173425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FC71106A-894E-419D-8D57-AF9FD248B6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62D2352-33A8-450F-B4C5-A6AF7E54A52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267" name="Rectangle 2">
            <a:extLst>
              <a:ext uri="{FF2B5EF4-FFF2-40B4-BE49-F238E27FC236}">
                <a16:creationId xmlns:a16="http://schemas.microsoft.com/office/drawing/2014/main" id="{F845C45E-97CD-420D-AEE1-CA0F88D9266B}"/>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39C736F5-121E-4CB9-8BDD-D70789ADCE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746011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FC71106A-894E-419D-8D57-AF9FD248B6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62D2352-33A8-450F-B4C5-A6AF7E54A52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267" name="Rectangle 2">
            <a:extLst>
              <a:ext uri="{FF2B5EF4-FFF2-40B4-BE49-F238E27FC236}">
                <a16:creationId xmlns:a16="http://schemas.microsoft.com/office/drawing/2014/main" id="{F845C45E-97CD-420D-AEE1-CA0F88D9266B}"/>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39C736F5-121E-4CB9-8BDD-D70789ADCE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287989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FC71106A-894E-419D-8D57-AF9FD248B6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62D2352-33A8-450F-B4C5-A6AF7E54A52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267" name="Rectangle 2">
            <a:extLst>
              <a:ext uri="{FF2B5EF4-FFF2-40B4-BE49-F238E27FC236}">
                <a16:creationId xmlns:a16="http://schemas.microsoft.com/office/drawing/2014/main" id="{F845C45E-97CD-420D-AEE1-CA0F88D9266B}"/>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39C736F5-121E-4CB9-8BDD-D70789ADCE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078895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57BE10F6-3A02-4D24-8D8A-E9D3EC9B56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AA0FB1D-07B4-49B4-9BFE-CA8EA67B972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8675" name="Rectangle 2">
            <a:extLst>
              <a:ext uri="{FF2B5EF4-FFF2-40B4-BE49-F238E27FC236}">
                <a16:creationId xmlns:a16="http://schemas.microsoft.com/office/drawing/2014/main" id="{FA927E7A-654F-4F7A-B9F3-826CEA0A064D}"/>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76A91C3C-D80E-4D5D-BCC3-E52F0CD0CA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829711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1246D7C3-401B-4048-9FE7-00D94727C7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F207FAD-5028-4A25-B494-43742E85505B}"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23" name="Rectangle 2">
            <a:extLst>
              <a:ext uri="{FF2B5EF4-FFF2-40B4-BE49-F238E27FC236}">
                <a16:creationId xmlns:a16="http://schemas.microsoft.com/office/drawing/2014/main" id="{7EDC7A1A-FD63-49B9-9118-9AED8F4B6AD7}"/>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111EC289-297D-4744-AE2A-505851102B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792985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73C2A93D-DA66-49C7-98BB-F39BAF4F7B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18DF347-E665-43F8-A7DF-1A88C955176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771" name="Rectangle 2">
            <a:extLst>
              <a:ext uri="{FF2B5EF4-FFF2-40B4-BE49-F238E27FC236}">
                <a16:creationId xmlns:a16="http://schemas.microsoft.com/office/drawing/2014/main" id="{A27AF383-03CC-4252-A456-91C19A659D61}"/>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6F9F16DF-7C47-4748-93C3-F165BFD571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441761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5C374F1A-0A40-443B-A9AA-D87AA1A9C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6CCCEAD-189E-40E8-84CD-F5EB258192CE}"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4819" name="Rectangle 2">
            <a:extLst>
              <a:ext uri="{FF2B5EF4-FFF2-40B4-BE49-F238E27FC236}">
                <a16:creationId xmlns:a16="http://schemas.microsoft.com/office/drawing/2014/main" id="{32106417-2936-4148-884E-96C3F87C4A45}"/>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8F433EB9-624A-46BE-9200-846F4711DB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684725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58346E1A-38B0-4726-ABF1-26EF00FF37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2AA07BF-9384-4FCF-AAD4-396CCB8420A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6867" name="Rectangle 2">
            <a:extLst>
              <a:ext uri="{FF2B5EF4-FFF2-40B4-BE49-F238E27FC236}">
                <a16:creationId xmlns:a16="http://schemas.microsoft.com/office/drawing/2014/main" id="{981F6B0E-8F4C-48BF-B765-20C25D969C11}"/>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ACECA648-AE77-469A-A256-A9E7B3E7CD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067240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61A6A7AA-A9C9-4D28-A99E-1F4AF28F40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7720D85-FD96-4BBF-AC9D-E29CFF8CBE9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8915" name="Rectangle 2">
            <a:extLst>
              <a:ext uri="{FF2B5EF4-FFF2-40B4-BE49-F238E27FC236}">
                <a16:creationId xmlns:a16="http://schemas.microsoft.com/office/drawing/2014/main" id="{A17E551C-0CDB-41E4-87B9-78233322FF4F}"/>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BA672CEF-CACC-4585-89B4-BE85DF3129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413027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B6191EF1-EA4D-4A5E-BF72-C03B3582DE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70ADE8C-8FE7-44B3-8259-813BBE040D3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0963" name="Rectangle 2">
            <a:extLst>
              <a:ext uri="{FF2B5EF4-FFF2-40B4-BE49-F238E27FC236}">
                <a16:creationId xmlns:a16="http://schemas.microsoft.com/office/drawing/2014/main" id="{3C7D08C1-6E99-4D61-86DD-D809637F405C}"/>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5F5FB0A5-BEDE-4800-AC69-7A9E7FD0C1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251564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9C81256-11BF-4C26-8C48-F2DF4F063A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2FC25BD-6B4D-494C-8E5B-5FC7FC12700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3011" name="Rectangle 2">
            <a:extLst>
              <a:ext uri="{FF2B5EF4-FFF2-40B4-BE49-F238E27FC236}">
                <a16:creationId xmlns:a16="http://schemas.microsoft.com/office/drawing/2014/main" id="{0A2D7300-6D5E-4822-BAF4-4DAEA1E3AFD3}"/>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F26A1BBE-B7C7-42EA-B67B-0302646607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8566898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EDBAA47B-FD1D-4060-9B6D-BFC0EFC38C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4B7490F-491D-42AE-96AD-A329ACE77A5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5059" name="Rectangle 2">
            <a:extLst>
              <a:ext uri="{FF2B5EF4-FFF2-40B4-BE49-F238E27FC236}">
                <a16:creationId xmlns:a16="http://schemas.microsoft.com/office/drawing/2014/main" id="{2D8BE1E4-6F9E-4E33-8626-2262AE7FBC0D}"/>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60B9A9B1-EA32-4136-B53E-6874666DF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4504758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58C09EC6-56FE-4B6A-85AC-B467076F09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89EDDB2-85BB-42DB-9B8E-3615014DCBDE}"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7107" name="Rectangle 2">
            <a:extLst>
              <a:ext uri="{FF2B5EF4-FFF2-40B4-BE49-F238E27FC236}">
                <a16:creationId xmlns:a16="http://schemas.microsoft.com/office/drawing/2014/main" id="{4041D522-A7BE-46F2-94C2-1D0ED71F6A4D}"/>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81932B3A-9BF8-41B7-A572-BBBAF0A533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125482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D9DD3D4F-C8AF-443E-B116-FD68FEA462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740E689-8EDB-43F2-A2BC-91F91D702357}"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9155" name="Rectangle 2">
            <a:extLst>
              <a:ext uri="{FF2B5EF4-FFF2-40B4-BE49-F238E27FC236}">
                <a16:creationId xmlns:a16="http://schemas.microsoft.com/office/drawing/2014/main" id="{FED1F30E-7864-4C6B-9EC6-C9EED9C90FC9}"/>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C4F6E5E5-61EE-4D46-991C-DDF3CAB2D2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1898386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800EBB3A-DAD9-4329-922F-76E98DBEEF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6D3AA59-745E-430F-A45D-529AB1A1A472}"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1203" name="Rectangle 2">
            <a:extLst>
              <a:ext uri="{FF2B5EF4-FFF2-40B4-BE49-F238E27FC236}">
                <a16:creationId xmlns:a16="http://schemas.microsoft.com/office/drawing/2014/main" id="{3361B227-2533-4C29-9973-A24BC63AD3A5}"/>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D3703E58-D6F0-4751-A6E4-13B340CD85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8736188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C39EEB6-12EC-42E8-BC68-69B404FDC1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DC8549C-1456-4F8E-8C17-7074D18B4FB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7347" name="Rectangle 2">
            <a:extLst>
              <a:ext uri="{FF2B5EF4-FFF2-40B4-BE49-F238E27FC236}">
                <a16:creationId xmlns:a16="http://schemas.microsoft.com/office/drawing/2014/main" id="{70DB4807-60F1-49CF-8566-5BEEA6AEA808}"/>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1BA259D-7CA3-4C1C-9F8F-0DBC649AE6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992525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C39EEB6-12EC-42E8-BC68-69B404FDC1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DC8549C-1456-4F8E-8C17-7074D18B4FB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7347" name="Rectangle 2">
            <a:extLst>
              <a:ext uri="{FF2B5EF4-FFF2-40B4-BE49-F238E27FC236}">
                <a16:creationId xmlns:a16="http://schemas.microsoft.com/office/drawing/2014/main" id="{70DB4807-60F1-49CF-8566-5BEEA6AEA808}"/>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1BA259D-7CA3-4C1C-9F8F-0DBC649AE6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4366006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C39EEB6-12EC-42E8-BC68-69B404FDC1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DC8549C-1456-4F8E-8C17-7074D18B4FB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7347" name="Rectangle 2">
            <a:extLst>
              <a:ext uri="{FF2B5EF4-FFF2-40B4-BE49-F238E27FC236}">
                <a16:creationId xmlns:a16="http://schemas.microsoft.com/office/drawing/2014/main" id="{70DB4807-60F1-49CF-8566-5BEEA6AEA808}"/>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1BA259D-7CA3-4C1C-9F8F-0DBC649AE6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174566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FA41857E-5187-40B4-A941-73848519C5AF}"/>
              </a:ext>
            </a:extLst>
          </p:cNvPr>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9">
            <a:extLst>
              <a:ext uri="{FF2B5EF4-FFF2-40B4-BE49-F238E27FC236}">
                <a16:creationId xmlns:a16="http://schemas.microsoft.com/office/drawing/2014/main" id="{B7A27411-3274-48B8-9EDA-CBA596E09EDE}"/>
              </a:ext>
            </a:extLst>
          </p:cNvPr>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a:solidFill>
                  <a:srgbClr val="000000"/>
                </a:solidFill>
              </a:rPr>
              <a:t>ToxyScreen</a:t>
            </a:r>
          </a:p>
        </p:txBody>
      </p:sp>
      <p:sp>
        <p:nvSpPr>
          <p:cNvPr id="6" name="Rectangle 10">
            <a:extLst>
              <a:ext uri="{FF2B5EF4-FFF2-40B4-BE49-F238E27FC236}">
                <a16:creationId xmlns:a16="http://schemas.microsoft.com/office/drawing/2014/main" id="{D5610B09-4505-4CC1-8CFA-02248640DD4A}"/>
              </a:ext>
            </a:extLst>
          </p:cNvPr>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8E4FB6E1-21A5-4F34-A386-038BEDE38953}"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2866376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260352" y="228600"/>
            <a:ext cx="1111884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8">
            <a:extLst>
              <a:ext uri="{FF2B5EF4-FFF2-40B4-BE49-F238E27FC236}">
                <a16:creationId xmlns:a16="http://schemas.microsoft.com/office/drawing/2014/main" id="{18F5C412-A0FF-4293-AC14-47D7224B5C82}"/>
              </a:ext>
            </a:extLst>
          </p:cNvPr>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9">
            <a:extLst>
              <a:ext uri="{FF2B5EF4-FFF2-40B4-BE49-F238E27FC236}">
                <a16:creationId xmlns:a16="http://schemas.microsoft.com/office/drawing/2014/main" id="{BFE25F51-DA46-4D17-9E00-379DC9D2968C}"/>
              </a:ext>
            </a:extLst>
          </p:cNvPr>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a:solidFill>
                  <a:srgbClr val="000000"/>
                </a:solidFill>
              </a:rPr>
              <a:t>ToxyScreen</a:t>
            </a:r>
          </a:p>
        </p:txBody>
      </p:sp>
      <p:sp>
        <p:nvSpPr>
          <p:cNvPr id="5" name="Rectangle 10">
            <a:extLst>
              <a:ext uri="{FF2B5EF4-FFF2-40B4-BE49-F238E27FC236}">
                <a16:creationId xmlns:a16="http://schemas.microsoft.com/office/drawing/2014/main" id="{C85EE3F0-5214-4415-9B21-F24761FF24FF}"/>
              </a:ext>
            </a:extLst>
          </p:cNvPr>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0284B774-46F2-4511-90D3-1B6C7599359A}"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4101842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E8E1055D-4445-45C1-963A-8FA28E84DB9E}"/>
              </a:ext>
            </a:extLst>
          </p:cNvPr>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5">
            <a:extLst>
              <a:ext uri="{FF2B5EF4-FFF2-40B4-BE49-F238E27FC236}">
                <a16:creationId xmlns:a16="http://schemas.microsoft.com/office/drawing/2014/main" id="{1682DDD9-9656-4DEC-A063-F12319D1BADB}"/>
              </a:ext>
            </a:extLst>
          </p:cNvPr>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a:solidFill>
                  <a:srgbClr val="000000"/>
                </a:solidFill>
              </a:rPr>
              <a:t>ToxyScreen</a:t>
            </a:r>
          </a:p>
        </p:txBody>
      </p:sp>
      <p:sp>
        <p:nvSpPr>
          <p:cNvPr id="8" name="Rectangle 6">
            <a:extLst>
              <a:ext uri="{FF2B5EF4-FFF2-40B4-BE49-F238E27FC236}">
                <a16:creationId xmlns:a16="http://schemas.microsoft.com/office/drawing/2014/main" id="{012A1AC3-2BA7-467E-9A3C-FA9F657C92D2}"/>
              </a:ext>
            </a:extLst>
          </p:cNvPr>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FB6D5989-6F46-4C88-8490-204EFE09EE23}" type="slidenum">
              <a:rPr lang="en-US" altLang="en-US" smtClean="0">
                <a:solidFill>
                  <a:srgbClr val="000000"/>
                </a:solidFill>
              </a:rPr>
              <a:pPr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5096394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225F7D20-0515-4F16-BC1A-C1045E8B730D}"/>
              </a:ext>
            </a:extLst>
          </p:cNvPr>
          <p:cNvGrpSpPr>
            <a:grpSpLocks/>
          </p:cNvGrpSpPr>
          <p:nvPr/>
        </p:nvGrpSpPr>
        <p:grpSpPr bwMode="auto">
          <a:xfrm>
            <a:off x="0" y="152400"/>
            <a:ext cx="11582400" cy="6096000"/>
            <a:chOff x="0" y="96"/>
            <a:chExt cx="5472" cy="3840"/>
          </a:xfrm>
        </p:grpSpPr>
        <p:sp>
          <p:nvSpPr>
            <p:cNvPr id="3080" name="AutoShape 3">
              <a:extLst>
                <a:ext uri="{FF2B5EF4-FFF2-40B4-BE49-F238E27FC236}">
                  <a16:creationId xmlns:a16="http://schemas.microsoft.com/office/drawing/2014/main" id="{122DF33D-653D-4A60-8886-293EDEC491A4}"/>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p:spPr>
          <p:txBody>
            <a:bodyPr wrap="none" anchor="ctr"/>
            <a:lstStyle>
              <a:lvl1pPr algn="ctr">
                <a:defRPr>
                  <a:solidFill>
                    <a:schemeClr val="tx1"/>
                  </a:solidFill>
                  <a:latin typeface="Arial" panose="020B0604020202020204" pitchFamily="34" charset="0"/>
                </a:defRPr>
              </a:lvl1pPr>
              <a:lvl2pPr marL="742950" indent="-285750" algn="ctr">
                <a:defRPr>
                  <a:solidFill>
                    <a:schemeClr val="tx1"/>
                  </a:solidFill>
                  <a:latin typeface="Arial" panose="020B0604020202020204" pitchFamily="34" charset="0"/>
                </a:defRPr>
              </a:lvl2pPr>
              <a:lvl3pPr marL="1143000" indent="-228600" algn="ctr">
                <a:defRPr>
                  <a:solidFill>
                    <a:schemeClr val="tx1"/>
                  </a:solidFill>
                  <a:latin typeface="Arial" panose="020B0604020202020204" pitchFamily="34" charset="0"/>
                </a:defRPr>
              </a:lvl3pPr>
              <a:lvl4pPr marL="1600200" indent="-228600" algn="ctr">
                <a:defRPr>
                  <a:solidFill>
                    <a:schemeClr val="tx1"/>
                  </a:solidFill>
                  <a:latin typeface="Arial" panose="020B0604020202020204" pitchFamily="34" charset="0"/>
                </a:defRPr>
              </a:lvl4pPr>
              <a:lvl5pPr marL="2057400" indent="-228600" algn="ctr">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3081" name="AutoShape 4">
              <a:extLst>
                <a:ext uri="{FF2B5EF4-FFF2-40B4-BE49-F238E27FC236}">
                  <a16:creationId xmlns:a16="http://schemas.microsoft.com/office/drawing/2014/main" id="{94E1D905-0EFA-4545-9C07-0A0489943798}"/>
                </a:ext>
              </a:extLst>
            </p:cNvPr>
            <p:cNvSpPr>
              <a:spLocks/>
            </p:cNvSpPr>
            <p:nvPr/>
          </p:nvSpPr>
          <p:spPr bwMode="blackWhite">
            <a:xfrm>
              <a:off x="0" y="96"/>
              <a:ext cx="5376" cy="768"/>
            </a:xfrm>
            <a:custGeom>
              <a:avLst/>
              <a:gdLst>
                <a:gd name="T0" fmla="*/ 0 w 7000"/>
                <a:gd name="T1" fmla="*/ 0 h 1000"/>
                <a:gd name="T2" fmla="*/ 2261 w 7000"/>
                <a:gd name="T3" fmla="*/ 0 h 1000"/>
                <a:gd name="T4" fmla="*/ 2435 w 7000"/>
                <a:gd name="T5" fmla="*/ 174 h 1000"/>
                <a:gd name="T6" fmla="*/ 2262 w 7000"/>
                <a:gd name="T7" fmla="*/ 348 h 1000"/>
                <a:gd name="T8" fmla="*/ 0 w 7000"/>
                <a:gd name="T9" fmla="*/ 348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499" y="0"/>
                  </a:lnTo>
                  <a:cubicBezTo>
                    <a:pt x="6776" y="0"/>
                    <a:pt x="7000" y="223"/>
                    <a:pt x="7000" y="500"/>
                  </a:cubicBezTo>
                  <a:cubicBezTo>
                    <a:pt x="7000" y="776"/>
                    <a:pt x="6776" y="999"/>
                    <a:pt x="650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1800"/>
            </a:p>
          </p:txBody>
        </p:sp>
        <p:sp>
          <p:nvSpPr>
            <p:cNvPr id="3082" name="Line 5">
              <a:extLst>
                <a:ext uri="{FF2B5EF4-FFF2-40B4-BE49-F238E27FC236}">
                  <a16:creationId xmlns:a16="http://schemas.microsoft.com/office/drawing/2014/main" id="{3FAA1707-FE40-4BED-9C98-747E9E2A4622}"/>
                </a:ext>
              </a:extLst>
            </p:cNvPr>
            <p:cNvSpPr>
              <a:spLocks noChangeShapeType="1"/>
            </p:cNvSpPr>
            <p:nvPr/>
          </p:nvSpPr>
          <p:spPr bwMode="auto">
            <a:xfrm>
              <a:off x="0" y="768"/>
              <a:ext cx="5088"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3075" name="Rectangle 6">
            <a:extLst>
              <a:ext uri="{FF2B5EF4-FFF2-40B4-BE49-F238E27FC236}">
                <a16:creationId xmlns:a16="http://schemas.microsoft.com/office/drawing/2014/main" id="{49C95953-2E1C-41A2-B251-1B06525FAFB2}"/>
              </a:ext>
            </a:extLst>
          </p:cNvPr>
          <p:cNvSpPr>
            <a:spLocks noGrp="1" noChangeArrowheads="1"/>
          </p:cNvSpPr>
          <p:nvPr>
            <p:ph type="title"/>
          </p:nvPr>
        </p:nvSpPr>
        <p:spPr bwMode="auto">
          <a:xfrm>
            <a:off x="260352" y="228600"/>
            <a:ext cx="10687049"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6" name="Rectangle 7">
            <a:extLst>
              <a:ext uri="{FF2B5EF4-FFF2-40B4-BE49-F238E27FC236}">
                <a16:creationId xmlns:a16="http://schemas.microsoft.com/office/drawing/2014/main" id="{54DEC773-AD83-4D0C-B6F3-124D05DDEF11}"/>
              </a:ext>
            </a:extLst>
          </p:cNvPr>
          <p:cNvSpPr>
            <a:spLocks noGrp="1" noChangeArrowheads="1"/>
          </p:cNvSpPr>
          <p:nvPr>
            <p:ph type="body" idx="1"/>
          </p:nvPr>
        </p:nvSpPr>
        <p:spPr bwMode="auto">
          <a:xfrm>
            <a:off x="812800" y="1600200"/>
            <a:ext cx="10566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27336" name="Rectangle 8">
            <a:extLst>
              <a:ext uri="{FF2B5EF4-FFF2-40B4-BE49-F238E27FC236}">
                <a16:creationId xmlns:a16="http://schemas.microsoft.com/office/drawing/2014/main" id="{4F7628A6-EC24-4E05-A30A-FA8FFBFB5EF4}"/>
              </a:ext>
            </a:extLst>
          </p:cNvPr>
          <p:cNvSpPr>
            <a:spLocks noGrp="1" noChangeArrowheads="1"/>
          </p:cNvSpPr>
          <p:nvPr>
            <p:ph type="dt" sz="half" idx="2"/>
          </p:nvPr>
        </p:nvSpPr>
        <p:spPr bwMode="auto">
          <a:xfrm>
            <a:off x="609600" y="6248400"/>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227337" name="Rectangle 9">
            <a:extLst>
              <a:ext uri="{FF2B5EF4-FFF2-40B4-BE49-F238E27FC236}">
                <a16:creationId xmlns:a16="http://schemas.microsoft.com/office/drawing/2014/main" id="{D6EE07C0-3A4E-4861-BE89-23BABE66BAE3}"/>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r>
              <a:rPr lang="en-US"/>
              <a:t>ToxyScreen</a:t>
            </a:r>
          </a:p>
        </p:txBody>
      </p:sp>
      <p:sp>
        <p:nvSpPr>
          <p:cNvPr id="227338" name="Rectangle 10">
            <a:extLst>
              <a:ext uri="{FF2B5EF4-FFF2-40B4-BE49-F238E27FC236}">
                <a16:creationId xmlns:a16="http://schemas.microsoft.com/office/drawing/2014/main" id="{7281BC3C-1ED8-40CB-BEB7-54E6AF06C2F3}"/>
              </a:ext>
            </a:extLst>
          </p:cNvPr>
          <p:cNvSpPr>
            <a:spLocks noGrp="1" noChangeArrowheads="1"/>
          </p:cNvSpPr>
          <p:nvPr>
            <p:ph type="sldNum" sz="quarter" idx="4"/>
          </p:nvPr>
        </p:nvSpPr>
        <p:spPr bwMode="auto">
          <a:xfrm>
            <a:off x="8737600" y="6248400"/>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F8F87F05-EE42-4A34-ABE1-1EE968CEB2AE}" type="slidenum">
              <a:rPr lang="en-US" altLang="en-US"/>
              <a:pPr>
                <a:defRPr/>
              </a:pPr>
              <a:t>‹#›</a:t>
            </a:fld>
            <a:endParaRPr lang="en-US" altLang="en-US"/>
          </a:p>
        </p:txBody>
      </p:sp>
    </p:spTree>
    <p:extLst>
      <p:ext uri="{BB962C8B-B14F-4D97-AF65-F5344CB8AC3E}">
        <p14:creationId xmlns:p14="http://schemas.microsoft.com/office/powerpoint/2010/main" val="3975602814"/>
      </p:ext>
    </p:extLst>
  </p:cSld>
  <p:clrMap bg1="lt1" tx1="dk1" bg2="lt2" tx2="dk2" accent1="accent1" accent2="accent2" accent3="accent3" accent4="accent4" accent5="accent5" accent6="accent6" hlink="hlink" folHlink="folHlink"/>
  <p:sldLayoutIdLst>
    <p:sldLayoutId id="2147483651" r:id="rId1"/>
    <p:sldLayoutId id="2147483654" r:id="rId2"/>
  </p:sldLayoutIdLst>
  <p:hf sldNum="0" hd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charset="0"/>
        </a:defRPr>
      </a:lvl2pPr>
      <a:lvl3pPr algn="l" rtl="0" eaLnBrk="0" fontAlgn="base" hangingPunct="0">
        <a:spcBef>
          <a:spcPct val="0"/>
        </a:spcBef>
        <a:spcAft>
          <a:spcPct val="0"/>
        </a:spcAft>
        <a:defRPr sz="4200">
          <a:solidFill>
            <a:schemeClr val="tx2"/>
          </a:solidFill>
          <a:latin typeface="Arial" charset="0"/>
        </a:defRPr>
      </a:lvl3pPr>
      <a:lvl4pPr algn="l" rtl="0" eaLnBrk="0" fontAlgn="base" hangingPunct="0">
        <a:spcBef>
          <a:spcPct val="0"/>
        </a:spcBef>
        <a:spcAft>
          <a:spcPct val="0"/>
        </a:spcAft>
        <a:defRPr sz="4200">
          <a:solidFill>
            <a:schemeClr val="tx2"/>
          </a:solidFill>
          <a:latin typeface="Arial" charset="0"/>
        </a:defRPr>
      </a:lvl4pPr>
      <a:lvl5pPr algn="l" rtl="0" eaLnBrk="0" fontAlgn="base" hangingPunct="0">
        <a:spcBef>
          <a:spcPct val="0"/>
        </a:spcBef>
        <a:spcAft>
          <a:spcPct val="0"/>
        </a:spcAft>
        <a:defRPr sz="4200">
          <a:solidFill>
            <a:schemeClr val="tx2"/>
          </a:solidFill>
          <a:latin typeface="Arial" charset="0"/>
        </a:defRPr>
      </a:lvl5pPr>
      <a:lvl6pPr marL="457200" algn="l" rtl="0" fontAlgn="base">
        <a:spcBef>
          <a:spcPct val="0"/>
        </a:spcBef>
        <a:spcAft>
          <a:spcPct val="0"/>
        </a:spcAft>
        <a:defRPr sz="4200">
          <a:solidFill>
            <a:schemeClr val="tx2"/>
          </a:solidFill>
          <a:latin typeface="Arial" charset="0"/>
        </a:defRPr>
      </a:lvl6pPr>
      <a:lvl7pPr marL="914400" algn="l" rtl="0" fontAlgn="base">
        <a:spcBef>
          <a:spcPct val="0"/>
        </a:spcBef>
        <a:spcAft>
          <a:spcPct val="0"/>
        </a:spcAft>
        <a:defRPr sz="4200">
          <a:solidFill>
            <a:schemeClr val="tx2"/>
          </a:solidFill>
          <a:latin typeface="Arial" charset="0"/>
        </a:defRPr>
      </a:lvl7pPr>
      <a:lvl8pPr marL="1371600" algn="l" rtl="0" fontAlgn="base">
        <a:spcBef>
          <a:spcPct val="0"/>
        </a:spcBef>
        <a:spcAft>
          <a:spcPct val="0"/>
        </a:spcAft>
        <a:defRPr sz="4200">
          <a:solidFill>
            <a:schemeClr val="tx2"/>
          </a:solidFill>
          <a:latin typeface="Arial" charset="0"/>
        </a:defRPr>
      </a:lvl8pPr>
      <a:lvl9pPr marL="1828800" algn="l" rtl="0" fontAlgn="base">
        <a:spcBef>
          <a:spcPct val="0"/>
        </a:spcBef>
        <a:spcAft>
          <a:spcPct val="0"/>
        </a:spcAft>
        <a:defRPr sz="42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panose="05000000000000000000"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mn-lt"/>
        </a:defRPr>
      </a:lvl5pPr>
      <a:lvl6pPr marL="25146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6pPr>
      <a:lvl7pPr marL="29718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7pPr>
      <a:lvl8pPr marL="34290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8pPr>
      <a:lvl9pPr marL="38862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9AFD2BF-31B7-4BD6-82B3-8F8821A1926D}"/>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Rectangle 3">
            <a:extLst>
              <a:ext uri="{FF2B5EF4-FFF2-40B4-BE49-F238E27FC236}">
                <a16:creationId xmlns:a16="http://schemas.microsoft.com/office/drawing/2014/main" id="{FDE48B86-FD4C-4164-9612-1AEDAE52A5D9}"/>
              </a:ext>
            </a:extLst>
          </p:cNvPr>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31428" name="Rectangle 4">
            <a:extLst>
              <a:ext uri="{FF2B5EF4-FFF2-40B4-BE49-F238E27FC236}">
                <a16:creationId xmlns:a16="http://schemas.microsoft.com/office/drawing/2014/main" id="{E88B4A93-91EC-457F-8E96-069C5E1E47EB}"/>
              </a:ext>
            </a:extLst>
          </p:cNvPr>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latin typeface="Arial" charset="0"/>
              </a:defRPr>
            </a:lvl1pPr>
          </a:lstStyle>
          <a:p>
            <a:pPr>
              <a:defRPr/>
            </a:pPr>
            <a:endParaRPr lang="en-US"/>
          </a:p>
        </p:txBody>
      </p:sp>
      <p:sp>
        <p:nvSpPr>
          <p:cNvPr id="231429" name="Rectangle 5">
            <a:extLst>
              <a:ext uri="{FF2B5EF4-FFF2-40B4-BE49-F238E27FC236}">
                <a16:creationId xmlns:a16="http://schemas.microsoft.com/office/drawing/2014/main" id="{CF63A23B-A91E-4E27-A510-512D11D27BFA}"/>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r>
              <a:rPr lang="en-US"/>
              <a:t>ToxyScreen</a:t>
            </a:r>
          </a:p>
        </p:txBody>
      </p:sp>
      <p:sp>
        <p:nvSpPr>
          <p:cNvPr id="231430" name="Rectangle 6">
            <a:extLst>
              <a:ext uri="{FF2B5EF4-FFF2-40B4-BE49-F238E27FC236}">
                <a16:creationId xmlns:a16="http://schemas.microsoft.com/office/drawing/2014/main" id="{B22E1028-E092-4636-AD23-7C453E9CEF97}"/>
              </a:ext>
            </a:extLst>
          </p:cNvPr>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140A91AB-60E1-4B91-9A07-838F2433FEA4}" type="slidenum">
              <a:rPr lang="en-US" altLang="en-US"/>
              <a:pPr>
                <a:defRPr/>
              </a:pPr>
              <a:t>‹#›</a:t>
            </a:fld>
            <a:endParaRPr lang="en-US" altLang="en-US"/>
          </a:p>
        </p:txBody>
      </p:sp>
    </p:spTree>
    <p:extLst>
      <p:ext uri="{BB962C8B-B14F-4D97-AF65-F5344CB8AC3E}">
        <p14:creationId xmlns:p14="http://schemas.microsoft.com/office/powerpoint/2010/main" val="886928320"/>
      </p:ext>
    </p:extLst>
  </p:cSld>
  <p:clrMap bg1="lt1" tx1="dk1" bg2="lt2" tx2="dk2" accent1="accent1" accent2="accent2" accent3="accent3" accent4="accent4" accent5="accent5" accent6="accent6" hlink="hlink" folHlink="folHlink"/>
  <p:sldLayoutIdLst>
    <p:sldLayoutId id="2147483653" r:id="rId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81AC189E-E9D0-4D59-9493-DF84A4904D71}"/>
              </a:ext>
            </a:extLst>
          </p:cNvPr>
          <p:cNvSpPr>
            <a:spLocks noGrp="1" noChangeArrowheads="1"/>
          </p:cNvSpPr>
          <p:nvPr>
            <p:ph type="body" idx="1"/>
          </p:nvPr>
        </p:nvSpPr>
        <p:spPr>
          <a:xfrm>
            <a:off x="932155" y="1524000"/>
            <a:ext cx="10475651" cy="3810000"/>
          </a:xfrm>
        </p:spPr>
        <p:txBody>
          <a:bodyPr/>
          <a:lstStyle/>
          <a:p>
            <a:pPr marL="0" indent="0" algn="ctr" eaLnBrk="1" hangingPunct="1">
              <a:buNone/>
              <a:defRPr/>
            </a:pPr>
            <a:r>
              <a:rPr lang="en-US" altLang="en-US" sz="5400" dirty="0" err="1">
                <a:solidFill>
                  <a:srgbClr val="0033CC"/>
                </a:solidFill>
              </a:rPr>
              <a:t>TOXYScreen</a:t>
            </a:r>
            <a:endParaRPr lang="en-US" altLang="en-US" sz="5400" dirty="0">
              <a:solidFill>
                <a:srgbClr val="0033CC"/>
              </a:solidFill>
            </a:endParaRPr>
          </a:p>
          <a:p>
            <a:pPr marL="0" indent="0" algn="ctr" eaLnBrk="1" hangingPunct="1">
              <a:buNone/>
              <a:defRPr/>
            </a:pPr>
            <a:r>
              <a:rPr lang="en-US" altLang="en-US" sz="4400" dirty="0">
                <a:solidFill>
                  <a:srgbClr val="0033CC"/>
                </a:solidFill>
              </a:rPr>
              <a:t> THE CERTIFIED ORAL FLUID COLLECTION PROCESS IS THE SOLUTION</a:t>
            </a:r>
            <a:endParaRPr lang="en-US" altLang="en-US" sz="4400" dirty="0"/>
          </a:p>
        </p:txBody>
      </p:sp>
      <p:sp>
        <p:nvSpPr>
          <p:cNvPr id="8195" name="Footer Placeholder 3">
            <a:extLst>
              <a:ext uri="{FF2B5EF4-FFF2-40B4-BE49-F238E27FC236}">
                <a16:creationId xmlns:a16="http://schemas.microsoft.com/office/drawing/2014/main" id="{30E084C0-ECC8-45ED-9CBE-1D9064B6B8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pic>
        <p:nvPicPr>
          <p:cNvPr id="8196" name="Picture 2">
            <a:extLst>
              <a:ext uri="{FF2B5EF4-FFF2-40B4-BE49-F238E27FC236}">
                <a16:creationId xmlns:a16="http://schemas.microsoft.com/office/drawing/2014/main" id="{C4FF409F-0E56-46DD-9355-C51374B776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317925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8AA5F99-9C32-4D66-B015-503348BBB33F}"/>
              </a:ext>
            </a:extLst>
          </p:cNvPr>
          <p:cNvSpPr>
            <a:spLocks noGrp="1" noChangeArrowheads="1"/>
          </p:cNvSpPr>
          <p:nvPr>
            <p:ph type="title"/>
          </p:nvPr>
        </p:nvSpPr>
        <p:spPr/>
        <p:txBody>
          <a:bodyPr/>
          <a:lstStyle/>
          <a:p>
            <a:pPr algn="ctr" eaLnBrk="1" hangingPunct="1"/>
            <a:r>
              <a:rPr lang="en-US" altLang="en-US" sz="2800" dirty="0"/>
              <a:t> WHERE DOES LEAD COME FROM</a:t>
            </a:r>
          </a:p>
        </p:txBody>
      </p:sp>
      <p:sp>
        <p:nvSpPr>
          <p:cNvPr id="10243" name="Rectangle 3">
            <a:extLst>
              <a:ext uri="{FF2B5EF4-FFF2-40B4-BE49-F238E27FC236}">
                <a16:creationId xmlns:a16="http://schemas.microsoft.com/office/drawing/2014/main" id="{A4247C57-8876-40C3-83DB-E445DBD40765}"/>
              </a:ext>
            </a:extLst>
          </p:cNvPr>
          <p:cNvSpPr>
            <a:spLocks noGrp="1" noChangeArrowheads="1"/>
          </p:cNvSpPr>
          <p:nvPr>
            <p:ph type="body" idx="1"/>
          </p:nvPr>
        </p:nvSpPr>
        <p:spPr/>
        <p:txBody>
          <a:bodyPr/>
          <a:lstStyle/>
          <a:p>
            <a:pPr eaLnBrk="1" hangingPunct="1"/>
            <a:r>
              <a:rPr lang="en-US" altLang="en-US" sz="2800" dirty="0"/>
              <a:t>Lead has been found in paint, window blinds, pottery, cosmetics, children’s toys, candy/gum, lead bullets, canned food, and most recently, baby food.</a:t>
            </a:r>
          </a:p>
          <a:p>
            <a:pPr eaLnBrk="1" hangingPunct="1"/>
            <a:r>
              <a:rPr lang="en-US" altLang="en-US" sz="2800" dirty="0"/>
              <a:t>Exposure to lead can also come from lead- contaminated dust, water, and soil, as well as brought home on clothing by adults that work with batteries, auto repair or home renovations.</a:t>
            </a:r>
          </a:p>
          <a:p>
            <a:pPr eaLnBrk="1" hangingPunct="1">
              <a:buFont typeface="Wingdings" panose="05000000000000000000" pitchFamily="2" charset="2"/>
              <a:buNone/>
            </a:pPr>
            <a:r>
              <a:rPr lang="en-US" altLang="en-US" dirty="0"/>
              <a:t>   </a:t>
            </a:r>
          </a:p>
        </p:txBody>
      </p:sp>
      <p:sp>
        <p:nvSpPr>
          <p:cNvPr id="10244" name="Footer Placeholder 3">
            <a:extLst>
              <a:ext uri="{FF2B5EF4-FFF2-40B4-BE49-F238E27FC236}">
                <a16:creationId xmlns:a16="http://schemas.microsoft.com/office/drawing/2014/main" id="{1B9580C4-BF28-410F-B89B-49C26E8D1E6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3251688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7521179D-7283-4402-904D-D5AABAB220B0}"/>
              </a:ext>
            </a:extLst>
          </p:cNvPr>
          <p:cNvSpPr>
            <a:spLocks noGrp="1" noChangeArrowheads="1"/>
          </p:cNvSpPr>
          <p:nvPr>
            <p:ph type="title"/>
          </p:nvPr>
        </p:nvSpPr>
        <p:spPr>
          <a:xfrm>
            <a:off x="0" y="228600"/>
            <a:ext cx="11624441" cy="838200"/>
          </a:xfrm>
        </p:spPr>
        <p:txBody>
          <a:bodyPr/>
          <a:lstStyle/>
          <a:p>
            <a:pPr algn="ctr"/>
            <a:r>
              <a:rPr lang="en-US" altLang="en-US" dirty="0"/>
              <a:t>Lead Effects Both Children and Adults</a:t>
            </a:r>
          </a:p>
        </p:txBody>
      </p:sp>
      <p:sp>
        <p:nvSpPr>
          <p:cNvPr id="12291" name="Content Placeholder 2">
            <a:extLst>
              <a:ext uri="{FF2B5EF4-FFF2-40B4-BE49-F238E27FC236}">
                <a16:creationId xmlns:a16="http://schemas.microsoft.com/office/drawing/2014/main" id="{03ABB73B-B772-4D0D-B70C-80AD9B8580DC}"/>
              </a:ext>
            </a:extLst>
          </p:cNvPr>
          <p:cNvSpPr>
            <a:spLocks noGrp="1" noChangeArrowheads="1"/>
          </p:cNvSpPr>
          <p:nvPr>
            <p:ph idx="1"/>
          </p:nvPr>
        </p:nvSpPr>
        <p:spPr>
          <a:xfrm>
            <a:off x="943583" y="1680881"/>
            <a:ext cx="10782251" cy="4262719"/>
          </a:xfrm>
        </p:spPr>
        <p:txBody>
          <a:bodyPr/>
          <a:lstStyle/>
          <a:p>
            <a:pPr>
              <a:spcBef>
                <a:spcPct val="0"/>
              </a:spcBef>
            </a:pPr>
            <a:r>
              <a:rPr lang="en-US" altLang="en-US" sz="2000" dirty="0"/>
              <a:t>Of the 1.1 million U.S. children under age 6 who were tested, half (50.5 percent) had detectable levels of blood lead (1.0 microgram per deciliter or higher). And almost 2 percent had elevated levels considered to be a risk to health (5.0 µg/dL or higher). new study published in the peer-reviewed </a:t>
            </a:r>
            <a:r>
              <a:rPr lang="en-US" altLang="en-US" sz="1800" dirty="0"/>
              <a:t>journal </a:t>
            </a:r>
            <a:r>
              <a:rPr lang="en-US" altLang="en-US" sz="1800" b="1" dirty="0"/>
              <a:t>JAMA Pediatrics </a:t>
            </a:r>
            <a:r>
              <a:rPr lang="en-US" altLang="en-US" sz="1800" u="sng" dirty="0"/>
              <a:t>Lead Contamination Found in Blood of Half of Young Kids in US</a:t>
            </a:r>
            <a:endParaRPr lang="en-US" altLang="en-US" sz="1800" b="1" dirty="0"/>
          </a:p>
          <a:p>
            <a:pPr>
              <a:spcBef>
                <a:spcPct val="0"/>
              </a:spcBef>
            </a:pPr>
            <a:r>
              <a:rPr lang="en-US" altLang="en-US" sz="2000" dirty="0"/>
              <a:t>The Number of Children with Lead Poisoning May be about to more than Double Centers for Disease Control and Prevention means the number of children ages 1 to 5 considered to have high blood lead levels will grow from about 200,000 to about 500,000 </a:t>
            </a:r>
            <a:r>
              <a:rPr lang="en-US" altLang="en-US" sz="2000" b="1" dirty="0"/>
              <a:t>Associated Press Oct 20, 2021</a:t>
            </a:r>
          </a:p>
          <a:p>
            <a:pPr>
              <a:spcBef>
                <a:spcPct val="0"/>
              </a:spcBef>
            </a:pPr>
            <a:r>
              <a:rPr lang="en-US" altLang="en-US" sz="2000" b="1" dirty="0"/>
              <a:t>1.4 million children in the United States have lead poisoning</a:t>
            </a:r>
          </a:p>
          <a:p>
            <a:pPr>
              <a:spcBef>
                <a:spcPct val="0"/>
              </a:spcBef>
            </a:pPr>
            <a:r>
              <a:rPr lang="en-US" altLang="en-US" sz="2000" dirty="0"/>
              <a:t>Although children are primarily at risk, </a:t>
            </a:r>
            <a:r>
              <a:rPr lang="en-US" altLang="en-US" sz="2000" b="1" dirty="0"/>
              <a:t>lead poisoning is also dangerous for adults</a:t>
            </a:r>
            <a:r>
              <a:rPr lang="en-US" altLang="en-US" sz="2000" dirty="0"/>
              <a:t>.</a:t>
            </a:r>
            <a:r>
              <a:rPr lang="en-US" altLang="en-US" sz="1800" dirty="0"/>
              <a:t> Researchers concluded that </a:t>
            </a:r>
            <a:r>
              <a:rPr lang="en-US" altLang="en-US" sz="1800" b="1" dirty="0"/>
              <a:t>nearly 412,000 deaths every year</a:t>
            </a:r>
            <a:r>
              <a:rPr lang="en-US" altLang="en-US" sz="1800" dirty="0"/>
              <a:t> in the US can be attributed to lead contamination</a:t>
            </a:r>
          </a:p>
        </p:txBody>
      </p:sp>
      <p:sp>
        <p:nvSpPr>
          <p:cNvPr id="12292" name="Footer Placeholder 3">
            <a:extLst>
              <a:ext uri="{FF2B5EF4-FFF2-40B4-BE49-F238E27FC236}">
                <a16:creationId xmlns:a16="http://schemas.microsoft.com/office/drawing/2014/main" id="{307B8627-6A9E-4B8A-BC67-E25535F5B7CB}"/>
              </a:ext>
            </a:extLst>
          </p:cNvPr>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2181684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BC32ABE-7A39-40D4-A84D-E8CCB1F152A5}"/>
              </a:ext>
            </a:extLst>
          </p:cNvPr>
          <p:cNvSpPr>
            <a:spLocks noGrp="1" noChangeArrowheads="1"/>
          </p:cNvSpPr>
          <p:nvPr>
            <p:ph type="title"/>
          </p:nvPr>
        </p:nvSpPr>
        <p:spPr>
          <a:xfrm>
            <a:off x="-94594" y="-252248"/>
            <a:ext cx="12454759" cy="1345324"/>
          </a:xfrm>
        </p:spPr>
        <p:txBody>
          <a:bodyPr/>
          <a:lstStyle/>
          <a:p>
            <a:pPr algn="ctr" eaLnBrk="1" hangingPunct="1"/>
            <a:br>
              <a:rPr lang="en-US" altLang="en-US" dirty="0"/>
            </a:br>
            <a:r>
              <a:rPr lang="en-US" altLang="en-US" sz="2800" dirty="0">
                <a:latin typeface="+mn-lt"/>
              </a:rPr>
              <a:t>EFFECTS OF LEAD EXPOSURE ON CHILDREN</a:t>
            </a:r>
          </a:p>
        </p:txBody>
      </p:sp>
      <p:sp>
        <p:nvSpPr>
          <p:cNvPr id="13315" name="Rectangle 3">
            <a:extLst>
              <a:ext uri="{FF2B5EF4-FFF2-40B4-BE49-F238E27FC236}">
                <a16:creationId xmlns:a16="http://schemas.microsoft.com/office/drawing/2014/main" id="{A612869A-D099-44EB-B2FE-465D73D19686}"/>
              </a:ext>
            </a:extLst>
          </p:cNvPr>
          <p:cNvSpPr>
            <a:spLocks noGrp="1" noChangeArrowheads="1"/>
          </p:cNvSpPr>
          <p:nvPr>
            <p:ph type="body" idx="1"/>
          </p:nvPr>
        </p:nvSpPr>
        <p:spPr/>
        <p:txBody>
          <a:bodyPr/>
          <a:lstStyle/>
          <a:p>
            <a:pPr>
              <a:buFont typeface="Arial" panose="020B0604020202020204" pitchFamily="34" charset="0"/>
              <a:buChar char="•"/>
            </a:pPr>
            <a:r>
              <a:rPr lang="en-US" altLang="en-US" sz="2800" dirty="0"/>
              <a:t>Damage to the brain and nervous system</a:t>
            </a:r>
          </a:p>
          <a:p>
            <a:pPr>
              <a:buFont typeface="Arial" panose="020B0604020202020204" pitchFamily="34" charset="0"/>
              <a:buChar char="•"/>
            </a:pPr>
            <a:r>
              <a:rPr lang="en-US" altLang="en-US" sz="2800" dirty="0"/>
              <a:t>Slowed growth and development</a:t>
            </a:r>
          </a:p>
          <a:p>
            <a:pPr>
              <a:buFont typeface="Arial" panose="020B0604020202020204" pitchFamily="34" charset="0"/>
              <a:buChar char="•"/>
            </a:pPr>
            <a:r>
              <a:rPr lang="en-US" altLang="en-US" sz="2800" dirty="0"/>
              <a:t>Learning and behavior problems</a:t>
            </a:r>
          </a:p>
          <a:p>
            <a:pPr>
              <a:buFont typeface="Arial" panose="020B0604020202020204" pitchFamily="34" charset="0"/>
              <a:buChar char="•"/>
            </a:pPr>
            <a:r>
              <a:rPr lang="en-US" altLang="en-US" sz="2800" dirty="0"/>
              <a:t>Hearing and speech problems</a:t>
            </a:r>
          </a:p>
          <a:p>
            <a:pPr>
              <a:buFont typeface="Arial" panose="020B0604020202020204" pitchFamily="34" charset="0"/>
              <a:buChar char="•"/>
            </a:pPr>
            <a:r>
              <a:rPr lang="en-US" altLang="en-US" sz="2800" dirty="0"/>
              <a:t>Lower IQ</a:t>
            </a:r>
          </a:p>
          <a:p>
            <a:pPr>
              <a:buFont typeface="Arial" panose="020B0604020202020204" pitchFamily="34" charset="0"/>
              <a:buChar char="•"/>
            </a:pPr>
            <a:r>
              <a:rPr lang="en-US" altLang="en-US" sz="2800" dirty="0"/>
              <a:t>Decreased ability to pay attention</a:t>
            </a:r>
          </a:p>
          <a:p>
            <a:pPr>
              <a:buFont typeface="Arial" panose="020B0604020202020204" pitchFamily="34" charset="0"/>
              <a:buChar char="•"/>
            </a:pPr>
            <a:r>
              <a:rPr lang="en-US" altLang="en-US" sz="2800" dirty="0"/>
              <a:t>Underperformance in school</a:t>
            </a:r>
          </a:p>
          <a:p>
            <a:pPr eaLnBrk="1" hangingPunct="1"/>
            <a:endParaRPr lang="en-US" altLang="en-US" sz="2400" dirty="0"/>
          </a:p>
        </p:txBody>
      </p:sp>
      <p:sp>
        <p:nvSpPr>
          <p:cNvPr id="13316" name="Footer Placeholder 3">
            <a:extLst>
              <a:ext uri="{FF2B5EF4-FFF2-40B4-BE49-F238E27FC236}">
                <a16:creationId xmlns:a16="http://schemas.microsoft.com/office/drawing/2014/main" id="{590F16F4-3992-4D1C-A508-72DD89BF542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483397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3A9D093-0162-478D-8542-6F25E6A681E4}"/>
              </a:ext>
            </a:extLst>
          </p:cNvPr>
          <p:cNvSpPr>
            <a:spLocks noGrp="1" noChangeArrowheads="1"/>
          </p:cNvSpPr>
          <p:nvPr>
            <p:ph type="title"/>
          </p:nvPr>
        </p:nvSpPr>
        <p:spPr/>
        <p:txBody>
          <a:bodyPr/>
          <a:lstStyle/>
          <a:p>
            <a:pPr algn="ctr" eaLnBrk="1" hangingPunct="1"/>
            <a:r>
              <a:rPr lang="en-US" altLang="en-US" sz="2800" dirty="0"/>
              <a:t>SYMPTONS OF ELAVATED BLOOD LEVELS IN CHILDREN</a:t>
            </a:r>
          </a:p>
        </p:txBody>
      </p:sp>
      <p:sp>
        <p:nvSpPr>
          <p:cNvPr id="18435" name="Rectangle 3">
            <a:extLst>
              <a:ext uri="{FF2B5EF4-FFF2-40B4-BE49-F238E27FC236}">
                <a16:creationId xmlns:a16="http://schemas.microsoft.com/office/drawing/2014/main" id="{C67062FA-2E36-4E3F-B714-E44BB9DE89DB}"/>
              </a:ext>
            </a:extLst>
          </p:cNvPr>
          <p:cNvSpPr>
            <a:spLocks noGrp="1" noChangeArrowheads="1"/>
          </p:cNvSpPr>
          <p:nvPr>
            <p:ph type="body" idx="1"/>
          </p:nvPr>
        </p:nvSpPr>
        <p:spPr>
          <a:xfrm>
            <a:off x="525517" y="1371600"/>
            <a:ext cx="11077904" cy="4876800"/>
          </a:xfrm>
        </p:spPr>
        <p:txBody>
          <a:bodyPr/>
          <a:lstStyle/>
          <a:p>
            <a:pPr marL="0" indent="0" eaLnBrk="1" hangingPunct="1">
              <a:lnSpc>
                <a:spcPct val="90000"/>
              </a:lnSpc>
              <a:buNone/>
            </a:pPr>
            <a:endParaRPr lang="en-US" altLang="en-US" sz="2400" dirty="0"/>
          </a:p>
          <a:p>
            <a:pPr lvl="1" eaLnBrk="1" hangingPunct="1">
              <a:lnSpc>
                <a:spcPct val="90000"/>
              </a:lnSpc>
            </a:pPr>
            <a:r>
              <a:rPr lang="en-US" altLang="en-US" dirty="0"/>
              <a:t>Developmental delays</a:t>
            </a:r>
          </a:p>
          <a:p>
            <a:pPr lvl="1" eaLnBrk="1" hangingPunct="1">
              <a:lnSpc>
                <a:spcPct val="90000"/>
              </a:lnSpc>
            </a:pPr>
            <a:r>
              <a:rPr lang="en-US" altLang="en-US" dirty="0"/>
              <a:t>Learning difficulties</a:t>
            </a:r>
          </a:p>
          <a:p>
            <a:pPr lvl="1" eaLnBrk="1" hangingPunct="1">
              <a:lnSpc>
                <a:spcPct val="90000"/>
              </a:lnSpc>
            </a:pPr>
            <a:r>
              <a:rPr lang="en-US" altLang="en-US" dirty="0"/>
              <a:t>Irritability</a:t>
            </a:r>
          </a:p>
          <a:p>
            <a:pPr lvl="1" eaLnBrk="1" hangingPunct="1">
              <a:lnSpc>
                <a:spcPct val="90000"/>
              </a:lnSpc>
            </a:pPr>
            <a:r>
              <a:rPr lang="en-US" altLang="en-US" dirty="0"/>
              <a:t>Seizures</a:t>
            </a:r>
          </a:p>
          <a:p>
            <a:pPr lvl="1" eaLnBrk="1" hangingPunct="1">
              <a:lnSpc>
                <a:spcPct val="90000"/>
              </a:lnSpc>
            </a:pPr>
            <a:r>
              <a:rPr lang="en-US" altLang="en-US" dirty="0"/>
              <a:t>Fatigue</a:t>
            </a:r>
          </a:p>
          <a:p>
            <a:pPr lvl="1" eaLnBrk="1" hangingPunct="1">
              <a:lnSpc>
                <a:spcPct val="90000"/>
              </a:lnSpc>
            </a:pPr>
            <a:r>
              <a:rPr lang="en-US" altLang="en-US" dirty="0"/>
              <a:t>Abdominal pain, vomiting, constipation</a:t>
            </a:r>
          </a:p>
          <a:p>
            <a:pPr lvl="1" eaLnBrk="1" hangingPunct="1">
              <a:lnSpc>
                <a:spcPct val="90000"/>
              </a:lnSpc>
            </a:pPr>
            <a:r>
              <a:rPr lang="en-US" altLang="en-US" dirty="0"/>
              <a:t>Weight loss, loss of appetite</a:t>
            </a:r>
          </a:p>
          <a:p>
            <a:pPr lvl="1" eaLnBrk="1" hangingPunct="1">
              <a:lnSpc>
                <a:spcPct val="90000"/>
              </a:lnSpc>
            </a:pPr>
            <a:r>
              <a:rPr lang="en-US" altLang="en-US" dirty="0"/>
              <a:t>Eating things that are not food (pica)</a:t>
            </a:r>
          </a:p>
          <a:p>
            <a:pPr lvl="1" eaLnBrk="1" hangingPunct="1">
              <a:lnSpc>
                <a:spcPct val="90000"/>
              </a:lnSpc>
              <a:buFont typeface="Wingdings" panose="05000000000000000000" pitchFamily="2" charset="2"/>
              <a:buNone/>
            </a:pPr>
            <a:endParaRPr lang="en-US" altLang="en-US" dirty="0"/>
          </a:p>
          <a:p>
            <a:pPr marL="0" indent="0" eaLnBrk="1" hangingPunct="1">
              <a:lnSpc>
                <a:spcPct val="90000"/>
              </a:lnSpc>
              <a:buNone/>
            </a:pPr>
            <a:endParaRPr lang="en-US" altLang="en-US" sz="2400" dirty="0"/>
          </a:p>
        </p:txBody>
      </p:sp>
      <p:sp>
        <p:nvSpPr>
          <p:cNvPr id="18436" name="Footer Placeholder 3">
            <a:extLst>
              <a:ext uri="{FF2B5EF4-FFF2-40B4-BE49-F238E27FC236}">
                <a16:creationId xmlns:a16="http://schemas.microsoft.com/office/drawing/2014/main" id="{B7A41222-65CA-447F-827B-CFA83C80E1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2483411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E9ED835-7D81-4E1E-9B88-1B26463E51ED}"/>
              </a:ext>
            </a:extLst>
          </p:cNvPr>
          <p:cNvSpPr>
            <a:spLocks noGrp="1" noChangeArrowheads="1"/>
          </p:cNvSpPr>
          <p:nvPr>
            <p:ph type="title"/>
          </p:nvPr>
        </p:nvSpPr>
        <p:spPr>
          <a:xfrm>
            <a:off x="367862" y="228600"/>
            <a:ext cx="11306274" cy="914400"/>
          </a:xfrm>
        </p:spPr>
        <p:txBody>
          <a:bodyPr/>
          <a:lstStyle/>
          <a:p>
            <a:pPr algn="ctr" eaLnBrk="1" hangingPunct="1"/>
            <a:br>
              <a:rPr lang="en-US" altLang="en-US" dirty="0"/>
            </a:br>
            <a:r>
              <a:rPr lang="en-US" altLang="en-US" sz="2800" dirty="0"/>
              <a:t>EFFECTS OF LEAD EXPOSURE ADULTS</a:t>
            </a:r>
            <a:br>
              <a:rPr lang="en-US" altLang="en-US" sz="2800" dirty="0"/>
            </a:br>
            <a:r>
              <a:rPr lang="en-US" altLang="en-US" sz="2800" dirty="0"/>
              <a:t> </a:t>
            </a:r>
          </a:p>
        </p:txBody>
      </p:sp>
      <p:sp>
        <p:nvSpPr>
          <p:cNvPr id="15363" name="Rectangle 3">
            <a:extLst>
              <a:ext uri="{FF2B5EF4-FFF2-40B4-BE49-F238E27FC236}">
                <a16:creationId xmlns:a16="http://schemas.microsoft.com/office/drawing/2014/main" id="{DBCAF4D6-8A81-4E3D-95DB-20D79A4A4165}"/>
              </a:ext>
            </a:extLst>
          </p:cNvPr>
          <p:cNvSpPr>
            <a:spLocks noGrp="1" noChangeArrowheads="1"/>
          </p:cNvSpPr>
          <p:nvPr>
            <p:ph type="body" idx="1"/>
          </p:nvPr>
        </p:nvSpPr>
        <p:spPr/>
        <p:txBody>
          <a:bodyPr/>
          <a:lstStyle/>
          <a:p>
            <a:pPr>
              <a:buFont typeface="Arial" panose="020B0604020202020204" pitchFamily="34" charset="0"/>
              <a:buChar char="•"/>
            </a:pPr>
            <a:r>
              <a:rPr lang="en-US" altLang="en-US" sz="2800" dirty="0">
                <a:cs typeface="Open Sans" panose="020B0606030504020204" pitchFamily="34" charset="0"/>
              </a:rPr>
              <a:t>High blood pressure</a:t>
            </a:r>
          </a:p>
          <a:p>
            <a:pPr>
              <a:buFont typeface="Arial" panose="020B0604020202020204" pitchFamily="34" charset="0"/>
              <a:buChar char="•"/>
            </a:pPr>
            <a:r>
              <a:rPr lang="en-US" altLang="en-US" sz="2800" dirty="0">
                <a:cs typeface="Open Sans" panose="020B0606030504020204" pitchFamily="34" charset="0"/>
              </a:rPr>
              <a:t>Joint and muscle pain</a:t>
            </a:r>
          </a:p>
          <a:p>
            <a:pPr>
              <a:buFont typeface="Arial" panose="020B0604020202020204" pitchFamily="34" charset="0"/>
              <a:buChar char="•"/>
            </a:pPr>
            <a:r>
              <a:rPr lang="en-US" altLang="en-US" sz="2800" dirty="0">
                <a:cs typeface="Open Sans" panose="020B0606030504020204" pitchFamily="34" charset="0"/>
              </a:rPr>
              <a:t>Difficulties with memory or concentration</a:t>
            </a:r>
          </a:p>
          <a:p>
            <a:pPr>
              <a:buFont typeface="Arial" panose="020B0604020202020204" pitchFamily="34" charset="0"/>
              <a:buChar char="•"/>
            </a:pPr>
            <a:r>
              <a:rPr lang="en-US" altLang="en-US" sz="2800" dirty="0">
                <a:cs typeface="Open Sans" panose="020B0606030504020204" pitchFamily="34" charset="0"/>
              </a:rPr>
              <a:t>Headache</a:t>
            </a:r>
          </a:p>
          <a:p>
            <a:pPr>
              <a:buFont typeface="Arial" panose="020B0604020202020204" pitchFamily="34" charset="0"/>
              <a:buChar char="•"/>
            </a:pPr>
            <a:r>
              <a:rPr lang="en-US" altLang="en-US" sz="2800" dirty="0">
                <a:cs typeface="Open Sans" panose="020B0606030504020204" pitchFamily="34" charset="0"/>
              </a:rPr>
              <a:t>Abdominal pain</a:t>
            </a:r>
          </a:p>
          <a:p>
            <a:pPr>
              <a:buFont typeface="Arial" panose="020B0604020202020204" pitchFamily="34" charset="0"/>
              <a:buChar char="•"/>
            </a:pPr>
            <a:r>
              <a:rPr lang="en-US" altLang="en-US" sz="2800" dirty="0">
                <a:cs typeface="Open Sans" panose="020B0606030504020204" pitchFamily="34" charset="0"/>
              </a:rPr>
              <a:t>Mood disorders</a:t>
            </a:r>
          </a:p>
          <a:p>
            <a:pPr>
              <a:buFont typeface="Arial" panose="020B0604020202020204" pitchFamily="34" charset="0"/>
              <a:buChar char="•"/>
            </a:pPr>
            <a:r>
              <a:rPr lang="en-US" altLang="en-US" sz="2800" dirty="0">
                <a:cs typeface="Open Sans" panose="020B0606030504020204" pitchFamily="34" charset="0"/>
              </a:rPr>
              <a:t>Reduced sperm count and abnormal sperm</a:t>
            </a:r>
          </a:p>
          <a:p>
            <a:pPr>
              <a:buFont typeface="Arial" panose="020B0604020202020204" pitchFamily="34" charset="0"/>
              <a:buChar char="•"/>
            </a:pPr>
            <a:r>
              <a:rPr lang="en-US" altLang="en-US" sz="2800" dirty="0">
                <a:cs typeface="Open Sans" panose="020B0606030504020204" pitchFamily="34" charset="0"/>
              </a:rPr>
              <a:t>Miscarriage, stillbirth or premature birth in pregnant women</a:t>
            </a:r>
          </a:p>
          <a:p>
            <a:pPr eaLnBrk="1" hangingPunct="1"/>
            <a:endParaRPr lang="en-US" altLang="en-US" sz="2400" dirty="0"/>
          </a:p>
        </p:txBody>
      </p:sp>
      <p:sp>
        <p:nvSpPr>
          <p:cNvPr id="15364" name="Footer Placeholder 3">
            <a:extLst>
              <a:ext uri="{FF2B5EF4-FFF2-40B4-BE49-F238E27FC236}">
                <a16:creationId xmlns:a16="http://schemas.microsoft.com/office/drawing/2014/main" id="{98E1E7EF-E18D-47CB-A600-DD4DFD08422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4260338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A45247DC-3AFE-4751-B072-A3C63E22439B}"/>
              </a:ext>
            </a:extLst>
          </p:cNvPr>
          <p:cNvSpPr>
            <a:spLocks noGrp="1" noChangeArrowheads="1"/>
          </p:cNvSpPr>
          <p:nvPr>
            <p:ph type="title"/>
          </p:nvPr>
        </p:nvSpPr>
        <p:spPr/>
        <p:txBody>
          <a:bodyPr/>
          <a:lstStyle/>
          <a:p>
            <a:pPr algn="ctr"/>
            <a:r>
              <a:rPr lang="en-US" altLang="en-US" sz="2800" dirty="0"/>
              <a:t>SYMPTONS OF ELAVATED BLOOD LEVELS IN ADULTS</a:t>
            </a:r>
          </a:p>
        </p:txBody>
      </p:sp>
      <p:sp>
        <p:nvSpPr>
          <p:cNvPr id="20483" name="Content Placeholder 2">
            <a:extLst>
              <a:ext uri="{FF2B5EF4-FFF2-40B4-BE49-F238E27FC236}">
                <a16:creationId xmlns:a16="http://schemas.microsoft.com/office/drawing/2014/main" id="{129C3DDF-E1B8-4982-8D15-19DF4399C332}"/>
              </a:ext>
            </a:extLst>
          </p:cNvPr>
          <p:cNvSpPr>
            <a:spLocks noGrp="1" noChangeArrowheads="1"/>
          </p:cNvSpPr>
          <p:nvPr>
            <p:ph idx="1"/>
          </p:nvPr>
        </p:nvSpPr>
        <p:spPr/>
        <p:txBody>
          <a:bodyPr/>
          <a:lstStyle/>
          <a:p>
            <a:pPr lvl="1"/>
            <a:r>
              <a:rPr lang="en-US" altLang="en-US" sz="3200" dirty="0"/>
              <a:t>High Blood Pressure</a:t>
            </a:r>
          </a:p>
          <a:p>
            <a:pPr lvl="1"/>
            <a:r>
              <a:rPr lang="en-US" altLang="en-US" sz="3200" dirty="0"/>
              <a:t>Joint and muscle pain</a:t>
            </a:r>
          </a:p>
          <a:p>
            <a:pPr lvl="1"/>
            <a:r>
              <a:rPr lang="en-US" altLang="en-US" sz="3200" dirty="0"/>
              <a:t>Memory or concentration difficulties</a:t>
            </a:r>
          </a:p>
          <a:p>
            <a:pPr lvl="1"/>
            <a:r>
              <a:rPr lang="en-US" altLang="en-US" sz="3200" dirty="0"/>
              <a:t>Mood disorders</a:t>
            </a:r>
          </a:p>
          <a:p>
            <a:pPr lvl="1"/>
            <a:r>
              <a:rPr lang="en-US" altLang="en-US" sz="3200" dirty="0"/>
              <a:t>Headaches</a:t>
            </a:r>
          </a:p>
          <a:p>
            <a:pPr lvl="1"/>
            <a:r>
              <a:rPr lang="en-US" altLang="en-US" sz="3200" dirty="0"/>
              <a:t>Abdominal pain</a:t>
            </a:r>
          </a:p>
          <a:p>
            <a:pPr lvl="1"/>
            <a:r>
              <a:rPr lang="en-US" altLang="en-US" sz="3200" dirty="0"/>
              <a:t>Miscarriages or stillbirths </a:t>
            </a:r>
          </a:p>
        </p:txBody>
      </p:sp>
      <p:sp>
        <p:nvSpPr>
          <p:cNvPr id="20484" name="Footer Placeholder 3">
            <a:extLst>
              <a:ext uri="{FF2B5EF4-FFF2-40B4-BE49-F238E27FC236}">
                <a16:creationId xmlns:a16="http://schemas.microsoft.com/office/drawing/2014/main" id="{D688AB56-60D8-4D31-A66F-A01ABF192A5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4050089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B4135CC9-9670-4620-BF3F-B08706A6558D}"/>
              </a:ext>
            </a:extLst>
          </p:cNvPr>
          <p:cNvSpPr>
            <a:spLocks noGrp="1" noChangeArrowheads="1"/>
          </p:cNvSpPr>
          <p:nvPr>
            <p:ph type="title"/>
          </p:nvPr>
        </p:nvSpPr>
        <p:spPr/>
        <p:txBody>
          <a:bodyPr/>
          <a:lstStyle/>
          <a:p>
            <a:r>
              <a:rPr lang="en-US" altLang="en-US" sz="2400" dirty="0"/>
              <a:t>       CDC CHANGED DANGER OF LEAD EXPOSURE SEVERAL TIMES</a:t>
            </a:r>
          </a:p>
        </p:txBody>
      </p:sp>
      <p:sp>
        <p:nvSpPr>
          <p:cNvPr id="17411" name="Content Placeholder 2">
            <a:extLst>
              <a:ext uri="{FF2B5EF4-FFF2-40B4-BE49-F238E27FC236}">
                <a16:creationId xmlns:a16="http://schemas.microsoft.com/office/drawing/2014/main" id="{C45BD8AF-3819-4953-98CD-65DC9A5FF8B4}"/>
              </a:ext>
            </a:extLst>
          </p:cNvPr>
          <p:cNvSpPr>
            <a:spLocks noGrp="1" noChangeArrowheads="1"/>
          </p:cNvSpPr>
          <p:nvPr>
            <p:ph idx="1"/>
          </p:nvPr>
        </p:nvSpPr>
        <p:spPr>
          <a:xfrm>
            <a:off x="812800" y="1755228"/>
            <a:ext cx="10566400" cy="4264572"/>
          </a:xfrm>
        </p:spPr>
        <p:txBody>
          <a:bodyPr/>
          <a:lstStyle/>
          <a:p>
            <a:r>
              <a:rPr lang="en-US" altLang="en-US" sz="2400" dirty="0"/>
              <a:t>In the 1970’s – the max level for children ages 1 to 5 was 15 ug/dl.</a:t>
            </a:r>
          </a:p>
          <a:p>
            <a:r>
              <a:rPr lang="en-US" altLang="en-US" sz="2400" dirty="0"/>
              <a:t>1991 it was reduced to 10 ug/dl.</a:t>
            </a:r>
            <a:endParaRPr lang="en-US" sz="2400" dirty="0">
              <a:solidFill>
                <a:srgbClr val="FFFFFF"/>
              </a:solidFill>
            </a:endParaRPr>
          </a:p>
          <a:p>
            <a:r>
              <a:rPr lang="en-US" sz="2400" b="0" i="0" dirty="0">
                <a:solidFill>
                  <a:srgbClr val="FFFFFF"/>
                </a:solidFill>
                <a:effectLst/>
              </a:rPr>
              <a:t>Oct 28, 2021 — In 2012, it was reduced to 5 micrograms. The new standard announced 2021 is </a:t>
            </a:r>
            <a:r>
              <a:rPr lang="en-US" sz="2400" b="1" i="0" dirty="0">
                <a:solidFill>
                  <a:srgbClr val="BCC0C3"/>
                </a:solidFill>
                <a:effectLst/>
              </a:rPr>
              <a:t>3.5</a:t>
            </a:r>
            <a:r>
              <a:rPr lang="en-US" sz="2400" b="0" i="0" dirty="0">
                <a:solidFill>
                  <a:srgbClr val="FFFFFF"/>
                </a:solidFill>
                <a:effectLst/>
              </a:rPr>
              <a:t> micrograms</a:t>
            </a:r>
            <a:endParaRPr lang="en-US" altLang="en-US" sz="2400" dirty="0"/>
          </a:p>
          <a:p>
            <a:r>
              <a:rPr lang="en-US" altLang="en-US" sz="2400" dirty="0"/>
              <a:t>Any exposure, even at low levels, can cause damage over time.</a:t>
            </a:r>
          </a:p>
          <a:p>
            <a:r>
              <a:rPr lang="en-US" altLang="en-US" sz="2400" dirty="0"/>
              <a:t>In children, prolonged lead exposure can cause irreversible damage, with greater risk to  brain development.</a:t>
            </a:r>
          </a:p>
          <a:p>
            <a:r>
              <a:rPr lang="en-US" altLang="en-US" sz="2400" dirty="0"/>
              <a:t>High lead levels can damage kidneys and nervous systems in both children and adults.</a:t>
            </a:r>
          </a:p>
        </p:txBody>
      </p:sp>
      <p:sp>
        <p:nvSpPr>
          <p:cNvPr id="17412" name="Footer Placeholder 3">
            <a:extLst>
              <a:ext uri="{FF2B5EF4-FFF2-40B4-BE49-F238E27FC236}">
                <a16:creationId xmlns:a16="http://schemas.microsoft.com/office/drawing/2014/main" id="{FEBE4905-A55C-45E2-A0CB-DB217C5771B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dirty="0" err="1">
                <a:solidFill>
                  <a:srgbClr val="000000"/>
                </a:solidFill>
              </a:rPr>
              <a:t>ToxyScreen</a:t>
            </a:r>
            <a:endParaRPr lang="en-US" altLang="en-US" sz="1200" dirty="0">
              <a:solidFill>
                <a:srgbClr val="000000"/>
              </a:solidFill>
            </a:endParaRPr>
          </a:p>
        </p:txBody>
      </p:sp>
    </p:spTree>
    <p:extLst>
      <p:ext uri="{BB962C8B-B14F-4D97-AF65-F5344CB8AC3E}">
        <p14:creationId xmlns:p14="http://schemas.microsoft.com/office/powerpoint/2010/main" val="4029818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81AC189E-E9D0-4D59-9493-DF84A4904D71}"/>
              </a:ext>
            </a:extLst>
          </p:cNvPr>
          <p:cNvSpPr>
            <a:spLocks noGrp="1" noChangeArrowheads="1"/>
          </p:cNvSpPr>
          <p:nvPr>
            <p:ph type="body" idx="1"/>
          </p:nvPr>
        </p:nvSpPr>
        <p:spPr>
          <a:xfrm>
            <a:off x="2209800" y="1524000"/>
            <a:ext cx="7620000" cy="3810000"/>
          </a:xfrm>
        </p:spPr>
        <p:txBody>
          <a:bodyPr/>
          <a:lstStyle/>
          <a:p>
            <a:pPr algn="ctr" eaLnBrk="1" hangingPunct="1">
              <a:defRPr/>
            </a:pPr>
            <a:endParaRPr lang="en-US" altLang="en-US" sz="4400" dirty="0">
              <a:solidFill>
                <a:srgbClr val="0033CC"/>
              </a:solidFill>
            </a:endParaRPr>
          </a:p>
          <a:p>
            <a:pPr marL="0" indent="0" algn="ctr" eaLnBrk="1" hangingPunct="1">
              <a:buNone/>
              <a:defRPr/>
            </a:pPr>
            <a:endParaRPr lang="en-US" altLang="en-US" sz="4400" dirty="0"/>
          </a:p>
        </p:txBody>
      </p:sp>
      <p:sp>
        <p:nvSpPr>
          <p:cNvPr id="8195" name="Footer Placeholder 3">
            <a:extLst>
              <a:ext uri="{FF2B5EF4-FFF2-40B4-BE49-F238E27FC236}">
                <a16:creationId xmlns:a16="http://schemas.microsoft.com/office/drawing/2014/main" id="{30E084C0-ECC8-45ED-9CBE-1D9064B6B8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
        <p:nvSpPr>
          <p:cNvPr id="6" name="TextBox 5">
            <a:extLst>
              <a:ext uri="{FF2B5EF4-FFF2-40B4-BE49-F238E27FC236}">
                <a16:creationId xmlns:a16="http://schemas.microsoft.com/office/drawing/2014/main" id="{2B535552-60BB-4B93-9E97-05E249CB3DDA}"/>
              </a:ext>
            </a:extLst>
          </p:cNvPr>
          <p:cNvSpPr txBox="1"/>
          <p:nvPr/>
        </p:nvSpPr>
        <p:spPr>
          <a:xfrm>
            <a:off x="692458" y="1589103"/>
            <a:ext cx="10466773" cy="4623382"/>
          </a:xfrm>
          <a:prstGeom prst="rect">
            <a:avLst/>
          </a:prstGeom>
          <a:noFill/>
        </p:spPr>
        <p:txBody>
          <a:bodyPr wrap="square">
            <a:spAutoFit/>
          </a:bodyPr>
          <a:lstStyle/>
          <a:p>
            <a:pPr marL="0" marR="0" algn="ctr">
              <a:lnSpc>
                <a:spcPct val="107000"/>
              </a:lnSpc>
              <a:spcBef>
                <a:spcPts val="0"/>
              </a:spcBef>
              <a:spcAft>
                <a:spcPts val="800"/>
              </a:spcAft>
            </a:pPr>
            <a:r>
              <a:rPr lang="en-US" sz="3200" dirty="0">
                <a:effectLst/>
                <a:ea typeface="Calibri" panose="020F0502020204030204" pitchFamily="34" charset="0"/>
                <a:cs typeface="Times New Roman" panose="02020603050405020304" pitchFamily="18" charset="0"/>
              </a:rPr>
              <a:t>HOW MANY CHILDREN ARE THERE WITH LEAD POISINING ISSUES IN THE UNITED STATES ?</a:t>
            </a:r>
            <a:endParaRPr lang="en-US" sz="3200" dirty="0">
              <a:effectLst/>
              <a:latin typeface="Georgia" panose="02040502050405020303"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  </a:t>
            </a:r>
            <a:r>
              <a:rPr lang="en-US" sz="4400" dirty="0">
                <a:effectLst/>
                <a:ea typeface="Calibri" panose="020F0502020204030204" pitchFamily="34" charset="0"/>
                <a:cs typeface="Times New Roman" panose="02020603050405020304" pitchFamily="18" charset="0"/>
              </a:rPr>
              <a:t>WE REALLY DON’T KNOW !!!!!</a:t>
            </a:r>
          </a:p>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If you don’t test, you never really know,” said Joel Schwartz, an epidemiologist at Harvard University’s school of public health. “You might think you don’t have a problem, and you might be wrong.”                        </a:t>
            </a:r>
            <a:r>
              <a:rPr lang="en-US" sz="2400" dirty="0">
                <a:ea typeface="Calibri" panose="020F0502020204030204" pitchFamily="34" charset="0"/>
                <a:cs typeface="Times New Roman" panose="02020603050405020304" pitchFamily="18" charset="0"/>
              </a:rPr>
              <a:t> </a:t>
            </a:r>
          </a:p>
          <a:p>
            <a:pPr marL="0" marR="0" algn="ctr">
              <a:lnSpc>
                <a:spcPct val="107000"/>
              </a:lnSpc>
              <a:spcBef>
                <a:spcPts val="0"/>
              </a:spcBef>
              <a:spcAft>
                <a:spcPts val="800"/>
              </a:spcAft>
            </a:pPr>
            <a:r>
              <a:rPr lang="en-US" sz="2400" dirty="0">
                <a:ea typeface="Calibri" panose="020F0502020204030204" pitchFamily="34" charset="0"/>
                <a:cs typeface="Times New Roman" panose="02020603050405020304" pitchFamily="18" charset="0"/>
              </a:rPr>
              <a:t>NO COMPREHENSIVE TESTING, NO IDEA HOW MUCH OF A PROBLEM THERE IS</a:t>
            </a:r>
          </a:p>
          <a:p>
            <a:pPr marL="0" marR="0">
              <a:lnSpc>
                <a:spcPct val="107000"/>
              </a:lnSpc>
              <a:spcBef>
                <a:spcPts val="0"/>
              </a:spcBef>
              <a:spcAft>
                <a:spcPts val="800"/>
              </a:spcAft>
            </a:pPr>
            <a:endParaRPr lang="en-US" sz="2400" dirty="0">
              <a:effectLst/>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5F8ACE3A-280C-4BC0-91F9-1E1B4AFE7F34}"/>
              </a:ext>
            </a:extLst>
          </p:cNvPr>
          <p:cNvSpPr txBox="1"/>
          <p:nvPr/>
        </p:nvSpPr>
        <p:spPr>
          <a:xfrm>
            <a:off x="573933" y="152399"/>
            <a:ext cx="9776298" cy="830997"/>
          </a:xfrm>
          <a:prstGeom prst="rect">
            <a:avLst/>
          </a:prstGeom>
          <a:noFill/>
        </p:spPr>
        <p:txBody>
          <a:bodyPr wrap="square">
            <a:spAutoFit/>
          </a:bodyPr>
          <a:lstStyle/>
          <a:p>
            <a:pPr algn="ctr"/>
            <a:r>
              <a:rPr lang="en-US" altLang="en-US" sz="1800" dirty="0">
                <a:solidFill>
                  <a:srgbClr val="0033CC"/>
                </a:solidFill>
              </a:rPr>
              <a:t> </a:t>
            </a:r>
            <a:r>
              <a:rPr lang="en-US" altLang="en-US" sz="2400" dirty="0">
                <a:solidFill>
                  <a:srgbClr val="0033CC"/>
                </a:solidFill>
              </a:rPr>
              <a:t>THE SOLUTION TO WHY SO MANY CHILDREN MANDATED BY LAW TO GET TESTED FOR LEAD AREN’T BEING TESTED</a:t>
            </a:r>
            <a:endParaRPr lang="en-US" sz="2400" dirty="0"/>
          </a:p>
        </p:txBody>
      </p:sp>
    </p:spTree>
    <p:extLst>
      <p:ext uri="{BB962C8B-B14F-4D97-AF65-F5344CB8AC3E}">
        <p14:creationId xmlns:p14="http://schemas.microsoft.com/office/powerpoint/2010/main" val="63786820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8AA5F99-9C32-4D66-B015-503348BBB33F}"/>
              </a:ext>
            </a:extLst>
          </p:cNvPr>
          <p:cNvSpPr>
            <a:spLocks noGrp="1" noChangeArrowheads="1"/>
          </p:cNvSpPr>
          <p:nvPr>
            <p:ph type="title"/>
          </p:nvPr>
        </p:nvSpPr>
        <p:spPr/>
        <p:txBody>
          <a:bodyPr/>
          <a:lstStyle/>
          <a:p>
            <a:pPr algn="ctr" eaLnBrk="1" hangingPunct="1"/>
            <a:r>
              <a:rPr lang="en-US" altLang="en-US" sz="2800" dirty="0"/>
              <a:t>           WHAT DO WE KNOW ABOUT STATE LEAD TESTING MANDATES AND THEIR RESULTS</a:t>
            </a:r>
          </a:p>
        </p:txBody>
      </p:sp>
      <p:sp>
        <p:nvSpPr>
          <p:cNvPr id="10243" name="Rectangle 3">
            <a:extLst>
              <a:ext uri="{FF2B5EF4-FFF2-40B4-BE49-F238E27FC236}">
                <a16:creationId xmlns:a16="http://schemas.microsoft.com/office/drawing/2014/main" id="{A4247C57-8876-40C3-83DB-E445DBD40765}"/>
              </a:ext>
            </a:extLst>
          </p:cNvPr>
          <p:cNvSpPr>
            <a:spLocks noGrp="1" noChangeArrowheads="1"/>
          </p:cNvSpPr>
          <p:nvPr>
            <p:ph type="body" idx="1"/>
          </p:nvPr>
        </p:nvSpPr>
        <p:spPr/>
        <p:txBody>
          <a:bodyPr/>
          <a:lstStyle/>
          <a:p>
            <a:pPr marL="0" indent="0" eaLnBrk="1" hangingPunct="1">
              <a:buNone/>
            </a:pPr>
            <a:r>
              <a:rPr lang="en-US" sz="1800" dirty="0">
                <a:latin typeface="Georgia" panose="02040502050405020303" pitchFamily="18" charset="0"/>
                <a:ea typeface="Times New Roman" panose="02020603050405020304" pitchFamily="18" charset="0"/>
              </a:rPr>
              <a:t>                                                                 </a:t>
            </a:r>
            <a:r>
              <a:rPr lang="en-US" sz="2800" dirty="0">
                <a:ea typeface="Times New Roman" panose="02020603050405020304" pitchFamily="18" charset="0"/>
              </a:rPr>
              <a:t>MANDATES</a:t>
            </a:r>
          </a:p>
          <a:p>
            <a:pPr eaLnBrk="1" hangingPunct="1"/>
            <a:r>
              <a:rPr lang="en-US" sz="1800" dirty="0">
                <a:effectLst/>
                <a:ea typeface="Times New Roman" panose="02020603050405020304" pitchFamily="18" charset="0"/>
              </a:rPr>
              <a:t>Blood lead tests are mandated for all children in 11 U.S. states and Washington, DC. In addition, Medicaid requires that the one-third of all U.S. children enrolled in the program, which provides health care for low-income and disabled people, be tested at ages one and two. Some other states mandate tests for all children in areas with exposure risks, such as housing with lead paint or lead-tainted soil.</a:t>
            </a:r>
            <a:endParaRPr lang="en-US" sz="1800" dirty="0">
              <a:effectLst/>
              <a:latin typeface="Georgia" panose="02040502050405020303" pitchFamily="18" charset="0"/>
              <a:ea typeface="Times New Roman" panose="02020603050405020304" pitchFamily="18" charset="0"/>
            </a:endParaRPr>
          </a:p>
          <a:p>
            <a:pPr marL="0" indent="0" eaLnBrk="1" hangingPunct="1">
              <a:buNone/>
            </a:pPr>
            <a:r>
              <a:rPr lang="en-US" sz="1800" dirty="0">
                <a:effectLst/>
                <a:latin typeface="Georgia" panose="02040502050405020303" pitchFamily="18" charset="0"/>
                <a:ea typeface="Times New Roman" panose="02020603050405020304" pitchFamily="18" charset="0"/>
              </a:rPr>
              <a:t>                                                                  </a:t>
            </a:r>
            <a:r>
              <a:rPr lang="en-US" sz="2800" dirty="0">
                <a:effectLst/>
                <a:ea typeface="Times New Roman" panose="02020603050405020304" pitchFamily="18" charset="0"/>
              </a:rPr>
              <a:t> RESULTS</a:t>
            </a:r>
          </a:p>
          <a:p>
            <a:pPr eaLnBrk="1" hangingPunct="1"/>
            <a:r>
              <a:rPr lang="en-US" sz="1800" dirty="0">
                <a:effectLst/>
                <a:ea typeface="Times New Roman" panose="02020603050405020304" pitchFamily="18" charset="0"/>
              </a:rPr>
              <a:t>In a review of data in nearly a dozen U.S. states, Reuters found just 41 percent of Medicaid-enrolled one- and two-year-</a:t>
            </a:r>
            <a:r>
              <a:rPr lang="en-US" sz="1800" dirty="0" err="1">
                <a:effectLst/>
                <a:ea typeface="Times New Roman" panose="02020603050405020304" pitchFamily="18" charset="0"/>
              </a:rPr>
              <a:t>olds</a:t>
            </a:r>
            <a:r>
              <a:rPr lang="en-US" sz="1800" dirty="0">
                <a:effectLst/>
                <a:ea typeface="Times New Roman" panose="02020603050405020304" pitchFamily="18" charset="0"/>
              </a:rPr>
              <a:t> had been tested as required. And in some states requiring tests, more than half the children were missing a test.</a:t>
            </a:r>
          </a:p>
          <a:p>
            <a:pPr eaLnBrk="1" hangingPunct="1"/>
            <a:endParaRPr lang="en-US" sz="1800" dirty="0">
              <a:effectLst/>
              <a:latin typeface="Georgia" panose="02040502050405020303" pitchFamily="18" charset="0"/>
              <a:ea typeface="Times New Roman" panose="02020603050405020304" pitchFamily="18" charset="0"/>
            </a:endParaRPr>
          </a:p>
          <a:p>
            <a:pPr marL="0" indent="0" eaLnBrk="1" hangingPunct="1">
              <a:buNone/>
            </a:pPr>
            <a:r>
              <a:rPr lang="en-US" sz="1800" dirty="0">
                <a:latin typeface="Georgia" panose="02040502050405020303" pitchFamily="18" charset="0"/>
                <a:ea typeface="Times New Roman" panose="02020603050405020304" pitchFamily="18" charset="0"/>
              </a:rPr>
              <a:t>            </a:t>
            </a:r>
            <a:r>
              <a:rPr lang="en-US" sz="1800" dirty="0">
                <a:ea typeface="Times New Roman" panose="02020603050405020304" pitchFamily="18" charset="0"/>
              </a:rPr>
              <a:t>LESS THAN HALF OF THE CHILDREN NEEDING TESTING ARE GETTING TESTED</a:t>
            </a:r>
          </a:p>
          <a:p>
            <a:pPr eaLnBrk="1" hangingPunct="1"/>
            <a:endParaRPr lang="en-US" sz="1800" dirty="0">
              <a:effectLst/>
              <a:latin typeface="Times New Roman" panose="02020603050405020304" pitchFamily="18" charset="0"/>
              <a:ea typeface="Times New Roman" panose="02020603050405020304" pitchFamily="18" charset="0"/>
            </a:endParaRPr>
          </a:p>
          <a:p>
            <a:pPr marL="0" indent="0" eaLnBrk="1" hangingPunct="1">
              <a:buNone/>
            </a:pPr>
            <a:endParaRPr lang="en-US" altLang="en-US" dirty="0"/>
          </a:p>
        </p:txBody>
      </p:sp>
      <p:sp>
        <p:nvSpPr>
          <p:cNvPr id="10244" name="Footer Placeholder 3">
            <a:extLst>
              <a:ext uri="{FF2B5EF4-FFF2-40B4-BE49-F238E27FC236}">
                <a16:creationId xmlns:a16="http://schemas.microsoft.com/office/drawing/2014/main" id="{1B9580C4-BF28-410F-B89B-49C26E8D1E6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dirty="0" err="1">
                <a:solidFill>
                  <a:srgbClr val="000000"/>
                </a:solidFill>
              </a:rPr>
              <a:t>ToxyScreen</a:t>
            </a:r>
            <a:endParaRPr lang="en-US" altLang="en-US" sz="1200" dirty="0">
              <a:solidFill>
                <a:srgbClr val="000000"/>
              </a:solidFill>
            </a:endParaRPr>
          </a:p>
        </p:txBody>
      </p:sp>
    </p:spTree>
    <p:extLst>
      <p:ext uri="{BB962C8B-B14F-4D97-AF65-F5344CB8AC3E}">
        <p14:creationId xmlns:p14="http://schemas.microsoft.com/office/powerpoint/2010/main" val="437426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8AA5F99-9C32-4D66-B015-503348BBB33F}"/>
              </a:ext>
            </a:extLst>
          </p:cNvPr>
          <p:cNvSpPr>
            <a:spLocks noGrp="1" noChangeArrowheads="1"/>
          </p:cNvSpPr>
          <p:nvPr>
            <p:ph type="title"/>
          </p:nvPr>
        </p:nvSpPr>
        <p:spPr/>
        <p:txBody>
          <a:bodyPr/>
          <a:lstStyle/>
          <a:p>
            <a:pPr eaLnBrk="1" hangingPunct="1"/>
            <a:r>
              <a:rPr lang="en-US" sz="2000" dirty="0">
                <a:solidFill>
                  <a:srgbClr val="FFFFFF"/>
                </a:solidFill>
                <a:effectLst/>
                <a:latin typeface="+mn-lt"/>
                <a:ea typeface="Calibri" panose="020F0502020204030204" pitchFamily="34" charset="0"/>
                <a:cs typeface="Times New Roman" panose="02020603050405020304" pitchFamily="18" charset="0"/>
              </a:rPr>
              <a:t>Many states and Medicaid rules require blood lead tests for young children, but millions are falling through this safety net, leaving them vulnerable to poisoning ………..WHY……..</a:t>
            </a:r>
            <a:endParaRPr lang="en-US" altLang="en-US" sz="2000" dirty="0">
              <a:latin typeface="+mn-lt"/>
            </a:endParaRPr>
          </a:p>
        </p:txBody>
      </p:sp>
      <p:sp>
        <p:nvSpPr>
          <p:cNvPr id="10243" name="Rectangle 3">
            <a:extLst>
              <a:ext uri="{FF2B5EF4-FFF2-40B4-BE49-F238E27FC236}">
                <a16:creationId xmlns:a16="http://schemas.microsoft.com/office/drawing/2014/main" id="{A4247C57-8876-40C3-83DB-E445DBD40765}"/>
              </a:ext>
            </a:extLst>
          </p:cNvPr>
          <p:cNvSpPr>
            <a:spLocks noGrp="1" noChangeArrowheads="1"/>
          </p:cNvSpPr>
          <p:nvPr>
            <p:ph type="body" idx="1"/>
          </p:nvPr>
        </p:nvSpPr>
        <p:spPr/>
        <p:txBody>
          <a:bodyPr/>
          <a:lstStyle/>
          <a:p>
            <a:pPr eaLnBrk="1" hangingPunct="1"/>
            <a:r>
              <a:rPr lang="en-US" altLang="en-US" sz="2000" dirty="0"/>
              <a:t>DIFFICULT TO GET CHILDREN THAT NEED TO BE TESTED TO THE FACILITIES THAT OFFER TESTING….DISTANCE….TRAVEL……TIME…..UNDERSTANDING</a:t>
            </a:r>
          </a:p>
          <a:p>
            <a:pPr eaLnBrk="1" hangingPunct="1"/>
            <a:r>
              <a:rPr lang="en-US" altLang="en-US" sz="2000" dirty="0"/>
              <a:t>INVASIVE …CREATES FEAR AND ANXIETY JALM SURVEY  IDENTIFIED 68% OF CHILDREN AFRAID WITH STRESS AND ANXIETY OF BLOOD DRAW AND 63% OF PARENTS.. ADDITIONAL ISSUES INCLUDE OF FINDING VEINS,,,FINGER TIP ISSUES…..HEAL OF INFANT (DERMAL Puncture)</a:t>
            </a:r>
          </a:p>
          <a:p>
            <a:pPr eaLnBrk="1" hangingPunct="1"/>
            <a:r>
              <a:rPr lang="en-US" altLang="en-US" sz="2000" dirty="0"/>
              <a:t>MEDICAL WASTE …SYRINGES,NEEDLES, BLOOD VIALS, BANDAGES OR DRESSINGS WITH BLOOD STAINS …ALL WASTE MUST BE DISCARDED BY SPECIALIZED MEANS CREATING HIGHER COST</a:t>
            </a:r>
          </a:p>
          <a:p>
            <a:pPr eaLnBrk="1" hangingPunct="1"/>
            <a:r>
              <a:rPr lang="en-US" altLang="en-US" sz="2000" dirty="0"/>
              <a:t>NEED SKILLED TECHNICIAN FOR PROCESS</a:t>
            </a:r>
          </a:p>
          <a:p>
            <a:pPr eaLnBrk="1" hangingPunct="1"/>
            <a:r>
              <a:rPr lang="en-US" altLang="en-US" sz="2000" dirty="0"/>
              <a:t>HIGHER RISK OF INFECTION OR CROSS CONTAMINATION</a:t>
            </a:r>
          </a:p>
          <a:p>
            <a:pPr eaLnBrk="1" hangingPunct="1"/>
            <a:r>
              <a:rPr lang="en-US" altLang="en-US" sz="2000" dirty="0"/>
              <a:t>INTEGRITY OF SAMPLES BASED ON HANDLING AND TESTING PROCEDURES</a:t>
            </a:r>
          </a:p>
          <a:p>
            <a:pPr eaLnBrk="1" hangingPunct="1"/>
            <a:endParaRPr lang="en-US" altLang="en-US" sz="2000" dirty="0"/>
          </a:p>
          <a:p>
            <a:pPr eaLnBrk="1" hangingPunct="1"/>
            <a:endParaRPr lang="en-US" altLang="en-US" sz="2000" dirty="0"/>
          </a:p>
        </p:txBody>
      </p:sp>
      <p:sp>
        <p:nvSpPr>
          <p:cNvPr id="10244" name="Footer Placeholder 3">
            <a:extLst>
              <a:ext uri="{FF2B5EF4-FFF2-40B4-BE49-F238E27FC236}">
                <a16:creationId xmlns:a16="http://schemas.microsoft.com/office/drawing/2014/main" id="{1B9580C4-BF28-410F-B89B-49C26E8D1E6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1463464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8AA5F99-9C32-4D66-B015-503348BBB33F}"/>
              </a:ext>
            </a:extLst>
          </p:cNvPr>
          <p:cNvSpPr>
            <a:spLocks noGrp="1" noChangeArrowheads="1"/>
          </p:cNvSpPr>
          <p:nvPr>
            <p:ph type="title"/>
          </p:nvPr>
        </p:nvSpPr>
        <p:spPr/>
        <p:txBody>
          <a:bodyPr/>
          <a:lstStyle/>
          <a:p>
            <a:pPr eaLnBrk="1" hangingPunct="1"/>
            <a:r>
              <a:rPr lang="en-US" altLang="en-US" sz="2000" dirty="0">
                <a:latin typeface="+mn-lt"/>
              </a:rPr>
              <a:t>                                    </a:t>
            </a:r>
            <a:r>
              <a:rPr lang="en-US" altLang="en-US" sz="2800" dirty="0">
                <a:latin typeface="+mn-lt"/>
              </a:rPr>
              <a:t>WHY </a:t>
            </a:r>
            <a:r>
              <a:rPr lang="en-US" altLang="en-US" sz="2800" dirty="0" err="1">
                <a:latin typeface="+mn-lt"/>
              </a:rPr>
              <a:t>TOXYScreen</a:t>
            </a:r>
            <a:r>
              <a:rPr lang="en-US" altLang="en-US" sz="2800" dirty="0">
                <a:latin typeface="+mn-lt"/>
              </a:rPr>
              <a:t> IS THE SOLUTION</a:t>
            </a:r>
          </a:p>
        </p:txBody>
      </p:sp>
      <p:sp>
        <p:nvSpPr>
          <p:cNvPr id="10243" name="Rectangle 3">
            <a:extLst>
              <a:ext uri="{FF2B5EF4-FFF2-40B4-BE49-F238E27FC236}">
                <a16:creationId xmlns:a16="http://schemas.microsoft.com/office/drawing/2014/main" id="{A4247C57-8876-40C3-83DB-E445DBD40765}"/>
              </a:ext>
            </a:extLst>
          </p:cNvPr>
          <p:cNvSpPr>
            <a:spLocks noGrp="1" noChangeArrowheads="1"/>
          </p:cNvSpPr>
          <p:nvPr>
            <p:ph type="body" idx="1"/>
          </p:nvPr>
        </p:nvSpPr>
        <p:spPr/>
        <p:txBody>
          <a:bodyPr/>
          <a:lstStyle/>
          <a:p>
            <a:pPr eaLnBrk="1" hangingPunct="1"/>
            <a:r>
              <a:rPr lang="en-US" altLang="en-US" sz="2400" dirty="0"/>
              <a:t>NON-INVASIVE EASE OF COLLECTION….. SCREENING CAN BE PERFORMED ANYWHERE, SCHOOLS, RECREATION CENTERS, OUTDOORS ……anywhere!!!!</a:t>
            </a:r>
          </a:p>
          <a:p>
            <a:pPr eaLnBrk="1" hangingPunct="1"/>
            <a:r>
              <a:rPr lang="en-US" altLang="en-US" sz="2400" dirty="0"/>
              <a:t>NO SPECIACIZED SKILLLS FOR COLLECTION</a:t>
            </a:r>
          </a:p>
          <a:p>
            <a:pPr eaLnBrk="1" hangingPunct="1"/>
            <a:r>
              <a:rPr lang="en-US" altLang="en-US" sz="2400" dirty="0"/>
              <a:t>ELIMINATION OF FEAR AND ANXIETY……</a:t>
            </a:r>
          </a:p>
          <a:p>
            <a:pPr eaLnBrk="1" hangingPunct="1"/>
            <a:r>
              <a:rPr lang="en-US" altLang="en-US" sz="2400" dirty="0"/>
              <a:t>NO NEEDLES, NO MEDICAL WASTE NEEDING SPECIAL HANDLING FOR DISGARDING, </a:t>
            </a:r>
          </a:p>
          <a:p>
            <a:pPr eaLnBrk="1" hangingPunct="1"/>
            <a:r>
              <a:rPr lang="en-US" altLang="en-US" sz="2400" dirty="0"/>
              <a:t>LOWER COST OF SAMPLE COLLECTION</a:t>
            </a:r>
          </a:p>
          <a:p>
            <a:pPr eaLnBrk="1" hangingPunct="1"/>
            <a:r>
              <a:rPr lang="en-US" altLang="en-US" sz="2400" dirty="0"/>
              <a:t>REDUCED RISK OF INFECTION OR CROSS CONTAMINATION</a:t>
            </a:r>
          </a:p>
          <a:p>
            <a:pPr eaLnBrk="1" hangingPunct="1"/>
            <a:r>
              <a:rPr lang="en-US" altLang="en-US" sz="2400" dirty="0"/>
              <a:t>SAMPLE INTEGRITY SHIPPING SECURE CONTAINER SHELF LIFE 1 YEAR</a:t>
            </a:r>
          </a:p>
          <a:p>
            <a:pPr eaLnBrk="1" hangingPunct="1"/>
            <a:endParaRPr lang="en-US" altLang="en-US" sz="2400" dirty="0"/>
          </a:p>
          <a:p>
            <a:pPr eaLnBrk="1" hangingPunct="1"/>
            <a:endParaRPr lang="en-US" altLang="en-US" sz="2400" dirty="0"/>
          </a:p>
        </p:txBody>
      </p:sp>
      <p:sp>
        <p:nvSpPr>
          <p:cNvPr id="10244" name="Footer Placeholder 3">
            <a:extLst>
              <a:ext uri="{FF2B5EF4-FFF2-40B4-BE49-F238E27FC236}">
                <a16:creationId xmlns:a16="http://schemas.microsoft.com/office/drawing/2014/main" id="{1B9580C4-BF28-410F-B89B-49C26E8D1E6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2065227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8AA5F99-9C32-4D66-B015-503348BBB33F}"/>
              </a:ext>
            </a:extLst>
          </p:cNvPr>
          <p:cNvSpPr>
            <a:spLocks noGrp="1" noChangeArrowheads="1"/>
          </p:cNvSpPr>
          <p:nvPr>
            <p:ph type="title"/>
          </p:nvPr>
        </p:nvSpPr>
        <p:spPr>
          <a:xfrm>
            <a:off x="435164" y="152400"/>
            <a:ext cx="10687049" cy="914400"/>
          </a:xfrm>
        </p:spPr>
        <p:txBody>
          <a:bodyPr/>
          <a:lstStyle/>
          <a:p>
            <a:pPr algn="ctr" eaLnBrk="1" hangingPunct="1"/>
            <a:r>
              <a:rPr lang="en-US" altLang="en-US" dirty="0"/>
              <a:t>WHAT ABOUT ACCURACY ?</a:t>
            </a:r>
          </a:p>
        </p:txBody>
      </p:sp>
      <p:sp>
        <p:nvSpPr>
          <p:cNvPr id="10243" name="Rectangle 3">
            <a:extLst>
              <a:ext uri="{FF2B5EF4-FFF2-40B4-BE49-F238E27FC236}">
                <a16:creationId xmlns:a16="http://schemas.microsoft.com/office/drawing/2014/main" id="{A4247C57-8876-40C3-83DB-E445DBD40765}"/>
              </a:ext>
            </a:extLst>
          </p:cNvPr>
          <p:cNvSpPr>
            <a:spLocks noGrp="1" noChangeArrowheads="1"/>
          </p:cNvSpPr>
          <p:nvPr>
            <p:ph type="body" idx="1"/>
          </p:nvPr>
        </p:nvSpPr>
        <p:spPr/>
        <p:txBody>
          <a:bodyPr/>
          <a:lstStyle/>
          <a:p>
            <a:pPr eaLnBrk="1" hangingPunct="1"/>
            <a:r>
              <a:rPr lang="en-US" altLang="en-US" sz="8000" dirty="0"/>
              <a:t>BLOOD 94.7%</a:t>
            </a:r>
          </a:p>
          <a:p>
            <a:pPr eaLnBrk="1" hangingPunct="1"/>
            <a:r>
              <a:rPr lang="en-US" altLang="en-US" sz="8000" dirty="0" err="1"/>
              <a:t>TOXYScreen</a:t>
            </a:r>
            <a:r>
              <a:rPr lang="en-US" altLang="en-US" sz="8000" dirty="0"/>
              <a:t> 99.1%</a:t>
            </a:r>
          </a:p>
          <a:p>
            <a:pPr eaLnBrk="1" hangingPunct="1"/>
            <a:endParaRPr lang="en-US" altLang="en-US" dirty="0"/>
          </a:p>
        </p:txBody>
      </p:sp>
      <p:sp>
        <p:nvSpPr>
          <p:cNvPr id="10244" name="Footer Placeholder 3">
            <a:extLst>
              <a:ext uri="{FF2B5EF4-FFF2-40B4-BE49-F238E27FC236}">
                <a16:creationId xmlns:a16="http://schemas.microsoft.com/office/drawing/2014/main" id="{1B9580C4-BF28-410F-B89B-49C26E8D1E6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3016384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8AA5F99-9C32-4D66-B015-503348BBB33F}"/>
              </a:ext>
            </a:extLst>
          </p:cNvPr>
          <p:cNvSpPr>
            <a:spLocks noGrp="1" noChangeArrowheads="1"/>
          </p:cNvSpPr>
          <p:nvPr>
            <p:ph type="title"/>
          </p:nvPr>
        </p:nvSpPr>
        <p:spPr/>
        <p:txBody>
          <a:bodyPr/>
          <a:lstStyle/>
          <a:p>
            <a:pPr algn="ctr" eaLnBrk="1" hangingPunct="1"/>
            <a:r>
              <a:rPr lang="en-US" altLang="en-US" dirty="0"/>
              <a:t> BENEFITS OF THE </a:t>
            </a:r>
            <a:r>
              <a:rPr lang="en-US" altLang="en-US" dirty="0" err="1"/>
              <a:t>TOXYScreen</a:t>
            </a:r>
            <a:r>
              <a:rPr lang="en-US" altLang="en-US" dirty="0"/>
              <a:t> SOLUTION</a:t>
            </a:r>
          </a:p>
        </p:txBody>
      </p:sp>
      <p:sp>
        <p:nvSpPr>
          <p:cNvPr id="10243" name="Rectangle 3">
            <a:extLst>
              <a:ext uri="{FF2B5EF4-FFF2-40B4-BE49-F238E27FC236}">
                <a16:creationId xmlns:a16="http://schemas.microsoft.com/office/drawing/2014/main" id="{A4247C57-8876-40C3-83DB-E445DBD40765}"/>
              </a:ext>
            </a:extLst>
          </p:cNvPr>
          <p:cNvSpPr>
            <a:spLocks noGrp="1" noChangeArrowheads="1"/>
          </p:cNvSpPr>
          <p:nvPr>
            <p:ph type="body" idx="1"/>
          </p:nvPr>
        </p:nvSpPr>
        <p:spPr/>
        <p:txBody>
          <a:bodyPr/>
          <a:lstStyle/>
          <a:p>
            <a:pPr eaLnBrk="1" hangingPunct="1"/>
            <a:r>
              <a:rPr lang="en-US" altLang="en-US" dirty="0"/>
              <a:t>SCREENING CAN GO TO THE DONORS ….NO RESTRICTIONS</a:t>
            </a:r>
          </a:p>
          <a:p>
            <a:pPr eaLnBrk="1" hangingPunct="1"/>
            <a:r>
              <a:rPr lang="en-US" altLang="en-US" dirty="0"/>
              <a:t>EASE OF COLLECTION</a:t>
            </a:r>
          </a:p>
          <a:p>
            <a:pPr eaLnBrk="1" hangingPunct="1"/>
            <a:r>
              <a:rPr lang="en-US" altLang="en-US" dirty="0"/>
              <a:t>COST EFFECTIVE</a:t>
            </a:r>
          </a:p>
          <a:p>
            <a:pPr eaLnBrk="1" hangingPunct="1"/>
            <a:r>
              <a:rPr lang="en-US" altLang="en-US" dirty="0"/>
              <a:t>MORE ACCURATE </a:t>
            </a:r>
          </a:p>
        </p:txBody>
      </p:sp>
      <p:sp>
        <p:nvSpPr>
          <p:cNvPr id="10244" name="Footer Placeholder 3">
            <a:extLst>
              <a:ext uri="{FF2B5EF4-FFF2-40B4-BE49-F238E27FC236}">
                <a16:creationId xmlns:a16="http://schemas.microsoft.com/office/drawing/2014/main" id="{1B9580C4-BF28-410F-B89B-49C26E8D1E6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3126783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EFC09BD4-A343-46EC-B0B6-D0209D1DEAF8}"/>
              </a:ext>
            </a:extLst>
          </p:cNvPr>
          <p:cNvSpPr>
            <a:spLocks noGrp="1" noChangeArrowheads="1"/>
          </p:cNvSpPr>
          <p:nvPr>
            <p:ph type="title"/>
          </p:nvPr>
        </p:nvSpPr>
        <p:spPr/>
        <p:txBody>
          <a:bodyPr/>
          <a:lstStyle/>
          <a:p>
            <a:pPr algn="ctr"/>
            <a:r>
              <a:rPr lang="en-US" altLang="en-US" dirty="0"/>
              <a:t>Testing Value History</a:t>
            </a:r>
          </a:p>
        </p:txBody>
      </p:sp>
      <p:sp>
        <p:nvSpPr>
          <p:cNvPr id="22531" name="Content Placeholder 2">
            <a:extLst>
              <a:ext uri="{FF2B5EF4-FFF2-40B4-BE49-F238E27FC236}">
                <a16:creationId xmlns:a16="http://schemas.microsoft.com/office/drawing/2014/main" id="{19ED21B8-02FA-42F8-856D-4A7846F66558}"/>
              </a:ext>
            </a:extLst>
          </p:cNvPr>
          <p:cNvSpPr>
            <a:spLocks noGrp="1" noChangeArrowheads="1"/>
          </p:cNvSpPr>
          <p:nvPr>
            <p:ph idx="1"/>
          </p:nvPr>
        </p:nvSpPr>
        <p:spPr>
          <a:xfrm>
            <a:off x="690664" y="1447800"/>
            <a:ext cx="9367736" cy="4572000"/>
          </a:xfrm>
        </p:spPr>
        <p:txBody>
          <a:bodyPr/>
          <a:lstStyle/>
          <a:p>
            <a:r>
              <a:rPr lang="en-US" altLang="en-US" dirty="0"/>
              <a:t>In the 1970’s – the max level for children ages 1 to 5 was 15 ug/dl.</a:t>
            </a:r>
          </a:p>
          <a:p>
            <a:r>
              <a:rPr lang="en-US" altLang="en-US" dirty="0"/>
              <a:t>1991 it was reduced to 10 ug/dl.</a:t>
            </a:r>
          </a:p>
          <a:p>
            <a:r>
              <a:rPr lang="en-US" altLang="en-US" dirty="0"/>
              <a:t>2012 it was reduced to 5 ug/dl.</a:t>
            </a:r>
          </a:p>
          <a:p>
            <a:r>
              <a:rPr lang="en-US" altLang="en-US" dirty="0"/>
              <a:t>October 2021,the standard became 3.5 ug/dl, after continued scientific evidence shows that any small amounts of lead can affect intellectual development.</a:t>
            </a:r>
          </a:p>
        </p:txBody>
      </p:sp>
      <p:sp>
        <p:nvSpPr>
          <p:cNvPr id="22532" name="Footer Placeholder 3">
            <a:extLst>
              <a:ext uri="{FF2B5EF4-FFF2-40B4-BE49-F238E27FC236}">
                <a16:creationId xmlns:a16="http://schemas.microsoft.com/office/drawing/2014/main" id="{F1148BDA-828B-4F2F-818C-66528A4021E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3279269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A1D492D6-2022-4FBE-86C9-808A5D306935}"/>
              </a:ext>
            </a:extLst>
          </p:cNvPr>
          <p:cNvSpPr>
            <a:spLocks noGrp="1" noChangeArrowheads="1"/>
          </p:cNvSpPr>
          <p:nvPr>
            <p:ph type="body" idx="1"/>
          </p:nvPr>
        </p:nvSpPr>
        <p:spPr/>
        <p:txBody>
          <a:bodyPr/>
          <a:lstStyle/>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a:p>
          <a:p>
            <a:pPr algn="ctr" eaLnBrk="1" hangingPunct="1">
              <a:buFont typeface="Wingdings" panose="05000000000000000000" pitchFamily="2" charset="2"/>
              <a:buNone/>
            </a:pPr>
            <a:r>
              <a:rPr lang="en-US" altLang="en-US" sz="3600"/>
              <a:t>Components and Steps of the </a:t>
            </a:r>
            <a:r>
              <a:rPr lang="en-US" altLang="en-US" sz="3600">
                <a:solidFill>
                  <a:srgbClr val="CC0000"/>
                </a:solidFill>
              </a:rPr>
              <a:t>CCF</a:t>
            </a:r>
            <a:r>
              <a:rPr lang="en-US" altLang="en-US" sz="3600"/>
              <a:t> </a:t>
            </a:r>
          </a:p>
          <a:p>
            <a:pPr algn="ctr" eaLnBrk="1" hangingPunct="1">
              <a:buFont typeface="Wingdings" panose="05000000000000000000" pitchFamily="2" charset="2"/>
              <a:buNone/>
            </a:pPr>
            <a:r>
              <a:rPr lang="en-US" altLang="en-US" sz="3600"/>
              <a:t>or</a:t>
            </a:r>
          </a:p>
          <a:p>
            <a:pPr algn="ctr" eaLnBrk="1" hangingPunct="1">
              <a:buFont typeface="Wingdings" panose="05000000000000000000" pitchFamily="2" charset="2"/>
              <a:buNone/>
            </a:pPr>
            <a:r>
              <a:rPr lang="en-US" altLang="en-US" sz="3600">
                <a:solidFill>
                  <a:srgbClr val="CC0000"/>
                </a:solidFill>
              </a:rPr>
              <a:t>C</a:t>
            </a:r>
            <a:r>
              <a:rPr lang="en-US" altLang="en-US" sz="3600"/>
              <a:t>ustody </a:t>
            </a:r>
            <a:r>
              <a:rPr lang="en-US" altLang="en-US" sz="3600">
                <a:solidFill>
                  <a:srgbClr val="CC0000"/>
                </a:solidFill>
              </a:rPr>
              <a:t>C</a:t>
            </a:r>
            <a:r>
              <a:rPr lang="en-US" altLang="en-US" sz="3600"/>
              <a:t>ontrol </a:t>
            </a:r>
            <a:r>
              <a:rPr lang="en-US" altLang="en-US" sz="3600">
                <a:solidFill>
                  <a:srgbClr val="CC0000"/>
                </a:solidFill>
              </a:rPr>
              <a:t>F</a:t>
            </a:r>
            <a:r>
              <a:rPr lang="en-US" altLang="en-US" sz="3600"/>
              <a:t>orm</a:t>
            </a:r>
          </a:p>
        </p:txBody>
      </p:sp>
      <p:sp>
        <p:nvSpPr>
          <p:cNvPr id="27651" name="Title 3">
            <a:extLst>
              <a:ext uri="{FF2B5EF4-FFF2-40B4-BE49-F238E27FC236}">
                <a16:creationId xmlns:a16="http://schemas.microsoft.com/office/drawing/2014/main" id="{F85EDD9B-6354-4F4C-BD27-7925B56A6759}"/>
              </a:ext>
            </a:extLst>
          </p:cNvPr>
          <p:cNvSpPr>
            <a:spLocks noGrp="1" noChangeArrowheads="1"/>
          </p:cNvSpPr>
          <p:nvPr>
            <p:ph type="title"/>
          </p:nvPr>
        </p:nvSpPr>
        <p:spPr/>
        <p:txBody>
          <a:bodyPr/>
          <a:lstStyle/>
          <a:p>
            <a:pPr algn="ctr"/>
            <a:r>
              <a:rPr lang="en-US" altLang="en-US" dirty="0" err="1"/>
              <a:t>TOXYScreen</a:t>
            </a:r>
            <a:r>
              <a:rPr lang="en-US" altLang="en-US" dirty="0"/>
              <a:t> SCREENING</a:t>
            </a:r>
          </a:p>
        </p:txBody>
      </p:sp>
      <p:sp>
        <p:nvSpPr>
          <p:cNvPr id="27652" name="Footer Placeholder 3">
            <a:extLst>
              <a:ext uri="{FF2B5EF4-FFF2-40B4-BE49-F238E27FC236}">
                <a16:creationId xmlns:a16="http://schemas.microsoft.com/office/drawing/2014/main" id="{AC6B5F25-CB28-4CA4-A046-9FC70848762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18307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C8440B89-BDCD-4391-B507-4E1F8DD1D12A}"/>
              </a:ext>
            </a:extLst>
          </p:cNvPr>
          <p:cNvSpPr>
            <a:spLocks noGrp="1" noChangeArrowheads="1"/>
          </p:cNvSpPr>
          <p:nvPr>
            <p:ph type="body" idx="1"/>
          </p:nvPr>
        </p:nvSpPr>
        <p:spPr/>
        <p:txBody>
          <a:bodyPr/>
          <a:lstStyle/>
          <a:p>
            <a:pPr eaLnBrk="1" hangingPunct="1">
              <a:defRPr/>
            </a:pPr>
            <a:r>
              <a:rPr lang="en-US" altLang="en-US" dirty="0"/>
              <a:t>Components and Steps of the </a:t>
            </a:r>
            <a:r>
              <a:rPr lang="en-US" altLang="en-US" dirty="0">
                <a:solidFill>
                  <a:srgbClr val="CC0000"/>
                </a:solidFill>
              </a:rPr>
              <a:t>C</a:t>
            </a:r>
            <a:r>
              <a:rPr lang="en-US" altLang="en-US" dirty="0"/>
              <a:t>ustody </a:t>
            </a:r>
            <a:r>
              <a:rPr lang="en-US" altLang="en-US" dirty="0">
                <a:solidFill>
                  <a:srgbClr val="CC0000"/>
                </a:solidFill>
              </a:rPr>
              <a:t>C</a:t>
            </a:r>
            <a:r>
              <a:rPr lang="en-US" altLang="en-US" dirty="0"/>
              <a:t>ontrol </a:t>
            </a:r>
            <a:r>
              <a:rPr lang="en-US" altLang="en-US" dirty="0">
                <a:solidFill>
                  <a:srgbClr val="CC0000"/>
                </a:solidFill>
              </a:rPr>
              <a:t>F</a:t>
            </a:r>
            <a:r>
              <a:rPr lang="en-US" altLang="en-US" dirty="0"/>
              <a:t>orm</a:t>
            </a:r>
            <a:r>
              <a:rPr lang="en-US" altLang="en-US" dirty="0">
                <a:solidFill>
                  <a:srgbClr val="CC0000"/>
                </a:solidFill>
              </a:rPr>
              <a:t> (CCF)</a:t>
            </a:r>
          </a:p>
          <a:p>
            <a:pPr eaLnBrk="1" hangingPunct="1">
              <a:defRPr/>
            </a:pPr>
            <a:r>
              <a:rPr lang="en-US" altLang="en-US" dirty="0">
                <a:solidFill>
                  <a:srgbClr val="CC0000"/>
                </a:solidFill>
              </a:rPr>
              <a:t>Requisition Form</a:t>
            </a:r>
          </a:p>
          <a:p>
            <a:pPr eaLnBrk="1" hangingPunct="1">
              <a:defRPr/>
            </a:pPr>
            <a:r>
              <a:rPr lang="en-US" altLang="en-US" dirty="0">
                <a:solidFill>
                  <a:srgbClr val="CC0000"/>
                </a:solidFill>
              </a:rPr>
              <a:t>Sample Collection Instructions</a:t>
            </a:r>
          </a:p>
          <a:p>
            <a:pPr eaLnBrk="1" hangingPunct="1">
              <a:defRPr/>
            </a:pPr>
            <a:r>
              <a:rPr lang="en-US" altLang="en-US" dirty="0">
                <a:solidFill>
                  <a:srgbClr val="CC0000"/>
                </a:solidFill>
              </a:rPr>
              <a:t>Packaging and Mailing of Samples</a:t>
            </a:r>
          </a:p>
          <a:p>
            <a:pPr eaLnBrk="1" hangingPunct="1">
              <a:defRPr/>
            </a:pPr>
            <a:r>
              <a:rPr lang="en-US" altLang="en-US" dirty="0">
                <a:solidFill>
                  <a:srgbClr val="CC0000"/>
                </a:solidFill>
              </a:rPr>
              <a:t>Reporting of Results</a:t>
            </a:r>
          </a:p>
          <a:p>
            <a:pPr marL="0" indent="0" eaLnBrk="1" hangingPunct="1">
              <a:buNone/>
              <a:defRPr/>
            </a:pPr>
            <a:endParaRPr lang="en-US" altLang="en-US" dirty="0">
              <a:solidFill>
                <a:srgbClr val="CC0000"/>
              </a:solidFill>
            </a:endParaRPr>
          </a:p>
        </p:txBody>
      </p:sp>
      <p:sp>
        <p:nvSpPr>
          <p:cNvPr id="29699" name="Title 3">
            <a:extLst>
              <a:ext uri="{FF2B5EF4-FFF2-40B4-BE49-F238E27FC236}">
                <a16:creationId xmlns:a16="http://schemas.microsoft.com/office/drawing/2014/main" id="{1D1647B2-CDEF-4E2E-807C-603AC9421369}"/>
              </a:ext>
            </a:extLst>
          </p:cNvPr>
          <p:cNvSpPr>
            <a:spLocks noGrp="1" noChangeArrowheads="1"/>
          </p:cNvSpPr>
          <p:nvPr>
            <p:ph type="title"/>
          </p:nvPr>
        </p:nvSpPr>
        <p:spPr/>
        <p:txBody>
          <a:bodyPr/>
          <a:lstStyle/>
          <a:p>
            <a:pPr algn="ctr"/>
            <a:r>
              <a:rPr lang="en-US" altLang="en-US"/>
              <a:t>Oral Fluids Testing Process</a:t>
            </a:r>
          </a:p>
        </p:txBody>
      </p:sp>
      <p:sp>
        <p:nvSpPr>
          <p:cNvPr id="29700" name="Footer Placeholder 3">
            <a:extLst>
              <a:ext uri="{FF2B5EF4-FFF2-40B4-BE49-F238E27FC236}">
                <a16:creationId xmlns:a16="http://schemas.microsoft.com/office/drawing/2014/main" id="{36869A12-D3BE-4E0F-AFBF-5B6BBA16F9D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3231589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3258BDD-7D2F-4661-A16E-91AE3DBF00D0}"/>
              </a:ext>
            </a:extLst>
          </p:cNvPr>
          <p:cNvSpPr>
            <a:spLocks noGrp="1" noChangeArrowheads="1"/>
          </p:cNvSpPr>
          <p:nvPr>
            <p:ph type="title"/>
          </p:nvPr>
        </p:nvSpPr>
        <p:spPr>
          <a:xfrm>
            <a:off x="1930400" y="171451"/>
            <a:ext cx="8229600" cy="411163"/>
          </a:xfrm>
        </p:spPr>
        <p:txBody>
          <a:bodyPr/>
          <a:lstStyle/>
          <a:p>
            <a:pPr eaLnBrk="1" hangingPunct="1"/>
            <a:r>
              <a:rPr lang="en-US" altLang="en-US" sz="1600" b="1"/>
              <a:t>Sample Collection Instruction</a:t>
            </a:r>
          </a:p>
        </p:txBody>
      </p:sp>
      <p:sp>
        <p:nvSpPr>
          <p:cNvPr id="31747" name="Rectangle 3">
            <a:extLst>
              <a:ext uri="{FF2B5EF4-FFF2-40B4-BE49-F238E27FC236}">
                <a16:creationId xmlns:a16="http://schemas.microsoft.com/office/drawing/2014/main" id="{C66C1A6D-2A80-4559-AE70-660F9563CDAD}"/>
              </a:ext>
            </a:extLst>
          </p:cNvPr>
          <p:cNvSpPr>
            <a:spLocks noGrp="1" noChangeArrowheads="1"/>
          </p:cNvSpPr>
          <p:nvPr>
            <p:ph type="body" sz="half" idx="1"/>
          </p:nvPr>
        </p:nvSpPr>
        <p:spPr>
          <a:xfrm>
            <a:off x="2057400" y="533400"/>
            <a:ext cx="3810000" cy="1219200"/>
          </a:xfrm>
        </p:spPr>
        <p:txBody>
          <a:bodyPr/>
          <a:lstStyle/>
          <a:p>
            <a:pPr eaLnBrk="1" hangingPunct="1">
              <a:buFontTx/>
              <a:buNone/>
            </a:pPr>
            <a:r>
              <a:rPr lang="en-US" altLang="en-US" sz="1200" b="1"/>
              <a:t>STEP 1:</a:t>
            </a:r>
          </a:p>
          <a:p>
            <a:pPr eaLnBrk="1" hangingPunct="1"/>
            <a:r>
              <a:rPr lang="en-US" altLang="en-US" sz="1200"/>
              <a:t>Fill out Requisition Form (CCF)</a:t>
            </a:r>
          </a:p>
          <a:p>
            <a:pPr eaLnBrk="1" hangingPunct="1"/>
            <a:r>
              <a:rPr lang="en-US" altLang="en-US" sz="1200"/>
              <a:t>Sample Information – Donors name, Date of Birth, Gender, Sample Date, Consent Signature if Donor under 18 yrs of age</a:t>
            </a:r>
          </a:p>
        </p:txBody>
      </p:sp>
      <p:pic>
        <p:nvPicPr>
          <p:cNvPr id="31748" name="Picture 4" descr="100_1114">
            <a:extLst>
              <a:ext uri="{FF2B5EF4-FFF2-40B4-BE49-F238E27FC236}">
                <a16:creationId xmlns:a16="http://schemas.microsoft.com/office/drawing/2014/main" id="{5359008B-8927-4144-826A-DABE2715979E}"/>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629400" y="652464"/>
            <a:ext cx="1498600" cy="1004887"/>
          </a:xfrm>
          <a:noFill/>
        </p:spPr>
      </p:pic>
      <p:sp>
        <p:nvSpPr>
          <p:cNvPr id="31749" name="Rectangle 5">
            <a:extLst>
              <a:ext uri="{FF2B5EF4-FFF2-40B4-BE49-F238E27FC236}">
                <a16:creationId xmlns:a16="http://schemas.microsoft.com/office/drawing/2014/main" id="{50CCFBA7-A1DA-4A19-913E-028C01D327C7}"/>
              </a:ext>
            </a:extLst>
          </p:cNvPr>
          <p:cNvSpPr>
            <a:spLocks noChangeArrowheads="1"/>
          </p:cNvSpPr>
          <p:nvPr/>
        </p:nvSpPr>
        <p:spPr bwMode="auto">
          <a:xfrm>
            <a:off x="2057400" y="1676400"/>
            <a:ext cx="37338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Aft>
                <a:spcPct val="0"/>
              </a:spcAft>
              <a:buNone/>
            </a:pPr>
            <a:r>
              <a:rPr lang="en-US" altLang="en-US" sz="1200" b="1">
                <a:solidFill>
                  <a:srgbClr val="000000"/>
                </a:solidFill>
              </a:rPr>
              <a:t>STEP 2</a:t>
            </a:r>
          </a:p>
          <a:p>
            <a:pPr fontAlgn="base">
              <a:spcAft>
                <a:spcPct val="0"/>
              </a:spcAft>
            </a:pPr>
            <a:r>
              <a:rPr lang="en-US" altLang="en-US" sz="1200">
                <a:solidFill>
                  <a:srgbClr val="000000"/>
                </a:solidFill>
              </a:rPr>
              <a:t>Open packaging containing Oral Fluid Specimen Kit</a:t>
            </a:r>
          </a:p>
          <a:p>
            <a:pPr fontAlgn="base">
              <a:spcAft>
                <a:spcPct val="0"/>
              </a:spcAft>
              <a:buNone/>
            </a:pPr>
            <a:endParaRPr lang="en-US" altLang="en-US" sz="1200" b="1">
              <a:solidFill>
                <a:srgbClr val="000000"/>
              </a:solidFill>
            </a:endParaRPr>
          </a:p>
          <a:p>
            <a:pPr fontAlgn="base">
              <a:spcAft>
                <a:spcPct val="0"/>
              </a:spcAft>
              <a:buNone/>
            </a:pPr>
            <a:r>
              <a:rPr lang="en-US" altLang="en-US" sz="1200" b="1">
                <a:solidFill>
                  <a:srgbClr val="000000"/>
                </a:solidFill>
              </a:rPr>
              <a:t>STEP 3</a:t>
            </a:r>
          </a:p>
          <a:p>
            <a:pPr fontAlgn="base">
              <a:spcAft>
                <a:spcPct val="0"/>
              </a:spcAft>
            </a:pPr>
            <a:r>
              <a:rPr lang="en-US" altLang="en-US" sz="1200">
                <a:solidFill>
                  <a:srgbClr val="000000"/>
                </a:solidFill>
              </a:rPr>
              <a:t>Place the end of specimen kit into the well of the mouth between the teeth and lips -- this is the location in the mouth to gather oral fluids</a:t>
            </a:r>
          </a:p>
          <a:p>
            <a:pPr fontAlgn="base">
              <a:spcAft>
                <a:spcPct val="0"/>
              </a:spcAft>
            </a:pPr>
            <a:r>
              <a:rPr lang="en-US" altLang="en-US" sz="1200">
                <a:solidFill>
                  <a:srgbClr val="000000"/>
                </a:solidFill>
              </a:rPr>
              <a:t>Move swab gently from back to front of mouth along the gum line for 15 to 30 seconds</a:t>
            </a:r>
          </a:p>
          <a:p>
            <a:pPr fontAlgn="base">
              <a:spcAft>
                <a:spcPct val="0"/>
              </a:spcAft>
              <a:buNone/>
            </a:pPr>
            <a:endParaRPr lang="en-US" altLang="en-US" sz="1200" b="1">
              <a:solidFill>
                <a:srgbClr val="000000"/>
              </a:solidFill>
            </a:endParaRPr>
          </a:p>
          <a:p>
            <a:pPr fontAlgn="base">
              <a:spcAft>
                <a:spcPct val="0"/>
              </a:spcAft>
              <a:buNone/>
            </a:pPr>
            <a:r>
              <a:rPr lang="en-US" altLang="en-US" sz="1200" b="1">
                <a:solidFill>
                  <a:srgbClr val="000000"/>
                </a:solidFill>
              </a:rPr>
              <a:t>STEP 4</a:t>
            </a:r>
          </a:p>
          <a:p>
            <a:pPr fontAlgn="base">
              <a:spcAft>
                <a:spcPct val="0"/>
              </a:spcAft>
            </a:pPr>
            <a:r>
              <a:rPr lang="en-US" altLang="en-US" sz="1200">
                <a:solidFill>
                  <a:srgbClr val="000000"/>
                </a:solidFill>
              </a:rPr>
              <a:t>Place swab back into sterile tube and secure cap </a:t>
            </a:r>
          </a:p>
        </p:txBody>
      </p:sp>
      <p:pic>
        <p:nvPicPr>
          <p:cNvPr id="31750" name="Picture 6" descr="100_1101">
            <a:extLst>
              <a:ext uri="{FF2B5EF4-FFF2-40B4-BE49-F238E27FC236}">
                <a16:creationId xmlns:a16="http://schemas.microsoft.com/office/drawing/2014/main" id="{B1160DA5-219A-4603-A720-5B8302DE32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1981200"/>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1" name="Rectangle 7">
            <a:extLst>
              <a:ext uri="{FF2B5EF4-FFF2-40B4-BE49-F238E27FC236}">
                <a16:creationId xmlns:a16="http://schemas.microsoft.com/office/drawing/2014/main" id="{B5CF231C-D7A9-4F01-BDF6-F356215144B3}"/>
              </a:ext>
            </a:extLst>
          </p:cNvPr>
          <p:cNvSpPr>
            <a:spLocks noChangeArrowheads="1"/>
          </p:cNvSpPr>
          <p:nvPr/>
        </p:nvSpPr>
        <p:spPr bwMode="auto">
          <a:xfrm>
            <a:off x="1981200" y="4267200"/>
            <a:ext cx="38100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lnSpc>
                <a:spcPct val="90000"/>
              </a:lnSpc>
              <a:spcAft>
                <a:spcPct val="0"/>
              </a:spcAft>
              <a:buNone/>
            </a:pPr>
            <a:endParaRPr lang="en-US" altLang="en-US" sz="1200" b="1">
              <a:solidFill>
                <a:srgbClr val="000000"/>
              </a:solidFill>
            </a:endParaRPr>
          </a:p>
          <a:p>
            <a:pPr fontAlgn="base">
              <a:lnSpc>
                <a:spcPct val="90000"/>
              </a:lnSpc>
              <a:spcAft>
                <a:spcPct val="0"/>
              </a:spcAft>
              <a:buNone/>
            </a:pPr>
            <a:endParaRPr lang="en-US" altLang="en-US" sz="1200" b="1">
              <a:solidFill>
                <a:srgbClr val="000000"/>
              </a:solidFill>
            </a:endParaRPr>
          </a:p>
          <a:p>
            <a:pPr fontAlgn="base">
              <a:lnSpc>
                <a:spcPct val="90000"/>
              </a:lnSpc>
              <a:spcAft>
                <a:spcPct val="0"/>
              </a:spcAft>
              <a:buNone/>
            </a:pPr>
            <a:r>
              <a:rPr lang="en-US" altLang="en-US" sz="1200" b="1">
                <a:solidFill>
                  <a:srgbClr val="000000"/>
                </a:solidFill>
              </a:rPr>
              <a:t>STEP 5</a:t>
            </a:r>
          </a:p>
          <a:p>
            <a:pPr fontAlgn="base">
              <a:lnSpc>
                <a:spcPct val="90000"/>
              </a:lnSpc>
              <a:spcAft>
                <a:spcPct val="0"/>
              </a:spcAft>
            </a:pPr>
            <a:r>
              <a:rPr lang="en-US" altLang="en-US" sz="1200">
                <a:solidFill>
                  <a:srgbClr val="000000"/>
                </a:solidFill>
              </a:rPr>
              <a:t>There are two (2) evidence seals with kit.</a:t>
            </a:r>
          </a:p>
          <a:p>
            <a:pPr fontAlgn="base">
              <a:lnSpc>
                <a:spcPct val="90000"/>
              </a:lnSpc>
              <a:spcAft>
                <a:spcPct val="0"/>
              </a:spcAft>
            </a:pPr>
            <a:r>
              <a:rPr lang="en-US" altLang="en-US" sz="1200">
                <a:solidFill>
                  <a:srgbClr val="000000"/>
                </a:solidFill>
              </a:rPr>
              <a:t>Place one (1) tamper evidence seal on specimen container and one (1) on the requisition form.</a:t>
            </a:r>
          </a:p>
          <a:p>
            <a:pPr fontAlgn="base">
              <a:lnSpc>
                <a:spcPct val="90000"/>
              </a:lnSpc>
              <a:spcAft>
                <a:spcPct val="0"/>
              </a:spcAft>
              <a:buNone/>
            </a:pPr>
            <a:endParaRPr lang="en-US" altLang="en-US" sz="1200">
              <a:solidFill>
                <a:srgbClr val="000000"/>
              </a:solidFill>
            </a:endParaRPr>
          </a:p>
          <a:p>
            <a:pPr fontAlgn="base">
              <a:lnSpc>
                <a:spcPct val="90000"/>
              </a:lnSpc>
              <a:spcAft>
                <a:spcPct val="0"/>
              </a:spcAft>
              <a:buNone/>
            </a:pPr>
            <a:endParaRPr lang="en-US" altLang="en-US" sz="1200" b="1">
              <a:solidFill>
                <a:srgbClr val="000000"/>
              </a:solidFill>
            </a:endParaRPr>
          </a:p>
        </p:txBody>
      </p:sp>
      <p:sp>
        <p:nvSpPr>
          <p:cNvPr id="31752" name="Text Box 8">
            <a:extLst>
              <a:ext uri="{FF2B5EF4-FFF2-40B4-BE49-F238E27FC236}">
                <a16:creationId xmlns:a16="http://schemas.microsoft.com/office/drawing/2014/main" id="{FCE3D792-1641-4318-94F3-619BA704C6DC}"/>
              </a:ext>
            </a:extLst>
          </p:cNvPr>
          <p:cNvSpPr txBox="1">
            <a:spLocks noChangeArrowheads="1"/>
          </p:cNvSpPr>
          <p:nvPr/>
        </p:nvSpPr>
        <p:spPr bwMode="auto">
          <a:xfrm>
            <a:off x="6705600" y="1657350"/>
            <a:ext cx="508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00"/>
                </a:solidFill>
              </a:rPr>
              <a:t>1</a:t>
            </a:r>
          </a:p>
        </p:txBody>
      </p:sp>
      <p:sp>
        <p:nvSpPr>
          <p:cNvPr id="31753" name="Text Box 9">
            <a:extLst>
              <a:ext uri="{FF2B5EF4-FFF2-40B4-BE49-F238E27FC236}">
                <a16:creationId xmlns:a16="http://schemas.microsoft.com/office/drawing/2014/main" id="{F27E7795-322B-44CC-BEF9-55947458E5EB}"/>
              </a:ext>
            </a:extLst>
          </p:cNvPr>
          <p:cNvSpPr txBox="1">
            <a:spLocks noChangeArrowheads="1"/>
          </p:cNvSpPr>
          <p:nvPr/>
        </p:nvSpPr>
        <p:spPr bwMode="auto">
          <a:xfrm>
            <a:off x="9144000" y="2209800"/>
            <a:ext cx="50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00"/>
                </a:solidFill>
              </a:rPr>
              <a:t>2</a:t>
            </a:r>
          </a:p>
        </p:txBody>
      </p:sp>
      <p:sp>
        <p:nvSpPr>
          <p:cNvPr id="31754" name="Text Box 10">
            <a:extLst>
              <a:ext uri="{FF2B5EF4-FFF2-40B4-BE49-F238E27FC236}">
                <a16:creationId xmlns:a16="http://schemas.microsoft.com/office/drawing/2014/main" id="{6583C2CA-E07F-4F48-B20D-B961D3158671}"/>
              </a:ext>
            </a:extLst>
          </p:cNvPr>
          <p:cNvSpPr txBox="1">
            <a:spLocks noChangeArrowheads="1"/>
          </p:cNvSpPr>
          <p:nvPr/>
        </p:nvSpPr>
        <p:spPr bwMode="auto">
          <a:xfrm>
            <a:off x="6705600" y="350520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00"/>
                </a:solidFill>
              </a:rPr>
              <a:t>3</a:t>
            </a:r>
          </a:p>
        </p:txBody>
      </p:sp>
      <p:sp>
        <p:nvSpPr>
          <p:cNvPr id="31755" name="Text Box 11">
            <a:extLst>
              <a:ext uri="{FF2B5EF4-FFF2-40B4-BE49-F238E27FC236}">
                <a16:creationId xmlns:a16="http://schemas.microsoft.com/office/drawing/2014/main" id="{1A62DF94-7068-4ACE-9327-0C3C82DF8B52}"/>
              </a:ext>
            </a:extLst>
          </p:cNvPr>
          <p:cNvSpPr txBox="1">
            <a:spLocks noChangeArrowheads="1"/>
          </p:cNvSpPr>
          <p:nvPr/>
        </p:nvSpPr>
        <p:spPr bwMode="auto">
          <a:xfrm>
            <a:off x="9144000" y="4114800"/>
            <a:ext cx="40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00"/>
                </a:solidFill>
              </a:rPr>
              <a:t>4</a:t>
            </a:r>
          </a:p>
        </p:txBody>
      </p:sp>
      <p:sp>
        <p:nvSpPr>
          <p:cNvPr id="31756" name="Text Box 12">
            <a:extLst>
              <a:ext uri="{FF2B5EF4-FFF2-40B4-BE49-F238E27FC236}">
                <a16:creationId xmlns:a16="http://schemas.microsoft.com/office/drawing/2014/main" id="{97902995-88EE-4007-89C8-3467F8FE233C}"/>
              </a:ext>
            </a:extLst>
          </p:cNvPr>
          <p:cNvSpPr txBox="1">
            <a:spLocks noChangeArrowheads="1"/>
          </p:cNvSpPr>
          <p:nvPr/>
        </p:nvSpPr>
        <p:spPr bwMode="auto">
          <a:xfrm>
            <a:off x="6705600" y="5486400"/>
            <a:ext cx="50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US" altLang="en-US" sz="1800" b="1">
                <a:solidFill>
                  <a:srgbClr val="000000"/>
                </a:solidFill>
              </a:rPr>
              <a:t>5</a:t>
            </a:r>
          </a:p>
        </p:txBody>
      </p:sp>
      <p:pic>
        <p:nvPicPr>
          <p:cNvPr id="31757" name="Picture 16" descr="seal3">
            <a:extLst>
              <a:ext uri="{FF2B5EF4-FFF2-40B4-BE49-F238E27FC236}">
                <a16:creationId xmlns:a16="http://schemas.microsoft.com/office/drawing/2014/main" id="{0C5654DD-A18D-4335-BF07-B0973731D1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4038600"/>
            <a:ext cx="2057400"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8" name="Picture 18" descr="swab1">
            <a:extLst>
              <a:ext uri="{FF2B5EF4-FFF2-40B4-BE49-F238E27FC236}">
                <a16:creationId xmlns:a16="http://schemas.microsoft.com/office/drawing/2014/main" id="{7955F12E-E236-4C20-B205-A4A21B79A2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34401" y="914400"/>
            <a:ext cx="173831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9" name="Picture 19" descr="swab2">
            <a:extLst>
              <a:ext uri="{FF2B5EF4-FFF2-40B4-BE49-F238E27FC236}">
                <a16:creationId xmlns:a16="http://schemas.microsoft.com/office/drawing/2014/main" id="{69FB3503-AF38-44E6-A0DB-BA03700307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34400" y="2800350"/>
            <a:ext cx="1855788"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60" name="Footer Placeholder 15">
            <a:extLst>
              <a:ext uri="{FF2B5EF4-FFF2-40B4-BE49-F238E27FC236}">
                <a16:creationId xmlns:a16="http://schemas.microsoft.com/office/drawing/2014/main" id="{8FBEB8F8-9C3D-42DF-A884-7C8C1330E69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US" altLang="en-US" sz="1400">
                <a:solidFill>
                  <a:srgbClr val="000000"/>
                </a:solidFill>
              </a:rPr>
              <a:t>ToxyScreen</a:t>
            </a:r>
          </a:p>
        </p:txBody>
      </p:sp>
    </p:spTree>
    <p:extLst>
      <p:ext uri="{BB962C8B-B14F-4D97-AF65-F5344CB8AC3E}">
        <p14:creationId xmlns:p14="http://schemas.microsoft.com/office/powerpoint/2010/main" val="867351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AA77CEF9-19C6-4E08-886C-47B0ED069C5B}"/>
              </a:ext>
            </a:extLst>
          </p:cNvPr>
          <p:cNvSpPr>
            <a:spLocks noGrp="1" noChangeArrowheads="1"/>
          </p:cNvSpPr>
          <p:nvPr>
            <p:ph type="title"/>
          </p:nvPr>
        </p:nvSpPr>
        <p:spPr/>
        <p:txBody>
          <a:bodyPr/>
          <a:lstStyle/>
          <a:p>
            <a:pPr eaLnBrk="1" hangingPunct="1"/>
            <a:r>
              <a:rPr lang="en-US" altLang="en-US" sz="3600"/>
              <a:t>Step 1:  Requisition Form (CCF)</a:t>
            </a:r>
          </a:p>
        </p:txBody>
      </p:sp>
      <p:sp>
        <p:nvSpPr>
          <p:cNvPr id="33795" name="Content Placeholder 3">
            <a:extLst>
              <a:ext uri="{FF2B5EF4-FFF2-40B4-BE49-F238E27FC236}">
                <a16:creationId xmlns:a16="http://schemas.microsoft.com/office/drawing/2014/main" id="{C59E4788-0BF6-42C8-80C6-29EC077B36CC}"/>
              </a:ext>
            </a:extLst>
          </p:cNvPr>
          <p:cNvSpPr>
            <a:spLocks noGrp="1" noChangeArrowheads="1"/>
          </p:cNvSpPr>
          <p:nvPr>
            <p:ph idx="1"/>
          </p:nvPr>
        </p:nvSpPr>
        <p:spPr/>
        <p:txBody>
          <a:bodyPr/>
          <a:lstStyle/>
          <a:p>
            <a:pPr eaLnBrk="1" hangingPunct="1">
              <a:spcBef>
                <a:spcPct val="50000"/>
              </a:spcBef>
            </a:pPr>
            <a:r>
              <a:rPr lang="en-US" altLang="en-US" sz="2000"/>
              <a:t>INFORMATION REQUIRED:</a:t>
            </a:r>
          </a:p>
          <a:p>
            <a:pPr eaLnBrk="1" hangingPunct="1">
              <a:spcBef>
                <a:spcPct val="50000"/>
              </a:spcBef>
              <a:buFontTx/>
              <a:buChar char="•"/>
            </a:pPr>
            <a:r>
              <a:rPr lang="en-US" altLang="en-US" sz="2000"/>
              <a:t>Donor’s Social Security Number</a:t>
            </a:r>
          </a:p>
          <a:p>
            <a:pPr eaLnBrk="1" hangingPunct="1">
              <a:spcBef>
                <a:spcPct val="50000"/>
              </a:spcBef>
              <a:buFontTx/>
              <a:buChar char="•"/>
            </a:pPr>
            <a:r>
              <a:rPr lang="en-US" altLang="en-US" sz="2000"/>
              <a:t>Physician Name</a:t>
            </a:r>
          </a:p>
          <a:p>
            <a:pPr eaLnBrk="1" hangingPunct="1">
              <a:spcBef>
                <a:spcPct val="50000"/>
              </a:spcBef>
              <a:buFontTx/>
              <a:buChar char="•"/>
            </a:pPr>
            <a:r>
              <a:rPr lang="en-US" altLang="en-US" sz="2000"/>
              <a:t>Physician Address			</a:t>
            </a:r>
          </a:p>
          <a:p>
            <a:pPr eaLnBrk="1" hangingPunct="1">
              <a:spcBef>
                <a:spcPct val="50000"/>
              </a:spcBef>
              <a:buFontTx/>
              <a:buChar char="•"/>
            </a:pPr>
            <a:r>
              <a:rPr lang="en-US" altLang="en-US" sz="2000"/>
              <a:t>Reason for Test</a:t>
            </a:r>
          </a:p>
          <a:p>
            <a:pPr eaLnBrk="1" hangingPunct="1">
              <a:spcBef>
                <a:spcPct val="50000"/>
              </a:spcBef>
              <a:buFontTx/>
              <a:buChar char="•"/>
            </a:pPr>
            <a:r>
              <a:rPr lang="en-US" altLang="en-US" sz="2000"/>
              <a:t>Type of Test</a:t>
            </a:r>
          </a:p>
          <a:p>
            <a:pPr eaLnBrk="1" hangingPunct="1">
              <a:spcBef>
                <a:spcPct val="50000"/>
              </a:spcBef>
              <a:buFontTx/>
              <a:buChar char="•"/>
            </a:pPr>
            <a:r>
              <a:rPr lang="en-US" altLang="en-US" sz="2000"/>
              <a:t>Collected by</a:t>
            </a:r>
          </a:p>
          <a:p>
            <a:pPr eaLnBrk="1" hangingPunct="1">
              <a:spcBef>
                <a:spcPct val="50000"/>
              </a:spcBef>
              <a:buFontTx/>
              <a:buChar char="•"/>
            </a:pPr>
            <a:r>
              <a:rPr lang="en-US" altLang="en-US" sz="2000"/>
              <a:t>Date of Collection</a:t>
            </a:r>
          </a:p>
          <a:p>
            <a:pPr eaLnBrk="1" hangingPunct="1">
              <a:spcBef>
                <a:spcPct val="50000"/>
              </a:spcBef>
              <a:buFontTx/>
              <a:buChar char="•"/>
            </a:pPr>
            <a:r>
              <a:rPr lang="en-US" altLang="en-US" sz="2000"/>
              <a:t>Time of Collection </a:t>
            </a:r>
          </a:p>
          <a:p>
            <a:pPr eaLnBrk="1" hangingPunct="1">
              <a:spcBef>
                <a:spcPct val="50000"/>
              </a:spcBef>
            </a:pPr>
            <a:endParaRPr lang="en-US" altLang="en-US" sz="2000"/>
          </a:p>
          <a:p>
            <a:endParaRPr lang="en-US" altLang="en-US" sz="2000"/>
          </a:p>
        </p:txBody>
      </p:sp>
      <p:pic>
        <p:nvPicPr>
          <p:cNvPr id="33796" name="Picture 8" descr="C:\Users\Lenovo\AppData\Local\Microsoft\Windows\INetCache\IE\24AOGE50\getfile[1].png">
            <a:extLst>
              <a:ext uri="{FF2B5EF4-FFF2-40B4-BE49-F238E27FC236}">
                <a16:creationId xmlns:a16="http://schemas.microsoft.com/office/drawing/2014/main" id="{851A1475-0034-4C95-B2BC-D79B479949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752600"/>
            <a:ext cx="3581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Footer Placeholder 4">
            <a:extLst>
              <a:ext uri="{FF2B5EF4-FFF2-40B4-BE49-F238E27FC236}">
                <a16:creationId xmlns:a16="http://schemas.microsoft.com/office/drawing/2014/main" id="{A51AD97C-D3CE-4EAC-A97E-BC042DBFEC5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2079625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77340B3-3C63-4B5B-B626-FA3D078F0C94}"/>
              </a:ext>
            </a:extLst>
          </p:cNvPr>
          <p:cNvSpPr>
            <a:spLocks noGrp="1" noChangeArrowheads="1"/>
          </p:cNvSpPr>
          <p:nvPr>
            <p:ph type="title"/>
          </p:nvPr>
        </p:nvSpPr>
        <p:spPr/>
        <p:txBody>
          <a:bodyPr/>
          <a:lstStyle/>
          <a:p>
            <a:pPr eaLnBrk="1" hangingPunct="1"/>
            <a:r>
              <a:rPr lang="en-US" altLang="en-US" sz="3600"/>
              <a:t>Step 1:  Requisition Form (CCF)</a:t>
            </a:r>
          </a:p>
        </p:txBody>
      </p:sp>
      <p:pic>
        <p:nvPicPr>
          <p:cNvPr id="35843" name="Picture 8" descr="C:\Users\Lenovo\AppData\Local\Microsoft\Windows\INetCache\IE\24AOGE50\getfile[1].png">
            <a:extLst>
              <a:ext uri="{FF2B5EF4-FFF2-40B4-BE49-F238E27FC236}">
                <a16:creationId xmlns:a16="http://schemas.microsoft.com/office/drawing/2014/main" id="{FCEBBBAF-0090-4491-A363-848543D131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752600"/>
            <a:ext cx="3581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Footer Placeholder 4">
            <a:extLst>
              <a:ext uri="{FF2B5EF4-FFF2-40B4-BE49-F238E27FC236}">
                <a16:creationId xmlns:a16="http://schemas.microsoft.com/office/drawing/2014/main" id="{84DA4B6B-C88E-48FE-B9AE-BCA0E7D331B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pic>
        <p:nvPicPr>
          <p:cNvPr id="35845" name="Content Placeholder 9">
            <a:extLst>
              <a:ext uri="{FF2B5EF4-FFF2-40B4-BE49-F238E27FC236}">
                <a16:creationId xmlns:a16="http://schemas.microsoft.com/office/drawing/2014/main" id="{722E67E8-620F-49F4-AEB6-7A1AF07FE302}"/>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499730" y="1382232"/>
            <a:ext cx="11004698" cy="5323368"/>
          </a:xfrm>
        </p:spPr>
      </p:pic>
    </p:spTree>
    <p:extLst>
      <p:ext uri="{BB962C8B-B14F-4D97-AF65-F5344CB8AC3E}">
        <p14:creationId xmlns:p14="http://schemas.microsoft.com/office/powerpoint/2010/main" val="724777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65F5D9F5-2628-44B1-88EC-F343E5652AEE}"/>
              </a:ext>
            </a:extLst>
          </p:cNvPr>
          <p:cNvSpPr>
            <a:spLocks noGrp="1" noChangeArrowheads="1"/>
          </p:cNvSpPr>
          <p:nvPr>
            <p:ph type="title"/>
          </p:nvPr>
        </p:nvSpPr>
        <p:spPr/>
        <p:txBody>
          <a:bodyPr/>
          <a:lstStyle/>
          <a:p>
            <a:pPr eaLnBrk="1" hangingPunct="1"/>
            <a:r>
              <a:rPr lang="en-US" altLang="en-US" sz="3200"/>
              <a:t>Step 2    Open: Oral Fluid swab (Dacron)</a:t>
            </a:r>
          </a:p>
        </p:txBody>
      </p:sp>
      <p:pic>
        <p:nvPicPr>
          <p:cNvPr id="37891" name="Picture 4" descr="100_0838">
            <a:extLst>
              <a:ext uri="{FF2B5EF4-FFF2-40B4-BE49-F238E27FC236}">
                <a16:creationId xmlns:a16="http://schemas.microsoft.com/office/drawing/2014/main" id="{A7E4967A-FBBF-47AC-B665-3AA337B71BEF}"/>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l="25258"/>
          <a:stretch>
            <a:fillRect/>
          </a:stretch>
        </p:blipFill>
        <p:spPr>
          <a:xfrm>
            <a:off x="3149600" y="1600200"/>
            <a:ext cx="5892800" cy="4419600"/>
          </a:xfrm>
          <a:noFill/>
        </p:spPr>
      </p:pic>
      <p:sp>
        <p:nvSpPr>
          <p:cNvPr id="37892" name="Footer Placeholder 3">
            <a:extLst>
              <a:ext uri="{FF2B5EF4-FFF2-40B4-BE49-F238E27FC236}">
                <a16:creationId xmlns:a16="http://schemas.microsoft.com/office/drawing/2014/main" id="{81C10791-DC81-48A5-BD54-A096A22F05E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965379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1013D1B-196E-4540-82BA-84B6BB633B18}"/>
              </a:ext>
            </a:extLst>
          </p:cNvPr>
          <p:cNvSpPr>
            <a:spLocks noGrp="1" noChangeArrowheads="1"/>
          </p:cNvSpPr>
          <p:nvPr>
            <p:ph type="title"/>
          </p:nvPr>
        </p:nvSpPr>
        <p:spPr/>
        <p:txBody>
          <a:bodyPr/>
          <a:lstStyle/>
          <a:p>
            <a:pPr algn="ctr" eaLnBrk="1" hangingPunct="1"/>
            <a:r>
              <a:rPr lang="en-US" altLang="en-US" sz="2800"/>
              <a:t>Step 3 :Explain to Donor or Parent How Test will be Administered </a:t>
            </a:r>
          </a:p>
        </p:txBody>
      </p:sp>
      <p:sp>
        <p:nvSpPr>
          <p:cNvPr id="39939" name="Footer Placeholder 3">
            <a:extLst>
              <a:ext uri="{FF2B5EF4-FFF2-40B4-BE49-F238E27FC236}">
                <a16:creationId xmlns:a16="http://schemas.microsoft.com/office/drawing/2014/main" id="{23B7AAE4-4E4D-410B-B941-F6A02540249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
        <p:nvSpPr>
          <p:cNvPr id="39940" name="Content Placeholder 1">
            <a:extLst>
              <a:ext uri="{FF2B5EF4-FFF2-40B4-BE49-F238E27FC236}">
                <a16:creationId xmlns:a16="http://schemas.microsoft.com/office/drawing/2014/main" id="{8B91C155-3CB7-4DF4-80D0-F3D9353F9B64}"/>
              </a:ext>
            </a:extLst>
          </p:cNvPr>
          <p:cNvSpPr>
            <a:spLocks noGrp="1" noChangeArrowheads="1"/>
          </p:cNvSpPr>
          <p:nvPr>
            <p:ph idx="1"/>
          </p:nvPr>
        </p:nvSpPr>
        <p:spPr/>
        <p:txBody>
          <a:bodyPr/>
          <a:lstStyle/>
          <a:p>
            <a:pPr eaLnBrk="1" hangingPunct="1">
              <a:buFontTx/>
              <a:buChar char="•"/>
            </a:pPr>
            <a:r>
              <a:rPr lang="en-US" altLang="en-US"/>
              <a:t>Place the end of specimen kit into the well of the mouth between the teeth and lips -- this is the location in the mouth to gather oral fluids</a:t>
            </a:r>
          </a:p>
          <a:p>
            <a:pPr eaLnBrk="1" hangingPunct="1">
              <a:buFontTx/>
              <a:buChar char="•"/>
            </a:pPr>
            <a:r>
              <a:rPr lang="en-US" altLang="en-US"/>
              <a:t>Move swab gently from back to front of mouth along the gum line for 15 to 30 seconds</a:t>
            </a:r>
          </a:p>
          <a:p>
            <a:endParaRPr lang="en-US" altLang="en-US"/>
          </a:p>
        </p:txBody>
      </p:sp>
    </p:spTree>
    <p:extLst>
      <p:ext uri="{BB962C8B-B14F-4D97-AF65-F5344CB8AC3E}">
        <p14:creationId xmlns:p14="http://schemas.microsoft.com/office/powerpoint/2010/main" val="3401531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7EC3E2C5-E3C5-4DE3-9E31-6BD504B8BDB2}"/>
              </a:ext>
            </a:extLst>
          </p:cNvPr>
          <p:cNvSpPr>
            <a:spLocks noGrp="1" noChangeArrowheads="1"/>
          </p:cNvSpPr>
          <p:nvPr>
            <p:ph type="title"/>
          </p:nvPr>
        </p:nvSpPr>
        <p:spPr/>
        <p:txBody>
          <a:bodyPr/>
          <a:lstStyle/>
          <a:p>
            <a:pPr eaLnBrk="1" hangingPunct="1"/>
            <a:r>
              <a:rPr lang="en-US" altLang="en-US" sz="2800"/>
              <a:t>Step 3: Place swab between lip &amp; gum moving from front to back, left to right for 15-30 seconds.</a:t>
            </a:r>
          </a:p>
        </p:txBody>
      </p:sp>
      <p:pic>
        <p:nvPicPr>
          <p:cNvPr id="41987" name="Picture 3">
            <a:extLst>
              <a:ext uri="{FF2B5EF4-FFF2-40B4-BE49-F238E27FC236}">
                <a16:creationId xmlns:a16="http://schemas.microsoft.com/office/drawing/2014/main" id="{52227785-B595-43DF-A6E4-BBC9B55238C9}"/>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6019800" y="2438400"/>
            <a:ext cx="2935288" cy="3200400"/>
          </a:xfrm>
        </p:spPr>
      </p:pic>
      <p:pic>
        <p:nvPicPr>
          <p:cNvPr id="41988" name="Picture 4" descr="100_1101">
            <a:extLst>
              <a:ext uri="{FF2B5EF4-FFF2-40B4-BE49-F238E27FC236}">
                <a16:creationId xmlns:a16="http://schemas.microsoft.com/office/drawing/2014/main" id="{D41E71DF-2E4D-4401-9DB5-78C915F1A4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524000"/>
            <a:ext cx="34290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Footer Placeholder 4">
            <a:extLst>
              <a:ext uri="{FF2B5EF4-FFF2-40B4-BE49-F238E27FC236}">
                <a16:creationId xmlns:a16="http://schemas.microsoft.com/office/drawing/2014/main" id="{12EC37BB-06DC-45D9-B8A3-F00C9540640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544429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F88FFAA-5FD4-4C23-8780-62327AB69088}"/>
              </a:ext>
            </a:extLst>
          </p:cNvPr>
          <p:cNvSpPr>
            <a:spLocks noGrp="1" noChangeArrowheads="1"/>
          </p:cNvSpPr>
          <p:nvPr>
            <p:ph type="title"/>
          </p:nvPr>
        </p:nvSpPr>
        <p:spPr/>
        <p:txBody>
          <a:bodyPr/>
          <a:lstStyle/>
          <a:p>
            <a:pPr eaLnBrk="1" hangingPunct="1"/>
            <a:r>
              <a:rPr lang="en-US" altLang="en-US" sz="2800"/>
              <a:t>Step 4: Place specimen swab back in sterile tube</a:t>
            </a:r>
          </a:p>
        </p:txBody>
      </p:sp>
      <p:pic>
        <p:nvPicPr>
          <p:cNvPr id="44035" name="Picture 3">
            <a:extLst>
              <a:ext uri="{FF2B5EF4-FFF2-40B4-BE49-F238E27FC236}">
                <a16:creationId xmlns:a16="http://schemas.microsoft.com/office/drawing/2014/main" id="{8CD5B124-5431-4FA5-BD44-A80260852243}"/>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2057400" y="1600200"/>
            <a:ext cx="7924800" cy="4419600"/>
          </a:xfrm>
        </p:spPr>
      </p:pic>
      <p:sp>
        <p:nvSpPr>
          <p:cNvPr id="44036" name="Footer Placeholder 3">
            <a:extLst>
              <a:ext uri="{FF2B5EF4-FFF2-40B4-BE49-F238E27FC236}">
                <a16:creationId xmlns:a16="http://schemas.microsoft.com/office/drawing/2014/main" id="{EECD72C3-ED8B-47E0-B1B4-805824B44D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2881206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58508B8-34DE-4697-B833-A97C1A3F1870}"/>
              </a:ext>
            </a:extLst>
          </p:cNvPr>
          <p:cNvSpPr>
            <a:spLocks noGrp="1" noChangeArrowheads="1"/>
          </p:cNvSpPr>
          <p:nvPr>
            <p:ph type="title" idx="4294967295"/>
          </p:nvPr>
        </p:nvSpPr>
        <p:spPr>
          <a:xfrm>
            <a:off x="1524000" y="152400"/>
            <a:ext cx="8229600" cy="1143000"/>
          </a:xfrm>
        </p:spPr>
        <p:txBody>
          <a:bodyPr/>
          <a:lstStyle/>
          <a:p>
            <a:pPr algn="ctr" eaLnBrk="1" hangingPunct="1"/>
            <a:r>
              <a:rPr lang="en-US" altLang="en-US" sz="3200" dirty="0"/>
              <a:t>Step 5: Apply Specimen Seal </a:t>
            </a:r>
            <a:br>
              <a:rPr lang="en-US" altLang="en-US" sz="3200" dirty="0"/>
            </a:br>
            <a:r>
              <a:rPr lang="en-US" altLang="en-US" sz="2000" dirty="0"/>
              <a:t>Located Bottom of Acquisition Form</a:t>
            </a:r>
          </a:p>
        </p:txBody>
      </p:sp>
      <p:pic>
        <p:nvPicPr>
          <p:cNvPr id="46083" name="Picture 10">
            <a:extLst>
              <a:ext uri="{FF2B5EF4-FFF2-40B4-BE49-F238E27FC236}">
                <a16:creationId xmlns:a16="http://schemas.microsoft.com/office/drawing/2014/main" id="{BF56DB07-7656-478D-BB14-9FE148F9B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925" y="1371600"/>
            <a:ext cx="46799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Text Box 11">
            <a:extLst>
              <a:ext uri="{FF2B5EF4-FFF2-40B4-BE49-F238E27FC236}">
                <a16:creationId xmlns:a16="http://schemas.microsoft.com/office/drawing/2014/main" id="{202E1503-61E0-4CDC-BCAD-739740321C64}"/>
              </a:ext>
            </a:extLst>
          </p:cNvPr>
          <p:cNvSpPr txBox="1">
            <a:spLocks noChangeArrowheads="1"/>
          </p:cNvSpPr>
          <p:nvPr/>
        </p:nvSpPr>
        <p:spPr bwMode="auto">
          <a:xfrm>
            <a:off x="2133600" y="1600200"/>
            <a:ext cx="16002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lgn="ctr" eaLnBrk="0" fontAlgn="base" hangingPunct="0">
              <a:spcBef>
                <a:spcPct val="50000"/>
              </a:spcBef>
              <a:spcAft>
                <a:spcPct val="0"/>
              </a:spcAft>
              <a:buClrTx/>
              <a:buSzTx/>
              <a:buNone/>
            </a:pPr>
            <a:r>
              <a:rPr lang="en-US" altLang="en-US" sz="1800">
                <a:solidFill>
                  <a:srgbClr val="000000"/>
                </a:solidFill>
              </a:rPr>
              <a:t>Apply Specimen Seal</a:t>
            </a:r>
          </a:p>
        </p:txBody>
      </p:sp>
      <p:sp>
        <p:nvSpPr>
          <p:cNvPr id="46085" name="Footer Placeholder 4">
            <a:extLst>
              <a:ext uri="{FF2B5EF4-FFF2-40B4-BE49-F238E27FC236}">
                <a16:creationId xmlns:a16="http://schemas.microsoft.com/office/drawing/2014/main" id="{A01B7327-E17C-408A-B202-EDB4DAB0CE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2026488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4EFA211-0205-435D-BE91-DC0268E05D52}"/>
              </a:ext>
            </a:extLst>
          </p:cNvPr>
          <p:cNvSpPr>
            <a:spLocks noGrp="1" noChangeArrowheads="1"/>
          </p:cNvSpPr>
          <p:nvPr>
            <p:ph type="title"/>
          </p:nvPr>
        </p:nvSpPr>
        <p:spPr/>
        <p:txBody>
          <a:bodyPr/>
          <a:lstStyle/>
          <a:p>
            <a:pPr algn="ctr" eaLnBrk="1" hangingPunct="1"/>
            <a:r>
              <a:rPr lang="en-US" altLang="en-US" sz="2400" dirty="0"/>
              <a:t>Step 5:  Requisition (CCF) and specimen to be labeled with corresponding numbers.</a:t>
            </a:r>
          </a:p>
        </p:txBody>
      </p:sp>
      <p:pic>
        <p:nvPicPr>
          <p:cNvPr id="48131" name="Picture 3">
            <a:extLst>
              <a:ext uri="{FF2B5EF4-FFF2-40B4-BE49-F238E27FC236}">
                <a16:creationId xmlns:a16="http://schemas.microsoft.com/office/drawing/2014/main" id="{F060F10B-F487-407C-AC32-B710C68FC90E}"/>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4572000" y="1600200"/>
            <a:ext cx="5486400" cy="4419600"/>
          </a:xfrm>
        </p:spPr>
      </p:pic>
      <p:sp>
        <p:nvSpPr>
          <p:cNvPr id="48132" name="Text Box 5">
            <a:extLst>
              <a:ext uri="{FF2B5EF4-FFF2-40B4-BE49-F238E27FC236}">
                <a16:creationId xmlns:a16="http://schemas.microsoft.com/office/drawing/2014/main" id="{37E7AEF2-CE84-460F-B5B3-0DEF179AD01F}"/>
              </a:ext>
            </a:extLst>
          </p:cNvPr>
          <p:cNvSpPr txBox="1">
            <a:spLocks noChangeArrowheads="1"/>
          </p:cNvSpPr>
          <p:nvPr/>
        </p:nvSpPr>
        <p:spPr bwMode="auto">
          <a:xfrm>
            <a:off x="2133600" y="1676401"/>
            <a:ext cx="22860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algn="ctr" eaLnBrk="0" fontAlgn="base" hangingPunct="0">
              <a:spcBef>
                <a:spcPct val="50000"/>
              </a:spcBef>
              <a:spcAft>
                <a:spcPct val="0"/>
              </a:spcAft>
              <a:buClrTx/>
              <a:buSzTx/>
              <a:buNone/>
            </a:pPr>
            <a:r>
              <a:rPr lang="en-US" altLang="en-US" sz="2000" b="1">
                <a:solidFill>
                  <a:srgbClr val="000000"/>
                </a:solidFill>
              </a:rPr>
              <a:t>Place corresponding number labels on each form and specimen swab </a:t>
            </a:r>
          </a:p>
        </p:txBody>
      </p:sp>
      <p:sp>
        <p:nvSpPr>
          <p:cNvPr id="48133" name="Footer Placeholder 4">
            <a:extLst>
              <a:ext uri="{FF2B5EF4-FFF2-40B4-BE49-F238E27FC236}">
                <a16:creationId xmlns:a16="http://schemas.microsoft.com/office/drawing/2014/main" id="{8F6730A3-128C-4CE5-96E2-1A3EB952076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1023831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EEDFBDAB-B36E-47FA-B198-1CD23966741F}"/>
              </a:ext>
            </a:extLst>
          </p:cNvPr>
          <p:cNvSpPr>
            <a:spLocks noGrp="1" noChangeArrowheads="1"/>
          </p:cNvSpPr>
          <p:nvPr>
            <p:ph type="title"/>
          </p:nvPr>
        </p:nvSpPr>
        <p:spPr/>
        <p:txBody>
          <a:bodyPr/>
          <a:lstStyle/>
          <a:p>
            <a:pPr algn="ctr" eaLnBrk="1" hangingPunct="1"/>
            <a:r>
              <a:rPr lang="en-US" altLang="en-US" dirty="0"/>
              <a:t>Completing the Testing Process</a:t>
            </a:r>
          </a:p>
        </p:txBody>
      </p:sp>
      <p:sp>
        <p:nvSpPr>
          <p:cNvPr id="28675" name="Rectangle 3">
            <a:extLst>
              <a:ext uri="{FF2B5EF4-FFF2-40B4-BE49-F238E27FC236}">
                <a16:creationId xmlns:a16="http://schemas.microsoft.com/office/drawing/2014/main" id="{5AEF198C-3377-4623-9723-DAF011CB5A09}"/>
              </a:ext>
            </a:extLst>
          </p:cNvPr>
          <p:cNvSpPr>
            <a:spLocks noGrp="1" noChangeArrowheads="1"/>
          </p:cNvSpPr>
          <p:nvPr>
            <p:ph type="body" idx="1"/>
          </p:nvPr>
        </p:nvSpPr>
        <p:spPr/>
        <p:txBody>
          <a:bodyPr/>
          <a:lstStyle/>
          <a:p>
            <a:pPr lvl="1" eaLnBrk="1" hangingPunct="1">
              <a:defRPr/>
            </a:pPr>
            <a:r>
              <a:rPr lang="en-US" altLang="en-US" dirty="0"/>
              <a:t>Complete the chain of custody on the CCF with the following information:</a:t>
            </a:r>
          </a:p>
          <a:p>
            <a:pPr lvl="2" eaLnBrk="1" hangingPunct="1">
              <a:defRPr/>
            </a:pPr>
            <a:r>
              <a:rPr lang="en-US" altLang="en-US" dirty="0"/>
              <a:t>Collector - prints name.</a:t>
            </a:r>
          </a:p>
          <a:p>
            <a:pPr lvl="2" eaLnBrk="1" hangingPunct="1">
              <a:defRPr/>
            </a:pPr>
            <a:r>
              <a:rPr lang="en-US" altLang="en-US" dirty="0"/>
              <a:t>Record the time and date of collection</a:t>
            </a:r>
          </a:p>
          <a:p>
            <a:pPr lvl="2" eaLnBrk="1" hangingPunct="1">
              <a:defRPr/>
            </a:pPr>
            <a:r>
              <a:rPr lang="en-US" altLang="en-US" dirty="0"/>
              <a:t>Sign the CCF (Three Copy Form)</a:t>
            </a:r>
          </a:p>
          <a:p>
            <a:pPr marL="1371600" lvl="2" indent="-457200" eaLnBrk="1" hangingPunct="1">
              <a:buFont typeface="+mj-lt"/>
              <a:buAutoNum type="arabicPeriod"/>
              <a:defRPr/>
            </a:pPr>
            <a:r>
              <a:rPr lang="en-US" altLang="en-US" dirty="0"/>
              <a:t>Original first page goes with sample to lab</a:t>
            </a:r>
          </a:p>
          <a:p>
            <a:pPr marL="1371600" lvl="2" indent="-457200" eaLnBrk="1" hangingPunct="1">
              <a:buFont typeface="+mj-lt"/>
              <a:buAutoNum type="arabicPeriod"/>
              <a:defRPr/>
            </a:pPr>
            <a:r>
              <a:rPr lang="en-US" altLang="en-US" dirty="0"/>
              <a:t>Copy to donor/guardian, and clinic retains final copy.</a:t>
            </a:r>
          </a:p>
          <a:p>
            <a:pPr marL="1371600" lvl="2" indent="-457200" eaLnBrk="1" hangingPunct="1">
              <a:buFont typeface="+mj-lt"/>
              <a:buAutoNum type="arabicPeriod"/>
              <a:defRPr/>
            </a:pPr>
            <a:r>
              <a:rPr lang="en-US" altLang="en-US" dirty="0"/>
              <a:t>Completed sample(s) and CCF are sent to the designated lab via next day air.</a:t>
            </a:r>
          </a:p>
        </p:txBody>
      </p:sp>
      <p:sp>
        <p:nvSpPr>
          <p:cNvPr id="50180" name="Footer Placeholder 3">
            <a:extLst>
              <a:ext uri="{FF2B5EF4-FFF2-40B4-BE49-F238E27FC236}">
                <a16:creationId xmlns:a16="http://schemas.microsoft.com/office/drawing/2014/main" id="{6D201D8B-7B4A-48BF-9F74-3C0E56A79B6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4211465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34060E-85A8-4776-935D-FCCCA77DA701}"/>
              </a:ext>
            </a:extLst>
          </p:cNvPr>
          <p:cNvSpPr>
            <a:spLocks noGrp="1"/>
          </p:cNvSpPr>
          <p:nvPr>
            <p:ph idx="1"/>
          </p:nvPr>
        </p:nvSpPr>
        <p:spPr>
          <a:xfrm>
            <a:off x="871870" y="1295400"/>
            <a:ext cx="10292316" cy="4724400"/>
          </a:xfrm>
        </p:spPr>
        <p:txBody>
          <a:bodyPr/>
          <a:lstStyle/>
          <a:p>
            <a:pPr marL="0" indent="0">
              <a:buNone/>
              <a:defRPr/>
            </a:pPr>
            <a:r>
              <a:rPr lang="en-US" sz="2400" dirty="0"/>
              <a:t>All Testing Sites Will Receive Pre-Paid Shipping Envelopes &amp; Supplies (Number of Supplies Will be based on Anticipated Volume of Test)</a:t>
            </a:r>
          </a:p>
          <a:p>
            <a:pPr marL="514350" indent="-514350">
              <a:buFont typeface="+mj-lt"/>
              <a:buAutoNum type="arabicPeriod"/>
              <a:defRPr/>
            </a:pPr>
            <a:r>
              <a:rPr lang="en-US" sz="2400" dirty="0"/>
              <a:t>Brown Master UPS Lab Specimen Shipping Bag </a:t>
            </a:r>
          </a:p>
          <a:p>
            <a:pPr marL="514350" indent="-514350">
              <a:buFont typeface="+mj-lt"/>
              <a:buAutoNum type="arabicPeriod"/>
              <a:defRPr/>
            </a:pPr>
            <a:r>
              <a:rPr lang="en-US" sz="2400" dirty="0"/>
              <a:t>White padded/cushioned Shipping envelope</a:t>
            </a:r>
          </a:p>
          <a:p>
            <a:pPr marL="514350" indent="-514350">
              <a:buFont typeface="+mj-lt"/>
              <a:buAutoNum type="arabicPeriod"/>
              <a:defRPr/>
            </a:pPr>
            <a:r>
              <a:rPr lang="en-US" sz="2400" dirty="0"/>
              <a:t>Ten Samples per White Envelope, a Total of Three(3) White Envelopes per Pre-Paid Brown Master for a Total of Thirty (30) Samples </a:t>
            </a:r>
          </a:p>
          <a:p>
            <a:pPr marL="514350" indent="-514350">
              <a:buFont typeface="+mj-lt"/>
              <a:buAutoNum type="arabicPeriod"/>
              <a:defRPr/>
            </a:pPr>
            <a:r>
              <a:rPr lang="en-US" sz="2400" dirty="0"/>
              <a:t>ALL Requisition Forms with the matching Patient Information as marked on each specimen Vial will sent in the Brown Master Specimen Bag And Sent Via UPS</a:t>
            </a:r>
          </a:p>
          <a:p>
            <a:pPr marL="514350" indent="-514350">
              <a:buFont typeface="+mj-lt"/>
              <a:buAutoNum type="arabicPeriod"/>
              <a:defRPr/>
            </a:pPr>
            <a:endParaRPr lang="en-US" sz="2400" dirty="0"/>
          </a:p>
        </p:txBody>
      </p:sp>
      <p:sp>
        <p:nvSpPr>
          <p:cNvPr id="52227" name="Footer Placeholder 3">
            <a:extLst>
              <a:ext uri="{FF2B5EF4-FFF2-40B4-BE49-F238E27FC236}">
                <a16:creationId xmlns:a16="http://schemas.microsoft.com/office/drawing/2014/main" id="{F43E2D8A-4CF8-4A8B-A364-EEC1AA2C415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
        <p:nvSpPr>
          <p:cNvPr id="52228" name="Title 1">
            <a:extLst>
              <a:ext uri="{FF2B5EF4-FFF2-40B4-BE49-F238E27FC236}">
                <a16:creationId xmlns:a16="http://schemas.microsoft.com/office/drawing/2014/main" id="{BE391B7A-C289-4A7A-9698-103C27654ED8}"/>
              </a:ext>
            </a:extLst>
          </p:cNvPr>
          <p:cNvSpPr>
            <a:spLocks noGrp="1" noChangeArrowheads="1"/>
          </p:cNvSpPr>
          <p:nvPr>
            <p:ph type="title"/>
          </p:nvPr>
        </p:nvSpPr>
        <p:spPr/>
        <p:txBody>
          <a:bodyPr/>
          <a:lstStyle/>
          <a:p>
            <a:pPr algn="ctr"/>
            <a:r>
              <a:rPr lang="en-US" altLang="en-US" dirty="0"/>
              <a:t>Supplies For Shipping To Lab</a:t>
            </a:r>
          </a:p>
        </p:txBody>
      </p:sp>
    </p:spTree>
    <p:extLst>
      <p:ext uri="{BB962C8B-B14F-4D97-AF65-F5344CB8AC3E}">
        <p14:creationId xmlns:p14="http://schemas.microsoft.com/office/powerpoint/2010/main" val="3075145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2">
            <a:extLst>
              <a:ext uri="{FF2B5EF4-FFF2-40B4-BE49-F238E27FC236}">
                <a16:creationId xmlns:a16="http://schemas.microsoft.com/office/drawing/2014/main" id="{1F5E8AEF-B709-418B-B1C8-BFA590E5B23E}"/>
              </a:ext>
            </a:extLst>
          </p:cNvPr>
          <p:cNvSpPr>
            <a:spLocks noGrp="1" noChangeArrowheads="1"/>
          </p:cNvSpPr>
          <p:nvPr>
            <p:ph idx="1"/>
          </p:nvPr>
        </p:nvSpPr>
        <p:spPr>
          <a:xfrm>
            <a:off x="606056" y="1295400"/>
            <a:ext cx="10909004" cy="4724400"/>
          </a:xfrm>
        </p:spPr>
        <p:txBody>
          <a:bodyPr/>
          <a:lstStyle/>
          <a:p>
            <a:pPr marL="0" indent="0">
              <a:buNone/>
            </a:pPr>
            <a:endParaRPr lang="en-US" altLang="en-US" sz="2400" dirty="0"/>
          </a:p>
          <a:p>
            <a:r>
              <a:rPr lang="en-US" altLang="en-US" sz="2800" dirty="0"/>
              <a:t>ALL Donors Tested will Receive Results</a:t>
            </a:r>
          </a:p>
          <a:p>
            <a:r>
              <a:rPr lang="en-US" altLang="en-US" sz="2800" dirty="0"/>
              <a:t>Donors with Test In Excess of the 3.5 Micrograms will be notified along with the Primary Care Doctor of the Donor for Treatment</a:t>
            </a:r>
          </a:p>
          <a:p>
            <a:r>
              <a:rPr lang="en-US" altLang="en-US" sz="2800" dirty="0"/>
              <a:t>Both the Federal and State Departments of Health mandated to Record Lead testing Levels will be Notified</a:t>
            </a:r>
          </a:p>
        </p:txBody>
      </p:sp>
      <p:sp>
        <p:nvSpPr>
          <p:cNvPr id="53251" name="Footer Placeholder 3">
            <a:extLst>
              <a:ext uri="{FF2B5EF4-FFF2-40B4-BE49-F238E27FC236}">
                <a16:creationId xmlns:a16="http://schemas.microsoft.com/office/drawing/2014/main" id="{A1D63D0A-FA0B-4F00-AA5C-EB286A582E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
        <p:nvSpPr>
          <p:cNvPr id="53252" name="Title 1">
            <a:extLst>
              <a:ext uri="{FF2B5EF4-FFF2-40B4-BE49-F238E27FC236}">
                <a16:creationId xmlns:a16="http://schemas.microsoft.com/office/drawing/2014/main" id="{32E7D0DB-1A9D-486E-A816-4D11EAFCC464}"/>
              </a:ext>
            </a:extLst>
          </p:cNvPr>
          <p:cNvSpPr>
            <a:spLocks noGrp="1" noChangeArrowheads="1"/>
          </p:cNvSpPr>
          <p:nvPr>
            <p:ph type="title"/>
          </p:nvPr>
        </p:nvSpPr>
        <p:spPr/>
        <p:txBody>
          <a:bodyPr/>
          <a:lstStyle/>
          <a:p>
            <a:pPr algn="ctr"/>
            <a:r>
              <a:rPr lang="en-US" altLang="en-US"/>
              <a:t> Reporting Of Lead Test Results</a:t>
            </a:r>
          </a:p>
        </p:txBody>
      </p:sp>
    </p:spTree>
    <p:extLst>
      <p:ext uri="{BB962C8B-B14F-4D97-AF65-F5344CB8AC3E}">
        <p14:creationId xmlns:p14="http://schemas.microsoft.com/office/powerpoint/2010/main" val="9169014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07B2A26-E9AA-4A0C-8A6F-FF61CCC36DF5}"/>
              </a:ext>
            </a:extLst>
          </p:cNvPr>
          <p:cNvSpPr>
            <a:spLocks noGrp="1" noChangeArrowheads="1"/>
          </p:cNvSpPr>
          <p:nvPr>
            <p:ph type="title"/>
          </p:nvPr>
        </p:nvSpPr>
        <p:spPr/>
        <p:txBody>
          <a:bodyPr/>
          <a:lstStyle/>
          <a:p>
            <a:pPr algn="ctr" eaLnBrk="1" hangingPunct="1"/>
            <a:r>
              <a:rPr lang="en-US" altLang="en-US" dirty="0"/>
              <a:t>CLEAR ADVANTAGES OF </a:t>
            </a:r>
            <a:r>
              <a:rPr lang="en-US" altLang="en-US" dirty="0" err="1"/>
              <a:t>TOXYScreen</a:t>
            </a:r>
            <a:endParaRPr lang="en-US" altLang="en-US" dirty="0"/>
          </a:p>
        </p:txBody>
      </p:sp>
      <p:sp>
        <p:nvSpPr>
          <p:cNvPr id="56323" name="Rectangle 3">
            <a:extLst>
              <a:ext uri="{FF2B5EF4-FFF2-40B4-BE49-F238E27FC236}">
                <a16:creationId xmlns:a16="http://schemas.microsoft.com/office/drawing/2014/main" id="{E150393A-AEEC-4926-A5DB-2F84BC4723FB}"/>
              </a:ext>
            </a:extLst>
          </p:cNvPr>
          <p:cNvSpPr>
            <a:spLocks noGrp="1" noChangeArrowheads="1"/>
          </p:cNvSpPr>
          <p:nvPr>
            <p:ph type="body" idx="1"/>
          </p:nvPr>
        </p:nvSpPr>
        <p:spPr>
          <a:xfrm>
            <a:off x="812800" y="1322962"/>
            <a:ext cx="10566400" cy="4696838"/>
          </a:xfrm>
        </p:spPr>
        <p:txBody>
          <a:bodyPr/>
          <a:lstStyle/>
          <a:p>
            <a:pPr eaLnBrk="1" hangingPunct="1"/>
            <a:r>
              <a:rPr lang="en-US" altLang="en-US" sz="2400" dirty="0"/>
              <a:t>HAVE LEAD SCREENING GO TO THE DONORS' SITES</a:t>
            </a:r>
          </a:p>
          <a:p>
            <a:pPr eaLnBrk="1" hangingPunct="1"/>
            <a:r>
              <a:rPr lang="en-US" altLang="en-US" sz="2400" dirty="0"/>
              <a:t>SET UP LEAD SCREENING CONVENIENT TO ALL DONORS</a:t>
            </a:r>
          </a:p>
          <a:p>
            <a:pPr eaLnBrk="1" hangingPunct="1"/>
            <a:r>
              <a:rPr lang="en-US" altLang="en-US" sz="2400" dirty="0"/>
              <a:t>REDUCE MEDICAL WASTE</a:t>
            </a:r>
          </a:p>
          <a:p>
            <a:pPr eaLnBrk="1" hangingPunct="1"/>
            <a:r>
              <a:rPr lang="en-US" altLang="en-US" sz="2400" dirty="0"/>
              <a:t>EASE OF TEST FOR ADMINISTERS</a:t>
            </a:r>
          </a:p>
          <a:p>
            <a:pPr eaLnBrk="1" hangingPunct="1"/>
            <a:r>
              <a:rPr lang="en-US" altLang="en-US" sz="2400" dirty="0"/>
              <a:t>THE SAMPLE INTEGRITY ADVANTAGE Handling &amp; Shelf Life</a:t>
            </a:r>
          </a:p>
          <a:p>
            <a:pPr eaLnBrk="1" hangingPunct="1"/>
            <a:r>
              <a:rPr lang="en-US" altLang="en-US" sz="2400" dirty="0"/>
              <a:t>ELIMINATION OF FEAR AND ANXIETY……</a:t>
            </a:r>
          </a:p>
          <a:p>
            <a:pPr eaLnBrk="1" hangingPunct="1"/>
            <a:r>
              <a:rPr lang="en-US" altLang="en-US" sz="2400" dirty="0"/>
              <a:t>NO NEEDLES, NO MEDICAL WASTE NEEDING SPECIAL HANDLING FOR DISGARDING, </a:t>
            </a:r>
          </a:p>
          <a:p>
            <a:pPr eaLnBrk="1" hangingPunct="1"/>
            <a:r>
              <a:rPr lang="en-US" altLang="en-US" sz="2400" dirty="0"/>
              <a:t>LOWER COST OF SAMPLE COLLECTION</a:t>
            </a:r>
          </a:p>
          <a:p>
            <a:pPr eaLnBrk="1" hangingPunct="1"/>
            <a:r>
              <a:rPr lang="en-US" altLang="en-US" sz="2400" dirty="0"/>
              <a:t>REDUCED RISK OF INFECTION OR CROSS CONTAMINATION</a:t>
            </a:r>
          </a:p>
          <a:p>
            <a:pPr marL="0" indent="0" eaLnBrk="1" hangingPunct="1">
              <a:buNone/>
            </a:pPr>
            <a:endParaRPr lang="en-US" altLang="en-US" sz="2800" dirty="0"/>
          </a:p>
          <a:p>
            <a:pPr eaLnBrk="1" hangingPunct="1"/>
            <a:endParaRPr lang="en-US" altLang="en-US" dirty="0"/>
          </a:p>
          <a:p>
            <a:pPr marL="0" indent="0" algn="ctr" eaLnBrk="1" hangingPunct="1">
              <a:buNone/>
            </a:pPr>
            <a:r>
              <a:rPr lang="en-US" altLang="en-US" sz="8000" dirty="0"/>
              <a:t>THE END</a:t>
            </a:r>
          </a:p>
        </p:txBody>
      </p:sp>
      <p:sp>
        <p:nvSpPr>
          <p:cNvPr id="56324" name="Footer Placeholder 3">
            <a:extLst>
              <a:ext uri="{FF2B5EF4-FFF2-40B4-BE49-F238E27FC236}">
                <a16:creationId xmlns:a16="http://schemas.microsoft.com/office/drawing/2014/main" id="{95ACA58E-6613-456C-8A4F-69B7F8975E8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889464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07B2A26-E9AA-4A0C-8A6F-FF61CCC36DF5}"/>
              </a:ext>
            </a:extLst>
          </p:cNvPr>
          <p:cNvSpPr>
            <a:spLocks noGrp="1" noChangeArrowheads="1"/>
          </p:cNvSpPr>
          <p:nvPr>
            <p:ph type="title"/>
          </p:nvPr>
        </p:nvSpPr>
        <p:spPr/>
        <p:txBody>
          <a:bodyPr/>
          <a:lstStyle/>
          <a:p>
            <a:pPr algn="ctr" eaLnBrk="1" hangingPunct="1"/>
            <a:r>
              <a:rPr lang="en-US" altLang="en-US" dirty="0"/>
              <a:t>“GET THE LEAD OUT”</a:t>
            </a:r>
          </a:p>
        </p:txBody>
      </p:sp>
      <p:sp>
        <p:nvSpPr>
          <p:cNvPr id="56323" name="Rectangle 3">
            <a:extLst>
              <a:ext uri="{FF2B5EF4-FFF2-40B4-BE49-F238E27FC236}">
                <a16:creationId xmlns:a16="http://schemas.microsoft.com/office/drawing/2014/main" id="{E150393A-AEEC-4926-A5DB-2F84BC4723FB}"/>
              </a:ext>
            </a:extLst>
          </p:cNvPr>
          <p:cNvSpPr>
            <a:spLocks noGrp="1" noChangeArrowheads="1"/>
          </p:cNvSpPr>
          <p:nvPr>
            <p:ph type="body" idx="1"/>
          </p:nvPr>
        </p:nvSpPr>
        <p:spPr>
          <a:xfrm>
            <a:off x="812800" y="1322962"/>
            <a:ext cx="10566400" cy="4696838"/>
          </a:xfrm>
        </p:spPr>
        <p:txBody>
          <a:bodyPr/>
          <a:lstStyle/>
          <a:p>
            <a:pPr eaLnBrk="1" hangingPunct="1"/>
            <a:r>
              <a:rPr lang="en-US" altLang="en-US" dirty="0"/>
              <a:t>LET'S WORK TOGETHER TO IDENTIFY ALL CHILDREN IN NEED OF LEAD SCREENING AND DIRECT THE CHILDREN AT UNACCEPTABLE LEVELS TO EVALUATE THEIR ENVIROMENT AND  SEEK MEDICAL ATTENTION TO ELIMINATE</a:t>
            </a:r>
          </a:p>
          <a:p>
            <a:pPr marL="0" indent="0" eaLnBrk="1" hangingPunct="1">
              <a:buNone/>
            </a:pPr>
            <a:r>
              <a:rPr lang="en-US" altLang="en-US" dirty="0"/>
              <a:t>                                      </a:t>
            </a:r>
            <a:r>
              <a:rPr lang="en-US" altLang="en-US" sz="6000" dirty="0"/>
              <a:t>“LEAD”</a:t>
            </a:r>
          </a:p>
        </p:txBody>
      </p:sp>
      <p:sp>
        <p:nvSpPr>
          <p:cNvPr id="56324" name="Footer Placeholder 3">
            <a:extLst>
              <a:ext uri="{FF2B5EF4-FFF2-40B4-BE49-F238E27FC236}">
                <a16:creationId xmlns:a16="http://schemas.microsoft.com/office/drawing/2014/main" id="{95ACA58E-6613-456C-8A4F-69B7F8975E8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2565996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07B2A26-E9AA-4A0C-8A6F-FF61CCC36DF5}"/>
              </a:ext>
            </a:extLst>
          </p:cNvPr>
          <p:cNvSpPr>
            <a:spLocks noGrp="1" noChangeArrowheads="1"/>
          </p:cNvSpPr>
          <p:nvPr>
            <p:ph type="title"/>
          </p:nvPr>
        </p:nvSpPr>
        <p:spPr/>
        <p:txBody>
          <a:bodyPr/>
          <a:lstStyle/>
          <a:p>
            <a:pPr algn="ctr" eaLnBrk="1" hangingPunct="1"/>
            <a:r>
              <a:rPr lang="en-US" altLang="en-US" dirty="0"/>
              <a:t>“GET THE LEAD OUT”</a:t>
            </a:r>
          </a:p>
        </p:txBody>
      </p:sp>
      <p:sp>
        <p:nvSpPr>
          <p:cNvPr id="56323" name="Rectangle 3">
            <a:extLst>
              <a:ext uri="{FF2B5EF4-FFF2-40B4-BE49-F238E27FC236}">
                <a16:creationId xmlns:a16="http://schemas.microsoft.com/office/drawing/2014/main" id="{E150393A-AEEC-4926-A5DB-2F84BC4723FB}"/>
              </a:ext>
            </a:extLst>
          </p:cNvPr>
          <p:cNvSpPr>
            <a:spLocks noGrp="1" noChangeArrowheads="1"/>
          </p:cNvSpPr>
          <p:nvPr>
            <p:ph type="body" idx="1"/>
          </p:nvPr>
        </p:nvSpPr>
        <p:spPr>
          <a:xfrm>
            <a:off x="812800" y="1322962"/>
            <a:ext cx="10566400" cy="4696838"/>
          </a:xfrm>
        </p:spPr>
        <p:txBody>
          <a:bodyPr/>
          <a:lstStyle/>
          <a:p>
            <a:pPr marL="0" indent="0" eaLnBrk="1" hangingPunct="1">
              <a:buNone/>
            </a:pPr>
            <a:r>
              <a:rPr lang="en-US" altLang="en-US" sz="6000" dirty="0"/>
              <a:t>            OFT LABS          </a:t>
            </a:r>
          </a:p>
          <a:p>
            <a:pPr marL="0" indent="0" eaLnBrk="1" hangingPunct="1">
              <a:buNone/>
            </a:pPr>
            <a:r>
              <a:rPr lang="en-US" altLang="en-US" sz="6000" dirty="0"/>
              <a:t>           </a:t>
            </a:r>
            <a:r>
              <a:rPr lang="en-US" altLang="en-US" sz="6000" dirty="0" err="1"/>
              <a:t>TOXYScreen</a:t>
            </a:r>
            <a:endParaRPr lang="en-US" altLang="en-US" sz="6000" dirty="0"/>
          </a:p>
          <a:p>
            <a:pPr marL="0" indent="0" eaLnBrk="1" hangingPunct="1">
              <a:buNone/>
            </a:pPr>
            <a:r>
              <a:rPr lang="en-US" altLang="en-US" sz="6000" dirty="0"/>
              <a:t>    </a:t>
            </a:r>
          </a:p>
          <a:p>
            <a:pPr marL="0" indent="0" eaLnBrk="1" hangingPunct="1">
              <a:buNone/>
            </a:pPr>
            <a:r>
              <a:rPr lang="en-US" altLang="en-US" sz="6000" dirty="0"/>
              <a:t>            THANK YOU</a:t>
            </a:r>
          </a:p>
        </p:txBody>
      </p:sp>
      <p:sp>
        <p:nvSpPr>
          <p:cNvPr id="56324" name="Footer Placeholder 3">
            <a:extLst>
              <a:ext uri="{FF2B5EF4-FFF2-40B4-BE49-F238E27FC236}">
                <a16:creationId xmlns:a16="http://schemas.microsoft.com/office/drawing/2014/main" id="{95ACA58E-6613-456C-8A4F-69B7F8975E8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000">
                <a:solidFill>
                  <a:schemeClr val="tx1"/>
                </a:solidFill>
                <a:latin typeface="Arial" panose="020B0604020202020204" pitchFamily="34" charset="0"/>
              </a:defRPr>
            </a:lvl9pPr>
          </a:lstStyle>
          <a:p>
            <a:pPr fontAlgn="base">
              <a:spcBef>
                <a:spcPct val="0"/>
              </a:spcBef>
              <a:spcAft>
                <a:spcPct val="0"/>
              </a:spcAft>
              <a:buClrTx/>
              <a:buSzTx/>
              <a:buNone/>
            </a:pPr>
            <a:r>
              <a:rPr lang="en-US" altLang="en-US" sz="1200">
                <a:solidFill>
                  <a:srgbClr val="000000"/>
                </a:solidFill>
              </a:rPr>
              <a:t>ToxyScreen</a:t>
            </a:r>
          </a:p>
        </p:txBody>
      </p:sp>
    </p:spTree>
    <p:extLst>
      <p:ext uri="{BB962C8B-B14F-4D97-AF65-F5344CB8AC3E}">
        <p14:creationId xmlns:p14="http://schemas.microsoft.com/office/powerpoint/2010/main" val="2432837392"/>
      </p:ext>
    </p:extLst>
  </p:cSld>
  <p:clrMapOvr>
    <a:masterClrMapping/>
  </p:clrMapOvr>
</p:sld>
</file>

<file path=ppt/theme/theme1.xml><?xml version="1.0" encoding="utf-8"?>
<a:theme xmlns:a="http://schemas.openxmlformats.org/drawingml/2006/main" name="Radial">
  <a:themeElements>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Rad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7291</TotalTime>
  <Words>1857</Words>
  <Application>Microsoft Office PowerPoint</Application>
  <PresentationFormat>Widescreen</PresentationFormat>
  <Paragraphs>249</Paragraphs>
  <Slides>32</Slides>
  <Notes>26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32</vt:i4>
      </vt:variant>
    </vt:vector>
  </HeadingPairs>
  <TitlesOfParts>
    <vt:vector size="41" baseType="lpstr">
      <vt:lpstr>Arial</vt:lpstr>
      <vt:lpstr>Arial Black</vt:lpstr>
      <vt:lpstr>Calibri</vt:lpstr>
      <vt:lpstr>Georgia</vt:lpstr>
      <vt:lpstr>Open Sans</vt:lpstr>
      <vt:lpstr>Times New Roman</vt:lpstr>
      <vt:lpstr>Wingdings</vt:lpstr>
      <vt:lpstr>Radial</vt:lpstr>
      <vt:lpstr>Default Design</vt:lpstr>
      <vt:lpstr>PowerPoint Presentation</vt:lpstr>
      <vt:lpstr> WHERE DOES LEAD COME FROM</vt:lpstr>
      <vt:lpstr>Lead Effects Both Children and Adults</vt:lpstr>
      <vt:lpstr> EFFECTS OF LEAD EXPOSURE ON CHILDREN</vt:lpstr>
      <vt:lpstr>SYMPTONS OF ELAVATED BLOOD LEVELS IN CHILDREN</vt:lpstr>
      <vt:lpstr> EFFECTS OF LEAD EXPOSURE ADULTS  </vt:lpstr>
      <vt:lpstr>SYMPTONS OF ELAVATED BLOOD LEVELS IN ADULTS</vt:lpstr>
      <vt:lpstr>       CDC CHANGED DANGER OF LEAD EXPOSURE SEVERAL TIMES</vt:lpstr>
      <vt:lpstr>PowerPoint Presentation</vt:lpstr>
      <vt:lpstr>           WHAT DO WE KNOW ABOUT STATE LEAD TESTING MANDATES AND THEIR RESULTS</vt:lpstr>
      <vt:lpstr>Many states and Medicaid rules require blood lead tests for young children, but millions are falling through this safety net, leaving them vulnerable to poisoning ………..WHY……..</vt:lpstr>
      <vt:lpstr>                                    WHY TOXYScreen IS THE SOLUTION</vt:lpstr>
      <vt:lpstr>WHAT ABOUT ACCURACY ?</vt:lpstr>
      <vt:lpstr> BENEFITS OF THE TOXYScreen SOLUTION</vt:lpstr>
      <vt:lpstr>Testing Value History</vt:lpstr>
      <vt:lpstr>TOXYScreen SCREENING</vt:lpstr>
      <vt:lpstr>Oral Fluids Testing Process</vt:lpstr>
      <vt:lpstr>Sample Collection Instruction</vt:lpstr>
      <vt:lpstr>Step 1:  Requisition Form (CCF)</vt:lpstr>
      <vt:lpstr>Step 1:  Requisition Form (CCF)</vt:lpstr>
      <vt:lpstr>Step 2    Open: Oral Fluid swab (Dacron)</vt:lpstr>
      <vt:lpstr>Step 3 :Explain to Donor or Parent How Test will be Administered </vt:lpstr>
      <vt:lpstr>Step 3: Place swab between lip &amp; gum moving from front to back, left to right for 15-30 seconds.</vt:lpstr>
      <vt:lpstr>Step 4: Place specimen swab back in sterile tube</vt:lpstr>
      <vt:lpstr>Step 5: Apply Specimen Seal  Located Bottom of Acquisition Form</vt:lpstr>
      <vt:lpstr>Step 5:  Requisition (CCF) and specimen to be labeled with corresponding numbers.</vt:lpstr>
      <vt:lpstr>Completing the Testing Process</vt:lpstr>
      <vt:lpstr>Supplies For Shipping To Lab</vt:lpstr>
      <vt:lpstr> Reporting Of Lead Test Results</vt:lpstr>
      <vt:lpstr>CLEAR ADVANTAGES OF TOXYScreen</vt:lpstr>
      <vt:lpstr>“GET THE LEAD OUT”</vt:lpstr>
      <vt:lpstr>“GET THE LEAD OUT”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Bob Panzenhagen</dc:creator>
  <cp:lastModifiedBy>Bob Panzenhagen</cp:lastModifiedBy>
  <cp:revision>3</cp:revision>
  <dcterms:created xsi:type="dcterms:W3CDTF">2021-11-11T18:07:04Z</dcterms:created>
  <dcterms:modified xsi:type="dcterms:W3CDTF">2025-08-14T14:14:02Z</dcterms:modified>
</cp:coreProperties>
</file>